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05740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98781"/>
                </a:solidFill>
                <a:latin typeface="Segoe UI"/>
              </a:rPr>
              <a:t>OPENINTEL RFC-ADOPTION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487168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200" b="1" i="0">
                <a:solidFill>
                  <a:srgbClr val="0B0B0B"/>
                </a:solidFill>
                <a:latin typeface="Segoe UI"/>
              </a:rPr>
              <a:t>How DNSSEC RFC adoption</a:t>
            </a:r>
          </a:p>
          <a:p>
            <a:pPr algn="l">
              <a:lnSpc>
                <a:spcPct val="108000"/>
              </a:lnSpc>
            </a:pPr>
            <a:r>
              <a:rPr sz="4200" b="1" i="0">
                <a:solidFill>
                  <a:srgbClr val="0B0B0B"/>
                </a:solidFill>
                <a:latin typeface="Segoe UI"/>
              </a:rPr>
              <a:t>actually changed, 2018–2026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4114800"/>
            <a:ext cx="201168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434840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2.76 billion DNS records  ·  3,127 measurement days  ·  3 zones  ·  8 RFCs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Evidence-linked: every count traces to a matched indicator and a publication-date check.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98781"/>
                </a:solidFill>
                <a:latin typeface="Segoe UI"/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What was measured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2514E"/>
                </a:solidFill>
                <a:latin typeface="Segoe UI"/>
              </a:rPr>
              <a:t>Every DNS record was tested against all 8 RFC checklists, not one chosen in advance.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77440"/>
            <a:ext cx="2384983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0B0B0B"/>
                </a:solidFill>
                <a:latin typeface="Segoe UI"/>
              </a:rPr>
              <a:t>2.76B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163824"/>
            <a:ext cx="2384983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DNSSEC records evaluated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after the record-type prefilter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7983" y="2377440"/>
            <a:ext cx="2384983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0B0B0B"/>
                </a:solidFill>
                <a:latin typeface="Segoe UI"/>
              </a:rPr>
              <a:t>3,127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7983" y="3163824"/>
            <a:ext cx="2384983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measurement days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.gov, .nu, .se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6" y="2377440"/>
            <a:ext cx="2384983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0B0B0B"/>
                </a:solidFill>
                <a:latin typeface="Segoe UI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6" y="3163824"/>
            <a:ext cx="2384983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DNSSEC RFCs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scored independently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29469" y="2377440"/>
            <a:ext cx="2384983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2018–2026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29469" y="3163824"/>
            <a:ext cx="2384983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observation window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(2022 and 2025 absent)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480560"/>
            <a:ext cx="10637215" cy="1524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754880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Each record is checked against every RFC's observable signature, then against that RFC's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publication date — an observation cannot evidence a standard that did not yet exist.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Counts below are exact aggregates; rankings are derived from a sampled set of worked examples.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291072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98781"/>
                </a:solidFill>
                <a:latin typeface="Segoe UI"/>
              </a:rPr>
              <a:t>Source: OpenINTEL forward-DNS, basis=zonefile. Analysis: openintel_rfc pipeline.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98781"/>
                </a:solidFill>
                <a:latin typeface="Segoe UI"/>
              </a:rPr>
              <a:t>READ THIS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The three zones are not equally sampled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2514E"/>
                </a:solidFill>
                <a:latin typeface="Segoe UI"/>
              </a:rPr>
              <a:t>Totals across all zones are dominated by whichever large zone happened to be measured. Every later chart is normalised within a zone.</a:t>
            </a:r>
          </a:p>
        </p:txBody>
      </p:sp>
      <p:pic>
        <p:nvPicPr>
          <p:cNvPr id="5" name="Picture 4" descr="panel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2772" y="2212848"/>
            <a:ext cx="5946151" cy="2834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193792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03B3B"/>
                </a:solidFill>
                <a:latin typeface="Segoe UI"/>
              </a:rPr>
              <a:t>.gov is 70% of the days but 2.6% of the records.  .se is 1.2% of the days but 20.6% of the records.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577840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98781"/>
                </a:solidFill>
                <a:latin typeface="Segoe UI"/>
              </a:rPr>
              <a:t>Spans are truncated, not holed: .gov 2020 stops 4 Sep, .nu 2019 stops 10 Apr, .se 2021 is 11 days. Within each span coverage is 99.6% complete.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91072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98781"/>
                </a:solidFill>
                <a:latin typeface="Segoe UI"/>
              </a:rPr>
              <a:t>14 .gov days (27 Apr–10 May 2021) returned near-empty objects and are excluded from per-day rates.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98781"/>
                </a:solidFill>
                <a:latin typeface="Segoe UI"/>
              </a:rPr>
              <a:t>THE HEADLINE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ECDSA replaced RSA as the default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2514E"/>
                </a:solidFill>
                <a:latin typeface="Segoe UI"/>
              </a:rPr>
              <a:t>Monotonic over eight years, and real growth rather than composition: 1,035 to 30,284 records per day in .gov, a 29x rise against a 1.8x baseline.</a:t>
            </a:r>
          </a:p>
        </p:txBody>
      </p:sp>
      <p:pic>
        <p:nvPicPr>
          <p:cNvPr id="5" name="Picture 4" descr="ecdsa_mig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2112" y="2103120"/>
            <a:ext cx="7827470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291072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98781"/>
                </a:solidFill>
                <a:latin typeface="Segoe UI"/>
              </a:rPr>
              <a:t>RFC 6605 (algorithms 13/14), share of each zone's own DNSSEC records. 2022 and 2025 not measured.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98781"/>
                </a:solidFill>
                <a:latin typeface="Segoe UI"/>
              </a:rPr>
              <a:t>CROSS-ZONE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The same year, three zones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2514E"/>
                </a:solidFill>
                <a:latin typeface="Segoe UI"/>
              </a:rPr>
              <a:t>In 2021 the ccTLDs led .gov on ECDSA — .gov overtook them only later. Comparing each zone's latest year instead would invert this.</a:t>
            </a:r>
          </a:p>
        </p:txBody>
      </p:sp>
      <p:pic>
        <p:nvPicPr>
          <p:cNvPr id="5" name="Picture 4" descr="landsc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2288" y="2194560"/>
            <a:ext cx="7547119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291072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98781"/>
                </a:solidFill>
                <a:latin typeface="Segoe UI"/>
              </a:rPr>
              <a:t>2021 is the only year all three zones were measured. .se rests on 11 days — directional, not precise.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98781"/>
                </a:solidFill>
                <a:latin typeface="Segoe UI"/>
              </a:rPr>
              <a:t>THE NON-ADOPTION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EdDSA was standardised in 2017. It never arrived.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2514E"/>
                </a:solidFill>
                <a:latin typeface="Segoe UI"/>
              </a:rPr>
              <a:t>Nine years on, adoption is indistinguishable from zero in two of three zones.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77440"/>
            <a:ext cx="3301898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D03B3B"/>
                </a:solidFill>
                <a:latin typeface="Segoe UI"/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163824"/>
            <a:ext cx="330189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.gov records using EdDSA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out of 72 million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44898" y="2377440"/>
            <a:ext cx="3301898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D03B3B"/>
                </a:solidFill>
                <a:latin typeface="Segoe UI"/>
              </a:rPr>
              <a:t>0.09%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4898" y="3163824"/>
            <a:ext cx="330189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of .nu DNSSEC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2556" y="2377440"/>
            <a:ext cx="3301898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D03B3B"/>
                </a:solidFill>
                <a:latin typeface="Segoe UI"/>
              </a:rPr>
              <a:t>0.84%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2556" y="3163824"/>
            <a:ext cx="330189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of .se DNSSEC records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— 72% of all EdDSA seen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480560"/>
            <a:ext cx="10637215" cy="1524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754880"/>
            <a:ext cx="1063721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Registries consolidated on ECDSA instead. ECDSA solved a real operational problem — smaller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keys mean smaller responses, less fragmentation, less amplification. EdDSA solved nothing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that ECDSA had not already solved, and being newer and better was not enough on its own.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291072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98781"/>
                </a:solidFill>
                <a:latin typeface="Segoe UI"/>
              </a:rPr>
              <a:t>RFC 8080 (algorithms 15/16), published February 2017. Counts across the full 2.76 billion records.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98781"/>
                </a:solidFill>
                <a:latin typeface="Segoe UI"/>
              </a:rPr>
              <a:t>OPERATIONAL OUTLIER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.gov automates delegation; the ccTLDs do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2514E"/>
                </a:solidFill>
                <a:latin typeface="Segoe UI"/>
              </a:rPr>
              <a:t>CDS/CDNSKEY publication grew 11× and the delete signal appeared in 2020 and kept climbing.</a:t>
            </a:r>
          </a:p>
        </p:txBody>
      </p:sp>
      <p:pic>
        <p:nvPicPr>
          <p:cNvPr id="5" name="Picture 4" descr="gov_autom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3337" y="2194560"/>
            <a:ext cx="7805021" cy="3703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291072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98781"/>
                </a:solidFill>
                <a:latin typeface="Segoe UI"/>
              </a:rPr>
              <a:t>.gov holds 56% of all delete signals and 64% of all CDS/CDNSKEY records while being 2.6% of the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98781"/>
                </a:solidFill>
                <a:latin typeface="Segoe UI"/>
              </a:rPr>
              <a:t>WHAT SHARES HIDE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NSEC3 did not decline. It stood still.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2514E"/>
                </a:solidFill>
                <a:latin typeface="Segoe UI"/>
              </a:rPr>
              <a:t>Its share of .gov records fell 10.9% to 5.8% — but per measurement day it held flat at ~2,900 for eight years. The share moved because the denominator grew 79%.</a:t>
            </a:r>
          </a:p>
        </p:txBody>
      </p:sp>
      <p:pic>
        <p:nvPicPr>
          <p:cNvPr id="5" name="Picture 4" descr="growth_vs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283" y="2240280"/>
            <a:ext cx="7873129" cy="3611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291072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98781"/>
                </a:solidFill>
                <a:latin typeface="Segoe UI"/>
              </a:rPr>
              <a:t>Per-day rates remove the shared denominator. Only growth above the zone's own 1.8x baseline is adoption.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98781"/>
                </a:solidFill>
                <a:latin typeface="Segoe UI"/>
              </a:rPr>
              <a:t>ADOPTION DATES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When each RFC actually shows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2514E"/>
                </a:solidFill>
                <a:latin typeface="Segoe UI"/>
              </a:rPr>
              <a:t>Only three rows carry a real time-to-adoption. The rest were already deployed when measurement began, so their lag is a lower bound, not a delay.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042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98781"/>
                </a:solidFill>
                <a:latin typeface="Segoe UI"/>
              </a:rPr>
              <a:t>RFC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48840" y="2304288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98781"/>
                </a:solidFill>
                <a:latin typeface="Segoe UI"/>
              </a:rPr>
              <a:t>Published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23042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98781"/>
                </a:solidFill>
                <a:latin typeface="Segoe UI"/>
              </a:rPr>
              <a:t>First seen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30428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98781"/>
                </a:solidFill>
                <a:latin typeface="Segoe UI"/>
              </a:rPr>
              <a:t>Lag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30428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98781"/>
                </a:solidFill>
                <a:latin typeface="Segoe UI"/>
              </a:rPr>
              <a:t>Median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230428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98781"/>
                </a:solidFill>
                <a:latin typeface="Segoe UI"/>
              </a:rPr>
              <a:t>Last seen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3042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98781"/>
                </a:solidFill>
                <a:latin typeface="Segoe UI"/>
              </a:rPr>
              <a:t>Observations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596896"/>
            <a:ext cx="9738360" cy="1524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724912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RFC 4033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2724912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2005-03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724912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2018-01 *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72491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&gt; 12.8y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2724912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2019-04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724912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2026-04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724912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2,323,653,512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090672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RFC 4509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3090672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2006-05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3090672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2018-01 *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309067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&gt; 11.7y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090672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2019-04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090672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2026-04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3090672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135,810,997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456432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RFC 5155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3456432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2008-03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3456432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2018-01 *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345643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&gt; 9.8y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3456432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2019-03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3456432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2026-04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3456432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429,544,241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3822192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RFC 6605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48840" y="3822192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2012-04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3822192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2018-01 *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382219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&gt; 5.8y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720" y="3822192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2021-07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3822192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2026-04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0" y="3822192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549,969,844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4187952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RFC 7344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48840" y="4187952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2014-09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83280" y="4187952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2018-01 *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4880" y="418795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&gt; 3.3y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60720" y="4187952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2024-01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0" y="4187952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2026-04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38160" y="4187952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2,290,509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4553712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RFC 8080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48840" y="4553712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2017-02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83280" y="4553712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2021-01 *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54880" y="455371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&lt; 3.9y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60720" y="4553712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2021-01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49440" y="4553712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2024-11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38160" y="4553712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6,642,303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" y="4919472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RFC 8078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148840" y="4919472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2017-03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83280" y="4919472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0B0B"/>
                </a:solidFill>
                <a:latin typeface="Segoe UI"/>
              </a:rPr>
              <a:t>2018-08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54880" y="491947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0B0B"/>
                </a:solidFill>
                <a:latin typeface="Segoe UI"/>
              </a:rPr>
              <a:t>1.5y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760720" y="4919472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2024-01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49440" y="4919472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2026-04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138160" y="4919472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165,951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7240" y="5285232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RFC 8624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148840" y="5285232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2019-06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83280" y="5285232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0B0B"/>
                </a:solidFill>
                <a:latin typeface="Segoe UI"/>
              </a:rPr>
              <a:t>2019-06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754880" y="528523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0B0B"/>
                </a:solidFill>
                <a:latin typeface="Segoe UI"/>
              </a:rPr>
              <a:t>0.0y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760720" y="5285232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2021-08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949440" y="5285232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2026-04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38160" y="5285232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495,136,786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77240" y="5687568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98781"/>
                </a:solidFill>
                <a:latin typeface="Segoe UI"/>
              </a:rPr>
              <a:t>*  first sighting censored by the start of the corpus (lower bound) or by a coverage gap (upper bound).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7240" y="6291072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98781"/>
                </a:solidFill>
                <a:latin typeface="Segoe UI"/>
              </a:rPr>
              <a:t>Median is rate-weighted: each month counts by records per measurement day, so unevenly sampled months do not dominate.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98781"/>
                </a:solidFill>
                <a:latin typeface="Segoe UI"/>
              </a:rPr>
              <a:t>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What this does not show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2514E"/>
                </a:solidFill>
                <a:latin typeface="Segoe UI"/>
              </a:rPr>
              <a:t>Stated plainly, because each one changes how a number should be read.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4028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0B0B"/>
                </a:solidFill>
                <a:latin typeface="Segoe UI"/>
              </a:rPr>
              <a:t>Record-level, not zone-level.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4920" y="2240280"/>
            <a:ext cx="6339535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“62% of .gov records use ECDSA” is not “62% of .gov zones”. Large signed zones contribute more records.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08376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0B0B"/>
                </a:solidFill>
                <a:latin typeface="Segoe UI"/>
              </a:rPr>
              <a:t>First-seen is a coverage floor.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3008376"/>
            <a:ext cx="6339535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Five RFCs report first-seen 2018-01-01 — the first day of data. They were deployed before the window.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76472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0B0B"/>
                </a:solidFill>
                <a:latin typeface="Segoe UI"/>
              </a:rPr>
              <a:t>Rankings are sampled; counts are not.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3776472"/>
            <a:ext cx="6339535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Observation counts are exact aggregates. Scores derive from 29 worked examples, ~1 per 95M rows.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44568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0B0B"/>
                </a:solidFill>
                <a:latin typeface="Segoe UI"/>
              </a:rPr>
              <a:t>Presence is not conformance.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4544568"/>
            <a:ext cx="6339535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A matching record shows the mechanism is deployed, not that the operator read the RFC.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312664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0B0B"/>
                </a:solidFill>
                <a:latin typeface="Segoe UI"/>
              </a:rPr>
              <a:t>Resolver-side issues are invisible.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5312664"/>
            <a:ext cx="6339535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KeyTrap (CVE-2023-50387) cites RFC 4033/34/35 — 84% of this data — but is fixed in resolver code. Forward DNS sees what zones publish, not what resolvers do.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291072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98781"/>
                </a:solidFill>
                <a:latin typeface="Segoe UI"/>
              </a:rPr>
              <a:t>The pipeline identifies ranked RFC candidates consistent with observable signals; it does not prove adoption.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98781"/>
                </a:solidFill>
                <a:latin typeface="Segoe UI"/>
              </a:rPr>
              <a:t>THE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The most urgent DNSSEC RFC is not in this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2514E"/>
                </a:solidFill>
                <a:latin typeface="Segoe UI"/>
              </a:rPr>
              <a:t>RFC 5155 lets a zone publish NSEC3 with an unbounded iteration count — the root cause of CVE-2023-50868, a resolver CPU-exhaustion attack. RFC 9276 is the fix, it is observable here, and the checklist does not track it.</a:t>
            </a:r>
          </a:p>
        </p:txBody>
      </p:sp>
      <p:pic>
        <p:nvPicPr>
          <p:cNvPr id="5" name="Picture 4" descr="nsec3_compl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227" y="2395728"/>
            <a:ext cx="6731240" cy="3246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779008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03B3B"/>
                </a:solidFill>
                <a:latin typeface="Segoe UI"/>
              </a:rPr>
              <a:t>Highest iteration count seen: .gov 100 · .nu 423 · .se 250.  RFC 9276 says zero.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91072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98781"/>
                </a:solidFill>
                <a:latin typeface="Segoe UI"/>
              </a:rPr>
              <a:t>Spot measurement: one day per zone (.gov 2026-04-28, .nu 2024-03-03, .se 2021-01-11), weighted by distinct names. The .se day predates RFC 9276, so it is not a judgement of .se.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98781"/>
                </a:solidFill>
                <a:latin typeface="Segoe U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What would make this publishable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2514E"/>
                </a:solidFill>
                <a:latin typeface="Segoe UI"/>
              </a:rPr>
              <a:t>Four gaps, in the order they change the conclusions.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31136"/>
            <a:ext cx="548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78D6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35608" y="228600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0B0B"/>
                </a:solidFill>
                <a:latin typeface="Segoe UI"/>
              </a:rPr>
              <a:t>Track RFC 9276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2286000"/>
            <a:ext cx="5608015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The only measurable RFC here that fixes an exploited CVE, and the one the checklist misses. One checklist entry plus a rescan.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145536"/>
            <a:ext cx="548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78D6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8" y="320040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0B0B"/>
                </a:solidFill>
                <a:latin typeface="Segoe UI"/>
              </a:rPr>
              <a:t>Aggregate to zone level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3200400"/>
            <a:ext cx="5608015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Turns “share of records” into “share of zones” — the number a reader assumes they are already seeing.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59936"/>
            <a:ext cx="548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78D6"/>
                </a:solidFill>
                <a:latin typeface="Segoe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608" y="411480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0B0B"/>
                </a:solidFill>
                <a:latin typeface="Segoe UI"/>
              </a:rPr>
              <a:t>Fill 2022 and 2025, and sample .se properly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4114800"/>
            <a:ext cx="5608015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.se is the largest zone and the worst covered at 39 days. The ECDSA curve needs the missing years.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74336"/>
            <a:ext cx="548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78D6"/>
                </a:solidFill>
                <a:latin typeface="Segoe U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5608" y="502920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0B0B"/>
                </a:solidFill>
                <a:latin typeface="Segoe UI"/>
              </a:rPr>
              <a:t>Exact scoring in 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5029200"/>
            <a:ext cx="5608015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Removes the sampled-ranking caveat so scores are as exact as the counts already are.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6053328"/>
            <a:ext cx="10637215" cy="1524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6254496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98781"/>
                </a:solidFill>
                <a:latin typeface="Segoe UI"/>
              </a:rPr>
              <a:t>Every figure in this deck is reproducible: openintel-rfc merge --checkpoint-dir out/final/checkpoints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