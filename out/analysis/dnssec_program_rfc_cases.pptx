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The moves that made ECDSA the majority came much later and were all rollovers: .se 2019-01 +119,500 (30 months after that default) and .se 2019-06 +217,437. The largest of all, .ch 2021-06..2021-11 +591,333, was a signing wave in which the new zones chose ECDSA 96% of the time: by 2021 every signer default had been ECDSA for five years.</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tells the auto-update story directly. New signings ignored the Knot 2.1.0 and PowerDNS 4.0.0 defaults (0.2% -&gt; 0.3% and 0.3% -&gt; 0.2% ECDSA in the year either side) and only moved around BIND 9.16.0 (22.8% -&gt; 38.8%), which Ubuntu 20.04 and Debian 11 carried. Reverse operators run BIND; the defaults that reached them were BIND's.</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0332720" cy="1920240"/>
        </p:xfrm>
        <a:graphic>
          <a:graphicData uri="http://schemas.openxmlformats.org/drawingml/2006/table">
            <a:tbl>
              <a:tblPr firstRow="1" bandRow="1">
                <a:tableStyleId>{5C22544A-7EE6-4342-B048-85BDC9FD1C3A}</a:tableStyleId>
              </a:tblPr>
              <a:tblGrid>
                <a:gridCol w="2103120"/>
                <a:gridCol w="822960"/>
                <a:gridCol w="822960"/>
                <a:gridCol w="1828800"/>
                <a:gridCol w="1463040"/>
                <a:gridCol w="1828800"/>
                <a:gridCol w="146304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900" b="0">
                          <a:solidFill>
                            <a:srgbClr val="0B0B0B"/>
                          </a:solidFill>
                        </a:rPr>
                        <a:t>Knot DNS 2.1.0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2016-01</a:t>
                      </a:r>
                    </a:p>
                  </a:txBody>
                  <a:tcPr marL="45720" marR="45720" marT="27432" marB="27432">
                    <a:solidFill>
                      <a:srgbClr val="FCFCFB"/>
                    </a:solidFill>
                  </a:tcPr>
                </a:tc>
                <a:tc>
                  <a:txBody>
                    <a:bodyPr/>
                    <a:lstStyle/>
                    <a:p>
                      <a:r>
                        <a:rPr sz="900" b="0">
                          <a:solidFill>
                            <a:srgbClr val="0B0B0B"/>
                          </a:solidFill>
                        </a:rPr>
                        <a:t>953</a:t>
                      </a:r>
                    </a:p>
                  </a:txBody>
                  <a:tcPr marL="45720" marR="45720" marT="27432" marB="27432">
                    <a:solidFill>
                      <a:srgbClr val="FCFCFB"/>
                    </a:solidFill>
                  </a:tcPr>
                </a:tc>
                <a:tc>
                  <a:txBody>
                    <a:bodyPr/>
                    <a:lstStyle/>
                    <a:p>
                      <a:r>
                        <a:rPr sz="900" b="0">
                          <a:solidFill>
                            <a:srgbClr val="0B0B0B"/>
                          </a:solidFill>
                        </a:rPr>
                        <a:t>0.2%</a:t>
                      </a:r>
                    </a:p>
                  </a:txBody>
                  <a:tcPr marL="45720" marR="45720" marT="27432" marB="27432">
                    <a:solidFill>
                      <a:srgbClr val="FCFCFB"/>
                    </a:solidFill>
                  </a:tcPr>
                </a:tc>
                <a:tc>
                  <a:txBody>
                    <a:bodyPr/>
                    <a:lstStyle/>
                    <a:p>
                      <a:r>
                        <a:rPr sz="900" b="0">
                          <a:solidFill>
                            <a:srgbClr val="0B0B0B"/>
                          </a:solidFill>
                        </a:rPr>
                        <a:t>1199</a:t>
                      </a:r>
                    </a:p>
                  </a:txBody>
                  <a:tcPr marL="45720" marR="45720" marT="27432" marB="27432">
                    <a:solidFill>
                      <a:srgbClr val="FCFCFB"/>
                    </a:solidFill>
                  </a:tcPr>
                </a:tc>
                <a:tc>
                  <a:txBody>
                    <a:bodyPr/>
                    <a:lstStyle/>
                    <a:p>
                      <a:r>
                        <a:rPr sz="900" b="0">
                          <a:solidFill>
                            <a:srgbClr val="0B0B0B"/>
                          </a:solidFill>
                        </a:rPr>
                        <a:t>0.3%</a:t>
                      </a:r>
                    </a:p>
                  </a:txBody>
                  <a:tcPr marL="45720" marR="45720" marT="27432" marB="27432">
                    <a:solidFill>
                      <a:srgbClr val="FCFCFB"/>
                    </a:solidFill>
                  </a:tcPr>
                </a:tc>
              </a:tr>
              <a:tr h="274320">
                <a:tc>
                  <a:txBody>
                    <a:bodyPr/>
                    <a:lstStyle/>
                    <a:p>
                      <a:r>
                        <a:rPr sz="900" b="0">
                          <a:solidFill>
                            <a:srgbClr val="0B0B0B"/>
                          </a:solidFill>
                        </a:rPr>
                        <a:t>PowerDNS Auth 4.0.0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2016-07</a:t>
                      </a:r>
                    </a:p>
                  </a:txBody>
                  <a:tcPr marL="45720" marR="45720" marT="27432" marB="27432">
                    <a:solidFill>
                      <a:srgbClr val="FCFCFB"/>
                    </a:solidFill>
                  </a:tcPr>
                </a:tc>
                <a:tc>
                  <a:txBody>
                    <a:bodyPr/>
                    <a:lstStyle/>
                    <a:p>
                      <a:r>
                        <a:rPr sz="900" b="0">
                          <a:solidFill>
                            <a:srgbClr val="0B0B0B"/>
                          </a:solidFill>
                        </a:rPr>
                        <a:t>640</a:t>
                      </a:r>
                    </a:p>
                  </a:txBody>
                  <a:tcPr marL="45720" marR="45720" marT="27432" marB="27432">
                    <a:solidFill>
                      <a:srgbClr val="FCFCFB"/>
                    </a:solidFill>
                  </a:tcPr>
                </a:tc>
                <a:tc>
                  <a:txBody>
                    <a:bodyPr/>
                    <a:lstStyle/>
                    <a:p>
                      <a:r>
                        <a:rPr sz="900" b="0">
                          <a:solidFill>
                            <a:srgbClr val="0B0B0B"/>
                          </a:solidFill>
                        </a:rPr>
                        <a:t>0.3%</a:t>
                      </a:r>
                    </a:p>
                  </a:txBody>
                  <a:tcPr marL="45720" marR="45720" marT="27432" marB="27432">
                    <a:solidFill>
                      <a:srgbClr val="FCFCFB"/>
                    </a:solidFill>
                  </a:tcPr>
                </a:tc>
                <a:tc>
                  <a:txBody>
                    <a:bodyPr/>
                    <a:lstStyle/>
                    <a:p>
                      <a:r>
                        <a:rPr sz="900" b="0">
                          <a:solidFill>
                            <a:srgbClr val="0B0B0B"/>
                          </a:solidFill>
                        </a:rPr>
                        <a:t>1338</a:t>
                      </a:r>
                    </a:p>
                  </a:txBody>
                  <a:tcPr marL="45720" marR="45720" marT="27432" marB="27432">
                    <a:solidFill>
                      <a:srgbClr val="FCFCFB"/>
                    </a:solidFill>
                  </a:tcPr>
                </a:tc>
                <a:tc>
                  <a:txBody>
                    <a:bodyPr/>
                    <a:lstStyle/>
                    <a:p>
                      <a:r>
                        <a:rPr sz="900" b="0">
                          <a:solidFill>
                            <a:srgbClr val="0B0B0B"/>
                          </a:solidFill>
                        </a:rPr>
                        <a:t>0.2%</a:t>
                      </a:r>
                    </a:p>
                  </a:txBody>
                  <a:tcPr marL="45720" marR="45720" marT="27432" marB="27432">
                    <a:solidFill>
                      <a:srgbClr val="FCFCFB"/>
                    </a:solidFill>
                  </a:tcPr>
                </a:tc>
              </a:tr>
              <a:tr h="274320">
                <a:tc>
                  <a:txBody>
                    <a:bodyPr/>
                    <a:lstStyle/>
                    <a:p>
                      <a:r>
                        <a:rPr sz="900" b="0">
                          <a:solidFill>
                            <a:srgbClr val="0B0B0B"/>
                          </a:solidFill>
                        </a:rPr>
                        <a:t>BIND 9 9.16.0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2020-02</a:t>
                      </a:r>
                    </a:p>
                  </a:txBody>
                  <a:tcPr marL="45720" marR="45720" marT="27432" marB="27432">
                    <a:solidFill>
                      <a:srgbClr val="FCFCFB"/>
                    </a:solidFill>
                  </a:tcPr>
                </a:tc>
                <a:tc>
                  <a:txBody>
                    <a:bodyPr/>
                    <a:lstStyle/>
                    <a:p>
                      <a:r>
                        <a:rPr sz="900" b="0">
                          <a:solidFill>
                            <a:srgbClr val="0B0B0B"/>
                          </a:solidFill>
                        </a:rPr>
                        <a:t>2169</a:t>
                      </a:r>
                    </a:p>
                  </a:txBody>
                  <a:tcPr marL="45720" marR="45720" marT="27432" marB="27432">
                    <a:solidFill>
                      <a:srgbClr val="FCFCFB"/>
                    </a:solidFill>
                  </a:tcPr>
                </a:tc>
                <a:tc>
                  <a:txBody>
                    <a:bodyPr/>
                    <a:lstStyle/>
                    <a:p>
                      <a:r>
                        <a:rPr sz="900" b="0">
                          <a:solidFill>
                            <a:srgbClr val="0B0B0B"/>
                          </a:solidFill>
                        </a:rPr>
                        <a:t>22.8%</a:t>
                      </a:r>
                    </a:p>
                  </a:txBody>
                  <a:tcPr marL="45720" marR="45720" marT="27432" marB="27432">
                    <a:solidFill>
                      <a:srgbClr val="FCFCFB"/>
                    </a:solidFill>
                  </a:tcPr>
                </a:tc>
                <a:tc>
                  <a:txBody>
                    <a:bodyPr/>
                    <a:lstStyle/>
                    <a:p>
                      <a:r>
                        <a:rPr sz="900" b="0">
                          <a:solidFill>
                            <a:srgbClr val="0B0B0B"/>
                          </a:solidFill>
                        </a:rPr>
                        <a:t>1030</a:t>
                      </a:r>
                    </a:p>
                  </a:txBody>
                  <a:tcPr marL="45720" marR="45720" marT="27432" marB="27432">
                    <a:solidFill>
                      <a:srgbClr val="FCFCFB"/>
                    </a:solidFill>
                  </a:tcPr>
                </a:tc>
                <a:tc>
                  <a:txBody>
                    <a:bodyPr/>
                    <a:lstStyle/>
                    <a:p>
                      <a:r>
                        <a:rPr sz="900" b="0">
                          <a:solidFill>
                            <a:srgbClr val="0B0B0B"/>
                          </a:solidFill>
                        </a:rPr>
                        <a:t>38.8%</a:t>
                      </a:r>
                    </a:p>
                  </a:txBody>
                  <a:tcPr marL="45720" marR="45720" marT="27432" marB="27432">
                    <a:solidFill>
                      <a:srgbClr val="FCFCFB"/>
                    </a:solidFill>
                  </a:tcPr>
                </a:tc>
              </a:tr>
              <a:tr h="274320">
                <a:tc>
                  <a:txBody>
                    <a:bodyPr/>
                    <a:lstStyle/>
                    <a:p>
                      <a:r>
                        <a:rPr sz="900" b="0">
                          <a:solidFill>
                            <a:srgbClr val="0B0B0B"/>
                          </a:solidFill>
                        </a:rPr>
                        <a:t>PowerDNS Auth 3.0.1</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2012-01</a:t>
                      </a:r>
                    </a:p>
                  </a:txBody>
                  <a:tcPr marL="45720" marR="45720" marT="27432" marB="27432">
                    <a:solidFill>
                      <a:srgbClr val="FCFCFB"/>
                    </a:solidFill>
                  </a:tcPr>
                </a:tc>
                <a:tc>
                  <a:txBody>
                    <a:bodyPr/>
                    <a:lstStyle/>
                    <a:p>
                      <a:r>
                        <a:rPr sz="900" b="0">
                          <a:solidFill>
                            <a:srgbClr val="0B0B0B"/>
                          </a:solidFill>
                        </a:rPr>
                        <a:t>279</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456</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r h="274320">
                <a:tc>
                  <a:txBody>
                    <a:bodyPr/>
                    <a:lstStyle/>
                    <a:p>
                      <a:r>
                        <a:rPr sz="900" b="0">
                          <a:solidFill>
                            <a:srgbClr val="0B0B0B"/>
                          </a:solidFill>
                        </a:rPr>
                        <a:t>BIND 9 9.8.4</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2012-09</a:t>
                      </a:r>
                    </a:p>
                  </a:txBody>
                  <a:tcPr marL="45720" marR="45720" marT="27432" marB="27432">
                    <a:solidFill>
                      <a:srgbClr val="FCFCFB"/>
                    </a:solidFill>
                  </a:tcPr>
                </a:tc>
                <a:tc>
                  <a:txBody>
                    <a:bodyPr/>
                    <a:lstStyle/>
                    <a:p>
                      <a:r>
                        <a:rPr sz="900" b="0">
                          <a:solidFill>
                            <a:srgbClr val="0B0B0B"/>
                          </a:solidFill>
                        </a:rPr>
                        <a:t>344</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406</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r h="274320">
                <a:tc>
                  <a:txBody>
                    <a:bodyPr/>
                    <a:lstStyle/>
                    <a:p>
                      <a:r>
                        <a:rPr sz="900" b="0">
                          <a:solidFill>
                            <a:srgbClr val="0B0B0B"/>
                          </a:solidFill>
                        </a:rPr>
                        <a:t>Knot DNS 1.4.0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2013-12</a:t>
                      </a:r>
                    </a:p>
                  </a:txBody>
                  <a:tcPr marL="45720" marR="45720" marT="27432" marB="27432">
                    <a:solidFill>
                      <a:srgbClr val="FCFCFB"/>
                    </a:solidFill>
                  </a:tcPr>
                </a:tc>
                <a:tc>
                  <a:txBody>
                    <a:bodyPr/>
                    <a:lstStyle/>
                    <a:p>
                      <a:r>
                        <a:rPr sz="900" b="0">
                          <a:solidFill>
                            <a:srgbClr val="0B0B0B"/>
                          </a:solidFill>
                        </a:rPr>
                        <a:t>402</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1331</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In the twelve months after OpenDNSSEC 1.2.0 made RSASHA256 its default (2011-03), the share of newly signed delegations choosing it went from 0.9% to 20.0% (on 212 and 459 signings). That is the one default change in this study followed by a step in what new zones chose -- but BIND 9.7.0 had enabled the algorithm 13 months earlier, and the rise continued for two years, so it reads as the algorithm becoming available everywhere, not as one vendor's default.</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0332720" cy="1097280"/>
        </p:xfrm>
        <a:graphic>
          <a:graphicData uri="http://schemas.openxmlformats.org/drawingml/2006/table">
            <a:tbl>
              <a:tblPr firstRow="1" bandRow="1">
                <a:tableStyleId>{5C22544A-7EE6-4342-B048-85BDC9FD1C3A}</a:tableStyleId>
              </a:tblPr>
              <a:tblGrid>
                <a:gridCol w="2103120"/>
                <a:gridCol w="822960"/>
                <a:gridCol w="822960"/>
                <a:gridCol w="1828800"/>
                <a:gridCol w="1463040"/>
                <a:gridCol w="1828800"/>
                <a:gridCol w="146304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900" b="0">
                          <a:solidFill>
                            <a:srgbClr val="0B0B0B"/>
                          </a:solidFill>
                        </a:rPr>
                        <a:t>OpenDNSSEC 1.2.0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2011-03</a:t>
                      </a:r>
                    </a:p>
                  </a:txBody>
                  <a:tcPr marL="45720" marR="45720" marT="27432" marB="27432">
                    <a:solidFill>
                      <a:srgbClr val="FCFCFB"/>
                    </a:solidFill>
                  </a:tcPr>
                </a:tc>
                <a:tc>
                  <a:txBody>
                    <a:bodyPr/>
                    <a:lstStyle/>
                    <a:p>
                      <a:r>
                        <a:rPr sz="900" b="0">
                          <a:solidFill>
                            <a:srgbClr val="0B0B0B"/>
                          </a:solidFill>
                        </a:rPr>
                        <a:t>212</a:t>
                      </a:r>
                    </a:p>
                  </a:txBody>
                  <a:tcPr marL="45720" marR="45720" marT="27432" marB="27432">
                    <a:solidFill>
                      <a:srgbClr val="FCFCFB"/>
                    </a:solidFill>
                  </a:tcPr>
                </a:tc>
                <a:tc>
                  <a:txBody>
                    <a:bodyPr/>
                    <a:lstStyle/>
                    <a:p>
                      <a:r>
                        <a:rPr sz="900" b="0">
                          <a:solidFill>
                            <a:srgbClr val="0B0B0B"/>
                          </a:solidFill>
                        </a:rPr>
                        <a:t>0.9%</a:t>
                      </a:r>
                    </a:p>
                  </a:txBody>
                  <a:tcPr marL="45720" marR="45720" marT="27432" marB="27432">
                    <a:solidFill>
                      <a:srgbClr val="FCFCFB"/>
                    </a:solidFill>
                  </a:tcPr>
                </a:tc>
                <a:tc>
                  <a:txBody>
                    <a:bodyPr/>
                    <a:lstStyle/>
                    <a:p>
                      <a:r>
                        <a:rPr sz="900" b="0">
                          <a:solidFill>
                            <a:srgbClr val="0B0B0B"/>
                          </a:solidFill>
                        </a:rPr>
                        <a:t>459</a:t>
                      </a:r>
                    </a:p>
                  </a:txBody>
                  <a:tcPr marL="45720" marR="45720" marT="27432" marB="27432">
                    <a:solidFill>
                      <a:srgbClr val="FCFCFB"/>
                    </a:solidFill>
                  </a:tcPr>
                </a:tc>
                <a:tc>
                  <a:txBody>
                    <a:bodyPr/>
                    <a:lstStyle/>
                    <a:p>
                      <a:r>
                        <a:rPr sz="900" b="0">
                          <a:solidFill>
                            <a:srgbClr val="0B0B0B"/>
                          </a:solidFill>
                        </a:rPr>
                        <a:t>20.0%</a:t>
                      </a:r>
                    </a:p>
                  </a:txBody>
                  <a:tcPr marL="45720" marR="45720" marT="27432" marB="27432">
                    <a:solidFill>
                      <a:srgbClr val="FCFCFB"/>
                    </a:solidFill>
                  </a:tcPr>
                </a:tc>
              </a:tr>
              <a:tr h="274320">
                <a:tc>
                  <a:txBody>
                    <a:bodyPr/>
                    <a:lstStyle/>
                    <a:p>
                      <a:r>
                        <a:rPr sz="900" b="0">
                          <a:solidFill>
                            <a:srgbClr val="0B0B0B"/>
                          </a:solidFill>
                        </a:rPr>
                        <a:t>Knot DNS 2.0.0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2015-06</a:t>
                      </a:r>
                    </a:p>
                  </a:txBody>
                  <a:tcPr marL="45720" marR="45720" marT="27432" marB="27432">
                    <a:solidFill>
                      <a:srgbClr val="FCFCFB"/>
                    </a:solidFill>
                  </a:tcPr>
                </a:tc>
                <a:tc>
                  <a:txBody>
                    <a:bodyPr/>
                    <a:lstStyle/>
                    <a:p>
                      <a:r>
                        <a:rPr sz="900" b="0">
                          <a:solidFill>
                            <a:srgbClr val="0B0B0B"/>
                          </a:solidFill>
                        </a:rPr>
                        <a:t>1093</a:t>
                      </a:r>
                    </a:p>
                  </a:txBody>
                  <a:tcPr marL="45720" marR="45720" marT="27432" marB="27432">
                    <a:solidFill>
                      <a:srgbClr val="FCFCFB"/>
                    </a:solidFill>
                  </a:tcPr>
                </a:tc>
                <a:tc>
                  <a:txBody>
                    <a:bodyPr/>
                    <a:lstStyle/>
                    <a:p>
                      <a:r>
                        <a:rPr sz="900" b="0">
                          <a:solidFill>
                            <a:srgbClr val="0B0B0B"/>
                          </a:solidFill>
                        </a:rPr>
                        <a:t>78.0%</a:t>
                      </a:r>
                    </a:p>
                  </a:txBody>
                  <a:tcPr marL="45720" marR="45720" marT="27432" marB="27432">
                    <a:solidFill>
                      <a:srgbClr val="FCFCFB"/>
                    </a:solidFill>
                  </a:tcPr>
                </a:tc>
                <a:tc>
                  <a:txBody>
                    <a:bodyPr/>
                    <a:lstStyle/>
                    <a:p>
                      <a:r>
                        <a:rPr sz="900" b="0">
                          <a:solidFill>
                            <a:srgbClr val="0B0B0B"/>
                          </a:solidFill>
                        </a:rPr>
                        <a:t>777</a:t>
                      </a:r>
                    </a:p>
                  </a:txBody>
                  <a:tcPr marL="45720" marR="45720" marT="27432" marB="27432">
                    <a:solidFill>
                      <a:srgbClr val="FCFCFB"/>
                    </a:solidFill>
                  </a:tcPr>
                </a:tc>
                <a:tc>
                  <a:txBody>
                    <a:bodyPr/>
                    <a:lstStyle/>
                    <a:p>
                      <a:r>
                        <a:rPr sz="900" b="0">
                          <a:solidFill>
                            <a:srgbClr val="0B0B0B"/>
                          </a:solidFill>
                        </a:rPr>
                        <a:t>69.6%</a:t>
                      </a:r>
                    </a:p>
                  </a:txBody>
                  <a:tcPr marL="45720" marR="45720" marT="27432" marB="27432">
                    <a:solidFill>
                      <a:srgbClr val="FCFCFB"/>
                    </a:solidFill>
                  </a:tcPr>
                </a:tc>
              </a:tr>
              <a:tr h="274320">
                <a:tc>
                  <a:txBody>
                    <a:bodyPr/>
                    <a:lstStyle/>
                    <a:p>
                      <a:r>
                        <a:rPr sz="900" b="0">
                          <a:solidFill>
                            <a:srgbClr val="0B0B0B"/>
                          </a:solidFill>
                        </a:rPr>
                        <a:t>BIND 9 9.7.0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2010-02</a:t>
                      </a:r>
                    </a:p>
                  </a:txBody>
                  <a:tcPr marL="45720" marR="45720" marT="27432" marB="27432">
                    <a:solidFill>
                      <a:srgbClr val="FCFCFB"/>
                    </a:solidFill>
                  </a:tcPr>
                </a:tc>
                <a:tc>
                  <a:txBody>
                    <a:bodyPr/>
                    <a:lstStyle/>
                    <a:p>
                      <a:r>
                        <a:rPr sz="900" b="0">
                          <a:solidFill>
                            <a:srgbClr val="0B0B0B"/>
                          </a:solidFill>
                        </a:rPr>
                        <a:t>18</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217</a:t>
                      </a:r>
                    </a:p>
                  </a:txBody>
                  <a:tcPr marL="45720" marR="45720" marT="27432" marB="27432">
                    <a:solidFill>
                      <a:srgbClr val="FCFCFB"/>
                    </a:solidFill>
                  </a:tcPr>
                </a:tc>
                <a:tc>
                  <a:txBody>
                    <a:bodyPr/>
                    <a:lstStyle/>
                    <a:p>
                      <a:r>
                        <a:rPr sz="900" b="0">
                          <a:solidFill>
                            <a:srgbClr val="0B0B0B"/>
                          </a:solidFill>
                        </a:rPr>
                        <a:t>0.9%</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0332720" cy="1371600"/>
        </p:xfrm>
        <a:graphic>
          <a:graphicData uri="http://schemas.openxmlformats.org/drawingml/2006/table">
            <a:tbl>
              <a:tblPr firstRow="1" bandRow="1">
                <a:tableStyleId>{5C22544A-7EE6-4342-B048-85BDC9FD1C3A}</a:tableStyleId>
              </a:tblPr>
              <a:tblGrid>
                <a:gridCol w="2103120"/>
                <a:gridCol w="822960"/>
                <a:gridCol w="822960"/>
                <a:gridCol w="1828800"/>
                <a:gridCol w="1463040"/>
                <a:gridCol w="1828800"/>
                <a:gridCol w="146304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900" b="0">
                          <a:solidFill>
                            <a:srgbClr val="0B0B0B"/>
                          </a:solidFill>
                        </a:rPr>
                        <a:t>Knot DNS 2.4.0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2017-01</a:t>
                      </a:r>
                    </a:p>
                  </a:txBody>
                  <a:tcPr marL="45720" marR="45720" marT="27432" marB="27432">
                    <a:solidFill>
                      <a:srgbClr val="FCFCFB"/>
                    </a:solidFill>
                  </a:tcPr>
                </a:tc>
                <a:tc>
                  <a:txBody>
                    <a:bodyPr/>
                    <a:lstStyle/>
                    <a:p>
                      <a:r>
                        <a:rPr sz="900" b="0">
                          <a:solidFill>
                            <a:srgbClr val="0B0B0B"/>
                          </a:solidFill>
                        </a:rPr>
                        <a:t>879</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783</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r h="274320">
                <a:tc>
                  <a:txBody>
                    <a:bodyPr/>
                    <a:lstStyle/>
                    <a:p>
                      <a:r>
                        <a:rPr sz="900" b="0">
                          <a:solidFill>
                            <a:srgbClr val="0B0B0B"/>
                          </a:solidFill>
                        </a:rPr>
                        <a:t>Knot DNS 2.6.0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2017-09</a:t>
                      </a:r>
                    </a:p>
                  </a:txBody>
                  <a:tcPr marL="45720" marR="45720" marT="27432" marB="27432">
                    <a:solidFill>
                      <a:srgbClr val="FCFCFB"/>
                    </a:solidFill>
                  </a:tcPr>
                </a:tc>
                <a:tc>
                  <a:txBody>
                    <a:bodyPr/>
                    <a:lstStyle/>
                    <a:p>
                      <a:r>
                        <a:rPr sz="900" b="0">
                          <a:solidFill>
                            <a:srgbClr val="0B0B0B"/>
                          </a:solidFill>
                        </a:rPr>
                        <a:t>1342</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603</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r h="274320">
                <a:tc>
                  <a:txBody>
                    <a:bodyPr/>
                    <a:lstStyle/>
                    <a:p>
                      <a:r>
                        <a:rPr sz="900" b="0">
                          <a:solidFill>
                            <a:srgbClr val="0B0B0B"/>
                          </a:solidFill>
                        </a:rPr>
                        <a:t>BIND 9 9.12.0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2018-01</a:t>
                      </a:r>
                    </a:p>
                  </a:txBody>
                  <a:tcPr marL="45720" marR="45720" marT="27432" marB="27432">
                    <a:solidFill>
                      <a:srgbClr val="FCFCFB"/>
                    </a:solidFill>
                  </a:tcPr>
                </a:tc>
                <a:tc>
                  <a:txBody>
                    <a:bodyPr/>
                    <a:lstStyle/>
                    <a:p>
                      <a:r>
                        <a:rPr sz="900" b="0">
                          <a:solidFill>
                            <a:srgbClr val="0B0B0B"/>
                          </a:solidFill>
                        </a:rPr>
                        <a:t>767</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1134</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r h="274320">
                <a:tc>
                  <a:txBody>
                    <a:bodyPr/>
                    <a:lstStyle/>
                    <a:p>
                      <a:r>
                        <a:rPr sz="900" b="0">
                          <a:solidFill>
                            <a:srgbClr val="0B0B0B"/>
                          </a:solidFill>
                        </a:rPr>
                        <a:t>OpenDNSSEC 2.1.7</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2020-10</a:t>
                      </a:r>
                    </a:p>
                  </a:txBody>
                  <a:tcPr marL="45720" marR="45720" marT="27432" marB="27432">
                    <a:solidFill>
                      <a:srgbClr val="FCFCFB"/>
                    </a:solidFill>
                  </a:tcPr>
                </a:tc>
                <a:tc>
                  <a:txBody>
                    <a:bodyPr/>
                    <a:lstStyle/>
                    <a:p>
                      <a:r>
                        <a:rPr sz="900" b="0">
                          <a:solidFill>
                            <a:srgbClr val="0B0B0B"/>
                          </a:solidFill>
                        </a:rPr>
                        <a:t>1110</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c>
                  <a:txBody>
                    <a:bodyPr/>
                    <a:lstStyle/>
                    <a:p>
                      <a:r>
                        <a:rPr sz="900" b="0">
                          <a:solidFill>
                            <a:srgbClr val="0B0B0B"/>
                          </a:solidFill>
                        </a:rPr>
                        <a:t>1244</a:t>
                      </a:r>
                    </a:p>
                  </a:txBody>
                  <a:tcPr marL="45720" marR="45720" marT="27432" marB="27432">
                    <a:solidFill>
                      <a:srgbClr val="FCFCFB"/>
                    </a:solidFill>
                  </a:tcPr>
                </a:tc>
                <a:tc>
                  <a:txBody>
                    <a:bodyPr/>
                    <a:lstStyle/>
                    <a:p>
                      <a:r>
                        <a:rPr sz="90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0332720" cy="822960"/>
        </p:xfrm>
        <a:graphic>
          <a:graphicData uri="http://schemas.openxmlformats.org/drawingml/2006/table">
            <a:tbl>
              <a:tblPr firstRow="1" bandRow="1">
                <a:tableStyleId>{5C22544A-7EE6-4342-B048-85BDC9FD1C3A}</a:tableStyleId>
              </a:tblPr>
              <a:tblGrid>
                <a:gridCol w="2103120"/>
                <a:gridCol w="822960"/>
                <a:gridCol w="822960"/>
                <a:gridCol w="1828800"/>
                <a:gridCol w="1463040"/>
                <a:gridCol w="1828800"/>
                <a:gridCol w="146304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900" b="0">
                          <a:solidFill>
                            <a:srgbClr val="0B0B0B"/>
                          </a:solidFill>
                        </a:rPr>
                        <a:t>BIND 9 9.7.0</a:t>
                      </a:r>
                    </a:p>
                  </a:txBody>
                  <a:tcPr marL="45720" marR="45720" marT="27432" marB="27432">
                    <a:solidFill>
                      <a:srgbClr val="FCFCFB"/>
                    </a:solidFill>
                  </a:tcPr>
                </a:tc>
                <a:tc>
                  <a:txBody>
                    <a:bodyPr/>
                    <a:lstStyle/>
                    <a:p>
                      <a:r>
                        <a:rPr sz="900" b="0">
                          <a:solidFill>
                            <a:srgbClr val="0B0B0B"/>
                          </a:solidFill>
                        </a:rPr>
                        <a:t>default</a:t>
                      </a:r>
                    </a:p>
                  </a:txBody>
                  <a:tcPr marL="45720" marR="45720" marT="27432" marB="27432">
                    <a:solidFill>
                      <a:srgbClr val="FCFCFB"/>
                    </a:solidFill>
                  </a:tcPr>
                </a:tc>
                <a:tc>
                  <a:txBody>
                    <a:bodyPr/>
                    <a:lstStyle/>
                    <a:p>
                      <a:r>
                        <a:rPr sz="900" b="0">
                          <a:solidFill>
                            <a:srgbClr val="0B0B0B"/>
                          </a:solidFill>
                        </a:rPr>
                        <a:t>2010-02</a:t>
                      </a:r>
                    </a:p>
                  </a:txBody>
                  <a:tcPr marL="45720" marR="45720" marT="27432" marB="27432">
                    <a:solidFill>
                      <a:srgbClr val="FCFCFB"/>
                    </a:solidFill>
                  </a:tcPr>
                </a:tc>
                <a:tc>
                  <a:txBody>
                    <a:bodyPr/>
                    <a:lstStyle/>
                    <a:p>
                      <a:r>
                        <a:rPr sz="900" b="0">
                          <a:solidFill>
                            <a:srgbClr val="0B0B0B"/>
                          </a:solidFill>
                        </a:rPr>
                        <a:t>18</a:t>
                      </a:r>
                    </a:p>
                  </a:txBody>
                  <a:tcPr marL="45720" marR="45720" marT="27432" marB="27432">
                    <a:solidFill>
                      <a:srgbClr val="FCFCFB"/>
                    </a:solidFill>
                  </a:tcPr>
                </a:tc>
                <a:tc>
                  <a:txBody>
                    <a:bodyPr/>
                    <a:lstStyle/>
                    <a:p>
                      <a:r>
                        <a:rPr sz="900" b="0">
                          <a:solidFill>
                            <a:srgbClr val="0B0B0B"/>
                          </a:solidFill>
                        </a:rPr>
                        <a:t>50.0%</a:t>
                      </a:r>
                    </a:p>
                  </a:txBody>
                  <a:tcPr marL="45720" marR="45720" marT="27432" marB="27432">
                    <a:solidFill>
                      <a:srgbClr val="FCFCFB"/>
                    </a:solidFill>
                  </a:tcPr>
                </a:tc>
                <a:tc>
                  <a:txBody>
                    <a:bodyPr/>
                    <a:lstStyle/>
                    <a:p>
                      <a:r>
                        <a:rPr sz="900" b="0">
                          <a:solidFill>
                            <a:srgbClr val="0B0B0B"/>
                          </a:solidFill>
                        </a:rPr>
                        <a:t>217</a:t>
                      </a:r>
                    </a:p>
                  </a:txBody>
                  <a:tcPr marL="45720" marR="45720" marT="27432" marB="27432">
                    <a:solidFill>
                      <a:srgbClr val="FCFCFB"/>
                    </a:solidFill>
                  </a:tcPr>
                </a:tc>
                <a:tc>
                  <a:txBody>
                    <a:bodyPr/>
                    <a:lstStyle/>
                    <a:p>
                      <a:r>
                        <a:rPr sz="900" b="0">
                          <a:solidFill>
                            <a:srgbClr val="0B0B0B"/>
                          </a:solidFill>
                        </a:rPr>
                        <a:t>1.8%</a:t>
                      </a:r>
                    </a:p>
                  </a:txBody>
                  <a:tcPr marL="45720" marR="45720" marT="27432" marB="27432">
                    <a:solidFill>
                      <a:srgbClr val="FCFCFB"/>
                    </a:solidFill>
                  </a:tcPr>
                </a:tc>
              </a:tr>
              <a:tr h="274320">
                <a:tc>
                  <a:txBody>
                    <a:bodyPr/>
                    <a:lstStyle/>
                    <a:p>
                      <a:r>
                        <a:rPr sz="900" b="0">
                          <a:solidFill>
                            <a:srgbClr val="0B0B0B"/>
                          </a:solidFill>
                        </a:rPr>
                        <a:t>BIND 9 9.6.0</a:t>
                      </a:r>
                    </a:p>
                  </a:txBody>
                  <a:tcPr marL="45720" marR="45720" marT="27432" marB="27432">
                    <a:solidFill>
                      <a:srgbClr val="FCFCFB"/>
                    </a:solidFill>
                  </a:tcPr>
                </a:tc>
                <a:tc>
                  <a:txBody>
                    <a:bodyPr/>
                    <a:lstStyle/>
                    <a:p>
                      <a:r>
                        <a:rPr sz="900" b="0">
                          <a:solidFill>
                            <a:srgbClr val="0B0B0B"/>
                          </a:solidFill>
                        </a:rPr>
                        <a:t>support</a:t>
                      </a:r>
                    </a:p>
                  </a:txBody>
                  <a:tcPr marL="45720" marR="45720" marT="27432" marB="27432">
                    <a:solidFill>
                      <a:srgbClr val="FCFCFB"/>
                    </a:solidFill>
                  </a:tcPr>
                </a:tc>
                <a:tc>
                  <a:txBody>
                    <a:bodyPr/>
                    <a:lstStyle/>
                    <a:p>
                      <a:r>
                        <a:rPr sz="900" b="0">
                          <a:solidFill>
                            <a:srgbClr val="0B0B0B"/>
                          </a:solidFill>
                        </a:rPr>
                        <a:t>2008-12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a:t>
                      </a:r>
                    </a:p>
                  </a:txBody>
                  <a:tcPr marL="45720" marR="45720" marT="27432" marB="27432">
                    <a:solidFill>
                      <a:srgbClr val="FCFCFB"/>
                    </a:solidFill>
                  </a:tcPr>
                </a:tc>
                <a:tc>
                  <a:txBody>
                    <a:bodyPr/>
                    <a:lstStyle/>
                    <a:p>
                      <a:r>
                        <a:rPr sz="900" b="0">
                          <a:solidFill>
                            <a:srgbClr val="0B0B0B"/>
                          </a:solidFill>
                        </a:rPr>
                        <a:t>18</a:t>
                      </a:r>
                    </a:p>
                  </a:txBody>
                  <a:tcPr marL="45720" marR="45720" marT="27432" marB="27432">
                    <a:solidFill>
                      <a:srgbClr val="FCFCFB"/>
                    </a:solidFill>
                  </a:tcPr>
                </a:tc>
                <a:tc>
                  <a:txBody>
                    <a:bodyPr/>
                    <a:lstStyle/>
                    <a:p>
                      <a:r>
                        <a:rPr sz="900" b="0">
                          <a:solidFill>
                            <a:srgbClr val="0B0B0B"/>
                          </a:solidFill>
                        </a:rPr>
                        <a:t>50.0%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the share of new reverse signings choosing it rose from 0.9% to 20.0% across OpenDNSSEC 1.2.0's default (2011-03) and kept rising for two years. Consistent with defaults arriving through updates; not attributable to one vendor, since BIND 9.7.0 had shipped the algorithm 13 months earlier.</a:t>
            </a:r>
          </a:p>
          <a:p>
            <a:pPr>
              <a:spcAft>
                <a:spcPts val="700"/>
              </a:spcAft>
            </a:pPr>
            <a:r>
              <a:rPr sz="1150" b="0">
                <a:solidFill>
                  <a:srgbClr val="0B0B0B"/>
                </a:solidFill>
                <a:latin typeface="Segoe UI"/>
              </a:rPr>
              <a:t>ECDSA: the Knot 2.1.0 and PowerDNS 4.0.0 defaults (2016) changed nothing in reverse DNS (0.2% -&gt; 0.3%, 0.3% -&gt; 0.2%). The share moved from 2017 and stepped around BIND 9.16.0 (22.8% -&gt; 38.8%), whose dnssec-policy is opt-in -- the operator still had to choose it, but the OS packages (Ubuntu 20.04, Debian 11) made ECDSA the one-line choice.</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Ubuntu LTS 16.04 to 24.04 and Debian 11 to 13, from Launchpad and the Debian tracker; Debian 9 and 10 are no longer served and are not asserted. Package dates bound when a default became reachable by apt, not when any operator upgraded.</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