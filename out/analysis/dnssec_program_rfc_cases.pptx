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FIVE RFCs  ·  SIX PROGRAMS  ·  OPENINTEL + REVERSE DNS  ·  EVERY SPIKE TRACED BACK</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3800" b="1">
                <a:solidFill>
                  <a:srgbClr val="0B0B0B"/>
                </a:solidFill>
                <a:latin typeface="Segoe UI"/>
              </a:rPr>
              <a:t>Did a program's release, default or CVE</a:t>
            </a:r>
          </a:p>
          <a:p>
            <a:pPr>
              <a:spcAft>
                <a:spcPts val="200"/>
              </a:spcAft>
            </a:pPr>
            <a:r>
              <a:rPr sz="3800" b="1">
                <a:solidFill>
                  <a:srgbClr val="0B0B0B"/>
                </a:solidFill>
                <a:latin typeface="Segoe UI"/>
              </a:rPr>
              <a:t>cause the spikes in RFC adoption?</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645920"/>
          </a:xfrm>
          <a:prstGeom prst="rect">
            <a:avLst/>
          </a:prstGeom>
          <a:noFill/>
        </p:spPr>
        <p:txBody>
          <a:bodyPr wrap="square">
            <a:spAutoFit/>
          </a:bodyPr>
          <a:lstStyle/>
          <a:p>
            <a:pPr>
              <a:spcAft>
                <a:spcPts val="600"/>
              </a:spcAft>
            </a:pPr>
            <a:r>
              <a:rPr sz="1400" b="0">
                <a:solidFill>
                  <a:srgbClr val="52514E"/>
                </a:solidFill>
                <a:latin typeface="Segoe UI"/>
              </a:rPr>
              <a:t>For each RFC: the date it was published, the release in which BIND 9, Knot DNS, PowerDNS, OpenDNSSEC, Unbound and Knot Resolver first implemented it, the release that made it the default or capped it, the first Ubuntu and Debian packages that carried that release, and the CVEs on the mechanism. Then every spike in the OpenINTEL zone files (per TLD) and in reverse DNS (per RIR), with the nearest preceding release, default, cap and CVE named -- and the chance rate that check has to beat.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METHOD</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600" b="1">
                <a:solidFill>
                  <a:srgbClr val="0B0B0B"/>
                </a:solidFill>
                <a:latin typeface="Segoe UI"/>
              </a:rPr>
              <a:t>Four checks per spike, and the trap they avoid</a:t>
            </a:r>
          </a:p>
        </p:txBody>
      </p:sp>
      <p:sp>
        <p:nvSpPr>
          <p:cNvPr id="4" name="TextBox 3"/>
          <p:cNvSpPr txBox="1"/>
          <p:nvPr/>
        </p:nvSpPr>
        <p:spPr>
          <a:xfrm>
            <a:off x="566928" y="1417320"/>
            <a:ext cx="2194560" cy="457200"/>
          </a:xfrm>
          <a:prstGeom prst="rect">
            <a:avLst/>
          </a:prstGeom>
          <a:noFill/>
        </p:spPr>
        <p:txBody>
          <a:bodyPr wrap="square">
            <a:spAutoFit/>
          </a:bodyPr>
          <a:lstStyle/>
          <a:p>
            <a:pPr>
              <a:spcAft>
                <a:spcPts val="600"/>
              </a:spcAft>
            </a:pPr>
            <a:r>
              <a:rPr sz="1250" b="1">
                <a:solidFill>
                  <a:srgbClr val="0B0B0B"/>
                </a:solidFill>
                <a:latin typeface="Segoe UI"/>
              </a:rPr>
              <a:t>Spike</a:t>
            </a:r>
          </a:p>
        </p:txBody>
      </p:sp>
      <p:sp>
        <p:nvSpPr>
          <p:cNvPr id="5" name="TextBox 4"/>
          <p:cNvSpPr txBox="1"/>
          <p:nvPr/>
        </p:nvSpPr>
        <p:spPr>
          <a:xfrm>
            <a:off x="2743200" y="1417320"/>
            <a:ext cx="8961120" cy="822960"/>
          </a:xfrm>
          <a:prstGeom prst="rect">
            <a:avLst/>
          </a:prstGeom>
          <a:noFill/>
        </p:spPr>
        <p:txBody>
          <a:bodyPr wrap="square">
            <a:spAutoFit/>
          </a:bodyPr>
          <a:lstStyle/>
          <a:p>
            <a:pPr>
              <a:spcAft>
                <a:spcPts val="600"/>
              </a:spcAft>
            </a:pPr>
            <a:r>
              <a:rPr sz="1100" b="0">
                <a:solidFill>
                  <a:srgbClr val="52514E"/>
                </a:solidFill>
                <a:latin typeface="Segoe UI"/>
              </a:rPr>
              <a:t>month-on-month change &gt;= floor, &gt;= 10% of the previous level, and &gt;= 4x the median absolute monthly change of the preceding 12 months; consecutive spike months merge into one episode. Floors: 300 zones forward, 30 reverse.</a:t>
            </a:r>
          </a:p>
        </p:txBody>
      </p:sp>
      <p:sp>
        <p:nvSpPr>
          <p:cNvPr id="6" name="TextBox 5"/>
          <p:cNvSpPr txBox="1"/>
          <p:nvPr/>
        </p:nvSpPr>
        <p:spPr>
          <a:xfrm>
            <a:off x="566928" y="2203704"/>
            <a:ext cx="2194560" cy="457200"/>
          </a:xfrm>
          <a:prstGeom prst="rect">
            <a:avLst/>
          </a:prstGeom>
          <a:noFill/>
        </p:spPr>
        <p:txBody>
          <a:bodyPr wrap="square">
            <a:spAutoFit/>
          </a:bodyPr>
          <a:lstStyle/>
          <a:p>
            <a:pPr>
              <a:spcAft>
                <a:spcPts val="600"/>
              </a:spcAft>
            </a:pPr>
            <a:r>
              <a:rPr sz="1250" b="1">
                <a:solidFill>
                  <a:srgbClr val="0B0B0B"/>
                </a:solidFill>
                <a:latin typeface="Segoe UI"/>
              </a:rPr>
              <a:t>Nearest release</a:t>
            </a:r>
          </a:p>
        </p:txBody>
      </p:sp>
      <p:sp>
        <p:nvSpPr>
          <p:cNvPr id="7" name="TextBox 6"/>
          <p:cNvSpPr txBox="1"/>
          <p:nvPr/>
        </p:nvSpPr>
        <p:spPr>
          <a:xfrm>
            <a:off x="2743200" y="2203704"/>
            <a:ext cx="8961120" cy="822960"/>
          </a:xfrm>
          <a:prstGeom prst="rect">
            <a:avLst/>
          </a:prstGeom>
          <a:noFill/>
        </p:spPr>
        <p:txBody>
          <a:bodyPr wrap="square">
            <a:spAutoFit/>
          </a:bodyPr>
          <a:lstStyle/>
          <a:p>
            <a:pPr>
              <a:spcAft>
                <a:spcPts val="600"/>
              </a:spcAft>
            </a:pPr>
            <a:r>
              <a:rPr sz="1100" b="0">
                <a:solidFill>
                  <a:srgbClr val="52514E"/>
                </a:solidFill>
                <a:latin typeface="Segoe UI"/>
              </a:rPr>
              <a:t>for each spike, the latest preceding release that implements, defaults or caps the mechanism, per program, and the lag in months. Also the latest preceding release of any of the eight projects.</a:t>
            </a:r>
          </a:p>
        </p:txBody>
      </p:sp>
      <p:sp>
        <p:nvSpPr>
          <p:cNvPr id="8" name="TextBox 7"/>
          <p:cNvSpPr txBox="1"/>
          <p:nvPr/>
        </p:nvSpPr>
        <p:spPr>
          <a:xfrm>
            <a:off x="566928" y="2990088"/>
            <a:ext cx="2194560" cy="457200"/>
          </a:xfrm>
          <a:prstGeom prst="rect">
            <a:avLst/>
          </a:prstGeom>
          <a:noFill/>
        </p:spPr>
        <p:txBody>
          <a:bodyPr wrap="square">
            <a:spAutoFit/>
          </a:bodyPr>
          <a:lstStyle/>
          <a:p>
            <a:pPr>
              <a:spcAft>
                <a:spcPts val="600"/>
              </a:spcAft>
            </a:pPr>
            <a:r>
              <a:rPr sz="1250" b="1">
                <a:solidFill>
                  <a:srgbClr val="0B0B0B"/>
                </a:solidFill>
                <a:latin typeface="Segoe UI"/>
              </a:rPr>
              <a:t>The trap</a:t>
            </a:r>
          </a:p>
        </p:txBody>
      </p:sp>
      <p:sp>
        <p:nvSpPr>
          <p:cNvPr id="9" name="TextBox 8"/>
          <p:cNvSpPr txBox="1"/>
          <p:nvPr/>
        </p:nvSpPr>
        <p:spPr>
          <a:xfrm>
            <a:off x="2743200" y="2990088"/>
            <a:ext cx="8961120" cy="822960"/>
          </a:xfrm>
          <a:prstGeom prst="rect">
            <a:avLst/>
          </a:prstGeom>
          <a:noFill/>
        </p:spPr>
        <p:txBody>
          <a:bodyPr wrap="square">
            <a:spAutoFit/>
          </a:bodyPr>
          <a:lstStyle/>
          <a:p>
            <a:pPr>
              <a:spcAft>
                <a:spcPts val="600"/>
              </a:spcAft>
            </a:pPr>
            <a:r>
              <a:rPr sz="1100" b="0">
                <a:solidFill>
                  <a:srgbClr val="52514E"/>
                </a:solidFill>
                <a:latin typeface="Segoe UI"/>
              </a:rPr>
              <a:t>97% of months contain some DNS release, so 'a release came shortly before' is always true. Each lag is compared with the same lag at every month of the series: the chance rate. A spike is release-timed only if it beats that.</a:t>
            </a:r>
          </a:p>
        </p:txBody>
      </p:sp>
      <p:sp>
        <p:nvSpPr>
          <p:cNvPr id="10" name="TextBox 9"/>
          <p:cNvSpPr txBox="1"/>
          <p:nvPr/>
        </p:nvSpPr>
        <p:spPr>
          <a:xfrm>
            <a:off x="566928" y="3776472"/>
            <a:ext cx="2194560" cy="457200"/>
          </a:xfrm>
          <a:prstGeom prst="rect">
            <a:avLst/>
          </a:prstGeom>
          <a:noFill/>
        </p:spPr>
        <p:txBody>
          <a:bodyPr wrap="square">
            <a:spAutoFit/>
          </a:bodyPr>
          <a:lstStyle/>
          <a:p>
            <a:pPr>
              <a:spcAft>
                <a:spcPts val="600"/>
              </a:spcAft>
            </a:pPr>
            <a:r>
              <a:rPr sz="1250" b="1">
                <a:solidFill>
                  <a:srgbClr val="0B0B0B"/>
                </a:solidFill>
                <a:latin typeface="Segoe UI"/>
              </a:rPr>
              <a:t>New vs rolled</a:t>
            </a:r>
          </a:p>
        </p:txBody>
      </p:sp>
      <p:sp>
        <p:nvSpPr>
          <p:cNvPr id="11" name="TextBox 10"/>
          <p:cNvSpPr txBox="1"/>
          <p:nvPr/>
        </p:nvSpPr>
        <p:spPr>
          <a:xfrm>
            <a:off x="2743200" y="3776472"/>
            <a:ext cx="8961120" cy="822960"/>
          </a:xfrm>
          <a:prstGeom prst="rect">
            <a:avLst/>
          </a:prstGeom>
          <a:noFill/>
        </p:spPr>
        <p:txBody>
          <a:bodyPr wrap="square">
            <a:spAutoFit/>
          </a:bodyPr>
          <a:lstStyle/>
          <a:p>
            <a:pPr>
              <a:spcAft>
                <a:spcPts val="600"/>
              </a:spcAft>
            </a:pPr>
            <a:r>
              <a:rPr sz="1100" b="0">
                <a:solidFill>
                  <a:srgbClr val="52514E"/>
                </a:solidFill>
                <a:latin typeface="Segoe UI"/>
              </a:rPr>
              <a:t>a jump in zones on algorithm X is split into at most the growth in signed zones that month (could be new signings) and the rest (existing zones that rolled over). An automatic update can change what a NEW zone gets; it never re-signs an existing one. Rollovers are operator decisions.</a:t>
            </a:r>
          </a:p>
        </p:txBody>
      </p:sp>
      <p:sp>
        <p:nvSpPr>
          <p:cNvPr id="12" name="TextBox 11"/>
          <p:cNvSpPr txBox="1"/>
          <p:nvPr/>
        </p:nvSpPr>
        <p:spPr>
          <a:xfrm>
            <a:off x="566928" y="4562856"/>
            <a:ext cx="2194560" cy="457200"/>
          </a:xfrm>
          <a:prstGeom prst="rect">
            <a:avLst/>
          </a:prstGeom>
          <a:noFill/>
        </p:spPr>
        <p:txBody>
          <a:bodyPr wrap="square">
            <a:spAutoFit/>
          </a:bodyPr>
          <a:lstStyle/>
          <a:p>
            <a:pPr>
              <a:spcAft>
                <a:spcPts val="600"/>
              </a:spcAft>
            </a:pPr>
            <a:r>
              <a:rPr sz="1250" b="1">
                <a:solidFill>
                  <a:srgbClr val="0B0B0B"/>
                </a:solidFill>
                <a:latin typeface="Segoe UI"/>
              </a:rPr>
              <a:t>Auto-update proxy</a:t>
            </a:r>
          </a:p>
        </p:txBody>
      </p:sp>
      <p:sp>
        <p:nvSpPr>
          <p:cNvPr id="13" name="TextBox 12"/>
          <p:cNvSpPr txBox="1"/>
          <p:nvPr/>
        </p:nvSpPr>
        <p:spPr>
          <a:xfrm>
            <a:off x="2743200" y="4562856"/>
            <a:ext cx="8961120" cy="822960"/>
          </a:xfrm>
          <a:prstGeom prst="rect">
            <a:avLst/>
          </a:prstGeom>
          <a:noFill/>
        </p:spPr>
        <p:txBody>
          <a:bodyPr wrap="square">
            <a:spAutoFit/>
          </a:bodyPr>
          <a:lstStyle/>
          <a:p>
            <a:pPr>
              <a:spcAft>
                <a:spcPts val="600"/>
              </a:spcAft>
            </a:pPr>
            <a:r>
              <a:rPr sz="1100" b="0">
                <a:solidFill>
                  <a:srgbClr val="52514E"/>
                </a:solidFill>
                <a:latin typeface="Segoe UI"/>
              </a:rPr>
              <a:t>the reverse ledger records every signing with the algorithm chosen. If a default propagates through updates, the share of new signings choosing it steps up after the release and after the OS package that carried it.</a:t>
            </a:r>
          </a:p>
        </p:txBody>
      </p:sp>
      <p:sp>
        <p:nvSpPr>
          <p:cNvPr id="14" name="TextBox 13"/>
          <p:cNvSpPr txBox="1"/>
          <p:nvPr/>
        </p:nvSpPr>
        <p:spPr>
          <a:xfrm>
            <a:off x="566928" y="5349240"/>
            <a:ext cx="2194560" cy="457200"/>
          </a:xfrm>
          <a:prstGeom prst="rect">
            <a:avLst/>
          </a:prstGeom>
          <a:noFill/>
        </p:spPr>
        <p:txBody>
          <a:bodyPr wrap="square">
            <a:spAutoFit/>
          </a:bodyPr>
          <a:lstStyle/>
          <a:p>
            <a:pPr>
              <a:spcAft>
                <a:spcPts val="600"/>
              </a:spcAft>
            </a:pPr>
            <a:r>
              <a:rPr sz="1250" b="1">
                <a:solidFill>
                  <a:srgbClr val="0B0B0B"/>
                </a:solidFill>
                <a:latin typeface="Segoe UI"/>
              </a:rPr>
              <a:t>Coverage</a:t>
            </a:r>
          </a:p>
        </p:txBody>
      </p:sp>
      <p:sp>
        <p:nvSpPr>
          <p:cNvPr id="15" name="TextBox 14"/>
          <p:cNvSpPr txBox="1"/>
          <p:nvPr/>
        </p:nvSpPr>
        <p:spPr>
          <a:xfrm>
            <a:off x="2743200" y="5349240"/>
            <a:ext cx="8961120" cy="822960"/>
          </a:xfrm>
          <a:prstGeom prst="rect">
            <a:avLst/>
          </a:prstGeom>
          <a:noFill/>
        </p:spPr>
        <p:txBody>
          <a:bodyPr wrap="square">
            <a:spAutoFit/>
          </a:bodyPr>
          <a:lstStyle/>
          <a:p>
            <a:pPr>
              <a:spcAft>
                <a:spcPts val="600"/>
              </a:spcAft>
            </a:pPr>
            <a:r>
              <a:rPr sz="1100" b="0">
                <a:solidFill>
                  <a:srgbClr val="52514E"/>
                </a:solidFill>
                <a:latin typeface="Segoe UI"/>
              </a:rPr>
              <a:t>OpenINTEL: .se/.nu 2016-06 to 2023-12, .ch/.li from 2020-05, .ee from 2019-07, .gov/.fed.us from 2017-05. Reverse: five RIRs 2009-03 to 2026-08; shares hidden where a RIR has under 30 signed delegations; the strict AFRINIC+ARIN panel is the share line in black.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6605 published 2012-04: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9.8.4, 2012-09 (5 mo after the RFC); default from 9.16.0 (opt-in policy), 2020-02 (94 mo after the RFC); CVE-2022-38177 2022-09.</a:t>
            </a:r>
          </a:p>
          <a:p>
            <a:pPr>
              <a:spcAft>
                <a:spcPts val="800"/>
              </a:spcAft>
            </a:pPr>
            <a:r>
              <a:rPr sz="1200" b="0">
                <a:solidFill>
                  <a:srgbClr val="0B0B0B"/>
                </a:solidFill>
                <a:latin typeface="Segoe UI"/>
              </a:rPr>
              <a:t>Knot DNS: signs it from 1.4.0, 2013-12 (20 mo after the RFC); default from 2.1.0, 2016-01 (45 mo after the RFC).</a:t>
            </a:r>
          </a:p>
          <a:p>
            <a:pPr>
              <a:spcAft>
                <a:spcPts val="800"/>
              </a:spcAft>
            </a:pPr>
            <a:r>
              <a:rPr sz="1200" b="0">
                <a:solidFill>
                  <a:srgbClr val="0B0B0B"/>
                </a:solidFill>
                <a:latin typeface="Segoe UI"/>
              </a:rPr>
              <a:t>PowerDNS Auth: signs it from 3.0.1, 2012-01 (3 mo before the RFC); default from 4.0.0, 2016-07 (51 mo after the RFC).</a:t>
            </a:r>
          </a:p>
          <a:p>
            <a:pPr>
              <a:spcAft>
                <a:spcPts val="800"/>
              </a:spcAft>
            </a:pPr>
            <a:r>
              <a:rPr sz="1200" b="0">
                <a:solidFill>
                  <a:srgbClr val="0B0B0B"/>
                </a:solidFill>
                <a:latin typeface="Segoe UI"/>
              </a:rPr>
              <a:t>Unbound: validates it from 1.4.17, 2012-05 (1 mo after the RFC).</a:t>
            </a:r>
          </a:p>
          <a:p>
            <a:pPr>
              <a:spcAft>
                <a:spcPts val="800"/>
              </a:spcAft>
            </a:pPr>
            <a:r>
              <a:rPr sz="1200" b="0">
                <a:solidFill>
                  <a:srgbClr val="0B0B0B"/>
                </a:solidFill>
                <a:latin typeface="Segoe UI"/>
              </a:rPr>
              <a:t>PowerDNS Rec: CVE-2017-15094 2018-01.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DEFAULTS FIRST, ZONES YEARS LATER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ECDSA P-256 / P-384 (algorithms 13, 14)</a:t>
            </a:r>
          </a:p>
        </p:txBody>
      </p:sp>
      <p:pic>
        <p:nvPicPr>
          <p:cNvPr id="4" name="Picture 3" descr="rfc_6605.png"/>
          <p:cNvPicPr>
            <a:picLocks noChangeAspect="1"/>
          </p:cNvPicPr>
          <p:nvPr/>
        </p:nvPicPr>
        <p:blipFill>
          <a:blip r:embed="rId2"/>
          <a:stretch>
            <a:fillRect/>
          </a:stretch>
        </p:blipFill>
        <p:spPr>
          <a:xfrm>
            <a:off x="2486944" y="1097280"/>
            <a:ext cx="7217807"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+591,333  (83% -&gt; 96%)</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2019-06..2019-07</a:t>
                      </a:r>
                    </a:p>
                  </a:txBody>
                  <a:tcPr marL="45720" marR="45720" marT="27432" marB="27432">
                    <a:solidFill>
                      <a:srgbClr val="FCFCFB"/>
                    </a:solidFill>
                  </a:tcPr>
                </a:tc>
                <a:tc>
                  <a:txBody>
                    <a:bodyPr/>
                    <a:lstStyle/>
                    <a:p>
                      <a:r>
                        <a:rPr sz="850" b="0">
                          <a:solidFill>
                            <a:srgbClr val="0B0B0B"/>
                          </a:solidFill>
                        </a:rPr>
                        <a:t>+217,437  (24% -&gt; 53%)</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CVE-2017-15094 (PowerDNS Rec) (17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+119,500  (4% -&gt; 21%)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+18,247  (2% -&gt; 18%)</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2016-10..2016-11</a:t>
                      </a:r>
                    </a:p>
                  </a:txBody>
                  <a:tcPr marL="45720" marR="45720" marT="27432" marB="27432">
                    <a:solidFill>
                      <a:srgbClr val="FCFCFB"/>
                    </a:solidFill>
                  </a:tcPr>
                </a:tc>
                <a:tc>
                  <a:txBody>
                    <a:bodyPr/>
                    <a:lstStyle/>
                    <a:p>
                      <a:r>
                        <a:rPr sz="850" b="0">
                          <a:solidFill>
                            <a:srgbClr val="0B0B0B"/>
                          </a:solidFill>
                        </a:rPr>
                        <a:t>+17,193  (0% -&gt; 2%)</a:t>
                      </a:r>
                    </a:p>
                  </a:txBody>
                  <a:tcPr marL="45720" marR="45720" marT="27432" marB="27432">
                    <a:solidFill>
                      <a:srgbClr val="FCFCFB"/>
                    </a:solidFill>
                  </a:tcPr>
                </a:tc>
                <a:tc>
                  <a:txBody>
                    <a:bodyPr/>
                    <a:lstStyle/>
                    <a:p>
                      <a:r>
                        <a:rPr sz="850" b="0">
                          <a:solidFill>
                            <a:srgbClr val="0B0B0B"/>
                          </a:solidFill>
                        </a:rPr>
                        <a:t>mixed: &gt;=10,748 rolled</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2017-04</a:t>
                      </a:r>
                    </a:p>
                  </a:txBody>
                  <a:tcPr marL="45720" marR="45720" marT="27432" marB="27432">
                    <a:solidFill>
                      <a:srgbClr val="FCFCFB"/>
                    </a:solidFill>
                  </a:tcPr>
                </a:tc>
                <a:tc>
                  <a:txBody>
                    <a:bodyPr/>
                    <a:lstStyle/>
                    <a:p>
                      <a:r>
                        <a:rPr sz="850" b="0">
                          <a:solidFill>
                            <a:srgbClr val="0B0B0B"/>
                          </a:solidFill>
                        </a:rPr>
                        <a:t>+16,925  (2% -&gt; 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2019-11</a:t>
                      </a:r>
                    </a:p>
                  </a:txBody>
                  <a:tcPr marL="45720" marR="45720" marT="27432" marB="27432">
                    <a:solidFill>
                      <a:srgbClr val="FCFCFB"/>
                    </a:solidFill>
                  </a:tcPr>
                </a:tc>
                <a:tc>
                  <a:txBody>
                    <a:bodyPr/>
                    <a:lstStyle/>
                    <a:p>
                      <a:r>
                        <a:rPr sz="850" b="0">
                          <a:solidFill>
                            <a:srgbClr val="0B0B0B"/>
                          </a:solidFill>
                        </a:rPr>
                        <a:t>+9,697  (29% -&gt; 37%)</a:t>
                      </a:r>
                    </a:p>
                  </a:txBody>
                  <a:tcPr marL="45720" marR="45720" marT="27432" marB="27432">
                    <a:solidFill>
                      <a:srgbClr val="FCFCFB"/>
                    </a:solidFill>
                  </a:tcPr>
                </a:tc>
                <a:tc>
                  <a:txBody>
                    <a:bodyPr/>
                    <a:lstStyle/>
                    <a:p>
                      <a:r>
                        <a:rPr sz="850" b="0">
                          <a:solidFill>
                            <a:srgbClr val="0B0B0B"/>
                          </a:solidFill>
                        </a:rPr>
                        <a:t>mixed: &gt;=9,664 rolled</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CVE-2017-15094 (PowerDNS Rec) (22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+8,047  (50% -&gt; 88%)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first ECDSA move in the forward corpus is .se 2016-10: +17,193 zones, 3 months after PowerDNS Auth 4.0.0 made ECDSA its default (2016-07), and 10,748 of them were existing zones rolling over -- a deliberate migration by whoever runs them, not an update side-effect.</a:t>
            </a:r>
          </a:p>
          <a:p>
            <a:pPr>
              <a:spcAft>
                <a:spcPts val="500"/>
              </a:spcAft>
            </a:pPr>
            <a:r>
              <a:rPr sz="1050" b="0">
                <a:solidFill>
                  <a:srgbClr val="0B0B0B"/>
                </a:solidFill>
                <a:latin typeface="Segoe UI"/>
              </a:rPr>
              <a:t>The moves that made ECDSA the majority came much later and were all rollovers: .se 2019-01 +119,500 (30 months after that default) and .se 2019-06 +217,437. The largest of all, .ch 2021-06..2021-11 +591,333, was a signing wave in which the new zones chose ECDSA 96% of the time: by 2021 every signer default had been ECDSA for five years.</a:t>
            </a:r>
          </a:p>
          <a:p>
            <a:pPr>
              <a:spcAft>
                <a:spcPts val="500"/>
              </a:spcAft>
            </a:pPr>
            <a:r>
              <a:rPr sz="1050" b="0">
                <a:solidFill>
                  <a:srgbClr val="0B0B0B"/>
                </a:solidFill>
                <a:latin typeface="Segoe UI"/>
              </a:rPr>
              <a:t>Chance check: 2 of 31 spikes fall within 3 months after a default change; a random forward month does so 9% of the time, so about 2.3 would be expected by luck. CVEs: 2 spikes within 3 months of one, both after CVE-2022-38177 -- a validator memory leak, not a reason to sign with ECDSA.</a:t>
            </a:r>
          </a:p>
          <a:p>
            <a:pPr>
              <a:spcAft>
                <a:spcPts val="500"/>
              </a:spcAft>
            </a:pPr>
            <a:r>
              <a:rPr sz="1050" b="0">
                <a:solidFill>
                  <a:srgbClr val="0B0B0B"/>
                </a:solidFill>
                <a:latin typeface="Segoe UI"/>
              </a:rPr>
              <a:t>Reverse DNS shows operators switching in batches, not diffusing, and the trigger cannot be identified. New signings ignored the Knot 2.1.0 and PowerDNS 4.0.0 defaults on their upstream dates (0.2% -&gt; 0.3% and 0.3% -&gt; 0.2%), then stepped 4 times: 2017Q3, 2019Q1, 2019Q4, 2020Q3. The first is 157 signings of which 155 fall in one month, all but 2 in APNIC, one parent block 40% of it. Each step has a different OS release behind it and 31% of all months follow some OS release within 3 months anyway.</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31 spikes (17 OpenINTEL, 14 reverse). Within 3 months after: signer release 2, default change 2, validator cap 0, CVE 2, any DNS release 31. Chance that a random month is within 3 months after a default change: forward 9%, reverse 6%. Full ledger: out/analysis/dns_program_rfc_spikes.csv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6605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92024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2.1.0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2016-01</a:t>
                      </a:r>
                    </a:p>
                  </a:txBody>
                  <a:tcPr marL="45720" marR="45720" marT="27432" marB="27432">
                    <a:solidFill>
                      <a:srgbClr val="FCFCFB"/>
                    </a:solidFill>
                  </a:tcPr>
                </a:tc>
                <a:tc>
                  <a:txBody>
                    <a:bodyPr/>
                    <a:lstStyle/>
                    <a:p>
                      <a:r>
                        <a:rPr sz="850" b="0">
                          <a:solidFill>
                            <a:srgbClr val="0B0B0B"/>
                          </a:solidFill>
                        </a:rPr>
                        <a:t>953</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c>
                  <a:txBody>
                    <a:bodyPr/>
                    <a:lstStyle/>
                    <a:p>
                      <a:r>
                        <a:rPr sz="850" b="0">
                          <a:solidFill>
                            <a:srgbClr val="0B0B0B"/>
                          </a:solidFill>
                        </a:rPr>
                        <a:t>1199</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r>
              <a:tr h="274320">
                <a:tc>
                  <a:txBody>
                    <a:bodyPr/>
                    <a:lstStyle/>
                    <a:p>
                      <a:r>
                        <a:rPr sz="850" b="0">
                          <a:solidFill>
                            <a:srgbClr val="0B0B0B"/>
                          </a:solidFill>
                        </a:rPr>
                        <a:t>PowerDNS Auth 4.0.0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2016-07</a:t>
                      </a:r>
                    </a:p>
                  </a:txBody>
                  <a:tcPr marL="45720" marR="45720" marT="27432" marB="27432">
                    <a:solidFill>
                      <a:srgbClr val="FCFCFB"/>
                    </a:solidFill>
                  </a:tcPr>
                </a:tc>
                <a:tc>
                  <a:txBody>
                    <a:bodyPr/>
                    <a:lstStyle/>
                    <a:p>
                      <a:r>
                        <a:rPr sz="850" b="0">
                          <a:solidFill>
                            <a:srgbClr val="0B0B0B"/>
                          </a:solidFill>
                        </a:rPr>
                        <a:t>640</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c>
                  <a:txBody>
                    <a:bodyPr/>
                    <a:lstStyle/>
                    <a:p>
                      <a:r>
                        <a:rPr sz="850" b="0">
                          <a:solidFill>
                            <a:srgbClr val="0B0B0B"/>
                          </a:solidFill>
                        </a:rPr>
                        <a:t>1338</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r>
              <a:tr h="274320">
                <a:tc>
                  <a:txBody>
                    <a:bodyPr/>
                    <a:lstStyle/>
                    <a:p>
                      <a:r>
                        <a:rPr sz="850" b="0">
                          <a:solidFill>
                            <a:srgbClr val="0B0B0B"/>
                          </a:solidFill>
                        </a:rPr>
                        <a:t>BIND 9 9.16.0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2020-02</a:t>
                      </a:r>
                    </a:p>
                  </a:txBody>
                  <a:tcPr marL="45720" marR="45720" marT="27432" marB="27432">
                    <a:solidFill>
                      <a:srgbClr val="FCFCFB"/>
                    </a:solidFill>
                  </a:tcPr>
                </a:tc>
                <a:tc>
                  <a:txBody>
                    <a:bodyPr/>
                    <a:lstStyle/>
                    <a:p>
                      <a:r>
                        <a:rPr sz="850" b="0">
                          <a:solidFill>
                            <a:srgbClr val="0B0B0B"/>
                          </a:solidFill>
                        </a:rPr>
                        <a:t>2169</a:t>
                      </a:r>
                    </a:p>
                  </a:txBody>
                  <a:tcPr marL="45720" marR="45720" marT="27432" marB="27432">
                    <a:solidFill>
                      <a:srgbClr val="FCFCFB"/>
                    </a:solidFill>
                  </a:tcPr>
                </a:tc>
                <a:tc>
                  <a:txBody>
                    <a:bodyPr/>
                    <a:lstStyle/>
                    <a:p>
                      <a:r>
                        <a:rPr sz="850" b="0">
                          <a:solidFill>
                            <a:srgbClr val="0B0B0B"/>
                          </a:solidFill>
                        </a:rPr>
                        <a:t>22.8%</a:t>
                      </a:r>
                    </a:p>
                  </a:txBody>
                  <a:tcPr marL="45720" marR="45720" marT="27432" marB="27432">
                    <a:solidFill>
                      <a:srgbClr val="FCFCFB"/>
                    </a:solidFill>
                  </a:tcPr>
                </a:tc>
                <a:tc>
                  <a:txBody>
                    <a:bodyPr/>
                    <a:lstStyle/>
                    <a:p>
                      <a:r>
                        <a:rPr sz="850" b="0">
                          <a:solidFill>
                            <a:srgbClr val="0B0B0B"/>
                          </a:solidFill>
                        </a:rPr>
                        <a:t>1030</a:t>
                      </a:r>
                    </a:p>
                  </a:txBody>
                  <a:tcPr marL="45720" marR="45720" marT="27432" marB="27432">
                    <a:solidFill>
                      <a:srgbClr val="FCFCFB"/>
                    </a:solidFill>
                  </a:tcPr>
                </a:tc>
                <a:tc>
                  <a:txBody>
                    <a:bodyPr/>
                    <a:lstStyle/>
                    <a:p>
                      <a:r>
                        <a:rPr sz="850" b="0">
                          <a:solidFill>
                            <a:srgbClr val="0B0B0B"/>
                          </a:solidFill>
                        </a:rPr>
                        <a:t>38.8%</a:t>
                      </a:r>
                    </a:p>
                  </a:txBody>
                  <a:tcPr marL="45720" marR="45720" marT="27432" marB="27432">
                    <a:solidFill>
                      <a:srgbClr val="FCFCFB"/>
                    </a:solidFill>
                  </a:tcPr>
                </a:tc>
              </a:tr>
              <a:tr h="274320">
                <a:tc>
                  <a:txBody>
                    <a:bodyPr/>
                    <a:lstStyle/>
                    <a:p>
                      <a:r>
                        <a:rPr sz="850" b="0">
                          <a:solidFill>
                            <a:srgbClr val="0B0B0B"/>
                          </a:solidFill>
                        </a:rPr>
                        <a:t>Ubuntu 16.04: Knot DNS 2.1.0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0.2% (2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r>
              <a:tr h="274320">
                <a:tc>
                  <a:txBody>
                    <a:bodyPr/>
                    <a:lstStyle/>
                    <a:p>
                      <a:r>
                        <a:rPr sz="850" b="0">
                          <a:solidFill>
                            <a:srgbClr val="0B0B0B"/>
                          </a:solidFill>
                        </a:rPr>
                        <a:t>Debian 9: Knot DNS 2.1.0,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57.1% (55 blocks)</a:t>
                      </a:r>
                    </a:p>
                  </a:txBody>
                  <a:tcPr marL="45720" marR="45720" marT="27432" marB="27432">
                    <a:solidFill>
                      <a:srgbClr val="FCFCFB"/>
                    </a:solidFill>
                  </a:tcPr>
                </a:tc>
              </a:tr>
              <a:tr h="274320">
                <a:tc>
                  <a:txBody>
                    <a:bodyPr/>
                    <a:lstStyle/>
                    <a:p>
                      <a:r>
                        <a:rPr sz="850" b="0">
                          <a:solidFill>
                            <a:srgbClr val="0B0B0B"/>
                          </a:solidFill>
                        </a:rPr>
                        <a:t>Ubuntu 18.04: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473</a:t>
                      </a:r>
                    </a:p>
                  </a:txBody>
                  <a:tcPr marL="45720" marR="45720" marT="27432" marB="27432">
                    <a:solidFill>
                      <a:srgbClr val="FCFCFB"/>
                    </a:solidFill>
                  </a:tcPr>
                </a:tc>
                <a:tc>
                  <a:txBody>
                    <a:bodyPr/>
                    <a:lstStyle/>
                    <a:p>
                      <a:r>
                        <a:rPr sz="850" b="0">
                          <a:solidFill>
                            <a:srgbClr val="0B0B0B"/>
                          </a:solidFill>
                        </a:rPr>
                        <a:t>42.5% (35 blocks)</a:t>
                      </a:r>
                    </a:p>
                  </a:txBody>
                  <a:tcPr marL="45720" marR="45720" marT="27432" marB="27432">
                    <a:solidFill>
                      <a:srgbClr val="FCFCFB"/>
                    </a:solidFill>
                  </a:tcPr>
                </a:tc>
                <a:tc>
                  <a:txBody>
                    <a:bodyPr/>
                    <a:lstStyle/>
                    <a:p>
                      <a:r>
                        <a:rPr sz="850" b="0">
                          <a:solidFill>
                            <a:srgbClr val="0B0B0B"/>
                          </a:solidFill>
                        </a:rPr>
                        <a:t>1507</a:t>
                      </a:r>
                    </a:p>
                  </a:txBody>
                  <a:tcPr marL="45720" marR="45720" marT="27432" marB="27432">
                    <a:solidFill>
                      <a:srgbClr val="FCFCFB"/>
                    </a:solidFill>
                  </a:tcPr>
                </a:tc>
                <a:tc>
                  <a:txBody>
                    <a:bodyPr/>
                    <a:lstStyle/>
                    <a:p>
                      <a:r>
                        <a:rPr sz="850" b="0">
                          <a:solidFill>
                            <a:srgbClr val="0B0B0B"/>
                          </a:solidFill>
                        </a:rPr>
                        <a:t>36.0% (58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5702 published 2009-10: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9.7.0, 2010-02 (4 mo after the RFC).</a:t>
            </a:r>
          </a:p>
          <a:p>
            <a:pPr>
              <a:spcAft>
                <a:spcPts val="800"/>
              </a:spcAft>
            </a:pPr>
            <a:r>
              <a:rPr sz="1200" b="0">
                <a:solidFill>
                  <a:srgbClr val="0B0B0B"/>
                </a:solidFill>
                <a:latin typeface="Segoe UI"/>
              </a:rPr>
              <a:t>Knot DNS: default from 2.0.0, 2015-06 (68 mo after the RFC).</a:t>
            </a:r>
          </a:p>
          <a:p>
            <a:pPr>
              <a:spcAft>
                <a:spcPts val="800"/>
              </a:spcAft>
            </a:pPr>
            <a:r>
              <a:rPr sz="1200" b="0">
                <a:solidFill>
                  <a:srgbClr val="0B0B0B"/>
                </a:solidFill>
                <a:latin typeface="Segoe UI"/>
              </a:rPr>
              <a:t>OpenDNSSEC: default from 1.2.0, 2011-03 (17 mo after the RFC).</a:t>
            </a:r>
          </a:p>
          <a:p>
            <a:pPr>
              <a:spcAft>
                <a:spcPts val="800"/>
              </a:spcAft>
            </a:pPr>
            <a:r>
              <a:rPr sz="1200" b="0">
                <a:solidFill>
                  <a:srgbClr val="0B0B0B"/>
                </a:solidFill>
                <a:latin typeface="Segoe UI"/>
              </a:rPr>
              <a:t>Unbound: validates it from 1.1.0, 2008-11 (11 mo before the RFC).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ADOPTED BEFORE THE FORWARD CORPUS BEGINS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RSA/SHA-256 (algorithms 8, 10)</a:t>
            </a:r>
          </a:p>
        </p:txBody>
      </p:sp>
      <p:pic>
        <p:nvPicPr>
          <p:cNvPr id="4" name="Picture 3" descr="rfc_5702.png"/>
          <p:cNvPicPr>
            <a:picLocks noChangeAspect="1"/>
          </p:cNvPicPr>
          <p:nvPr/>
        </p:nvPicPr>
        <p:blipFill>
          <a:blip r:embed="rId2"/>
          <a:stretch>
            <a:fillRect/>
          </a:stretch>
        </p:blipFill>
        <p:spPr>
          <a:xfrm>
            <a:off x="2289657" y="1097280"/>
            <a:ext cx="761238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+123,402  (95% -&gt; 95%)</a:t>
                      </a:r>
                    </a:p>
                  </a:txBody>
                  <a:tcPr marL="45720" marR="45720" marT="27432" marB="27432">
                    <a:solidFill>
                      <a:srgbClr val="FCFCFB"/>
                    </a:solidFill>
                  </a:tcPr>
                </a:tc>
                <a:tc>
                  <a:txBody>
                    <a:bodyPr/>
                    <a:lstStyle/>
                    <a:p>
                      <a:r>
                        <a:rPr sz="850" b="0">
                          <a:solidFill>
                            <a:srgbClr val="0B0B0B"/>
                          </a:solidFill>
                        </a:rPr>
                        <a:t>mixed: &gt;=371 rolled</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2021-09..2021-12</a:t>
                      </a:r>
                    </a:p>
                  </a:txBody>
                  <a:tcPr marL="45720" marR="45720" marT="27432" marB="27432">
                    <a:solidFill>
                      <a:srgbClr val="FCFCFB"/>
                    </a:solidFill>
                  </a:tcPr>
                </a:tc>
                <a:tc>
                  <a:txBody>
                    <a:bodyPr/>
                    <a:lstStyle/>
                    <a:p>
                      <a:r>
                        <a:rPr sz="850" b="0">
                          <a:solidFill>
                            <a:srgbClr val="0B0B0B"/>
                          </a:solidFill>
                        </a:rPr>
                        <a:t>+73,741  (5% -&gt; 11%)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+38,615  (93%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2021-12</a:t>
                      </a:r>
                    </a:p>
                  </a:txBody>
                  <a:tcPr marL="45720" marR="45720" marT="27432" marB="27432">
                    <a:solidFill>
                      <a:srgbClr val="FCFCFB"/>
                    </a:solidFill>
                  </a:tcPr>
                </a:tc>
                <a:tc>
                  <a:txBody>
                    <a:bodyPr/>
                    <a:lstStyle/>
                    <a:p>
                      <a:r>
                        <a:rPr sz="850" b="0">
                          <a:solidFill>
                            <a:srgbClr val="0B0B0B"/>
                          </a:solidFill>
                        </a:rPr>
                        <a:t>+1,012  (12% -&gt; 18%)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2016-11..2016-12</a:t>
                      </a:r>
                    </a:p>
                  </a:txBody>
                  <a:tcPr marL="45720" marR="45720" marT="27432" marB="27432">
                    <a:solidFill>
                      <a:srgbClr val="FCFCFB"/>
                    </a:solidFill>
                  </a:tcPr>
                </a:tc>
                <a:tc>
                  <a:txBody>
                    <a:bodyPr/>
                    <a:lstStyle/>
                    <a:p>
                      <a:r>
                        <a:rPr sz="850" b="0">
                          <a:solidFill>
                            <a:srgbClr val="0B0B0B"/>
                          </a:solidFill>
                        </a:rPr>
                        <a:t>+943  (88% -&gt; 95%)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2019-05..2019-06</a:t>
                      </a:r>
                    </a:p>
                  </a:txBody>
                  <a:tcPr marL="45720" marR="45720" marT="27432" marB="27432">
                    <a:solidFill>
                      <a:srgbClr val="FCFCFB"/>
                    </a:solidFill>
                  </a:tcPr>
                </a:tc>
                <a:tc>
                  <a:txBody>
                    <a:bodyPr/>
                    <a:lstStyle/>
                    <a:p>
                      <a:r>
                        <a:rPr sz="850" b="0">
                          <a:solidFill>
                            <a:srgbClr val="0B0B0B"/>
                          </a:solidFill>
                        </a:rPr>
                        <a:t>+547  (80% -&gt; 83%)</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2019-12</a:t>
                      </a:r>
                    </a:p>
                  </a:txBody>
                  <a:tcPr marL="45720" marR="45720" marT="27432" marB="27432">
                    <a:solidFill>
                      <a:srgbClr val="FCFCFB"/>
                    </a:solidFill>
                  </a:tcPr>
                </a:tc>
                <a:tc>
                  <a:txBody>
                    <a:bodyPr/>
                    <a:lstStyle/>
                    <a:p>
                      <a:r>
                        <a:rPr sz="850" b="0">
                          <a:solidFill>
                            <a:srgbClr val="0B0B0B"/>
                          </a:solidFill>
                        </a:rPr>
                        <a:t>+353  (83% -&gt; 85%)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2015-11</a:t>
                      </a:r>
                    </a:p>
                  </a:txBody>
                  <a:tcPr marL="45720" marR="45720" marT="27432" marB="27432">
                    <a:solidFill>
                      <a:srgbClr val="FCFCFB"/>
                    </a:solidFill>
                  </a:tcPr>
                </a:tc>
                <a:tc>
                  <a:txBody>
                    <a:bodyPr/>
                    <a:lstStyle/>
                    <a:p>
                      <a:r>
                        <a:rPr sz="850" b="0">
                          <a:solidFill>
                            <a:srgbClr val="0B0B0B"/>
                          </a:solidFill>
                        </a:rPr>
                        <a:t>+338  (74% -&gt; 89%)</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forward corpus starts in 2016-06 with RSA/SHA-256 already at 99% of signed .se zones, so the OpenINTEL side cannot witness its adoption at all. Its forward spikes are signing waves that happened to use it: .se 2017-11 +123,402 zones, 123,031 of them newly signed, 29 months after the nearest default change (Knot 2.0.0).</a:t>
            </a:r>
          </a:p>
          <a:p>
            <a:pPr>
              <a:spcAft>
                <a:spcPts val="500"/>
              </a:spcAft>
            </a:pPr>
            <a:r>
              <a:rPr sz="1050" b="0">
                <a:solidFill>
                  <a:srgbClr val="0B0B0B"/>
                </a:solidFill>
                <a:latin typeface="Segoe UI"/>
              </a:rPr>
              <a:t>Reverse DNS does witness it, and shows the same batching as ECDSA. New signings choosing RSASHA256 go from 0% in 2010Q4 to 20% in 2011Q2 and 81% in 2012Q2, and the step detector puts the step at 2012Q2 -- 15 months after OpenDNSSEC 1.2.0 made RSASHA256 its default and 27 after BIND 9.7.0 shipped it. The 2011 rise is 88 signings across three RIRs with one parent block a third of them, so it is a few operators, not a population.</a:t>
            </a:r>
          </a:p>
          <a:p>
            <a:pPr>
              <a:spcAft>
                <a:spcPts val="500"/>
              </a:spcAft>
            </a:pPr>
            <a:r>
              <a:rPr sz="1050" b="0">
                <a:solidFill>
                  <a:srgbClr val="0B0B0B"/>
                </a:solidFill>
                <a:latin typeface="Segoe UI"/>
              </a:rPr>
              <a:t>Spikes vs releases: 1 of 24 spikes fall within 3 months of a default change (expected by chance about 0.7); the median lag from a spike to the nearest signer release is 38 months. No CVE names this algorithm.</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24 spikes (4 OpenINTEL, 20 reverse). Within 3 months after: signer release 1, default change 1, validator cap 0, CVE 0, any DNS release 24. Chance that a random month is within 3 months after a default change: forward 0%, reverse 4%. Full ledger: out/analysis/dns_program_rfc_spikes.csv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702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OpenDNSSEC 1.2.0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2011-03</a:t>
                      </a:r>
                    </a:p>
                  </a:txBody>
                  <a:tcPr marL="45720" marR="45720" marT="27432" marB="27432">
                    <a:solidFill>
                      <a:srgbClr val="FCFCFB"/>
                    </a:solidFill>
                  </a:tcPr>
                </a:tc>
                <a:tc>
                  <a:txBody>
                    <a:bodyPr/>
                    <a:lstStyle/>
                    <a:p>
                      <a:r>
                        <a:rPr sz="850" b="0">
                          <a:solidFill>
                            <a:srgbClr val="0B0B0B"/>
                          </a:solidFill>
                        </a:rPr>
                        <a:t>212</a:t>
                      </a:r>
                    </a:p>
                  </a:txBody>
                  <a:tcPr marL="45720" marR="45720" marT="27432" marB="27432">
                    <a:solidFill>
                      <a:srgbClr val="FCFCFB"/>
                    </a:solidFill>
                  </a:tcPr>
                </a:tc>
                <a:tc>
                  <a:txBody>
                    <a:bodyPr/>
                    <a:lstStyle/>
                    <a:p>
                      <a:r>
                        <a:rPr sz="850" b="0">
                          <a:solidFill>
                            <a:srgbClr val="0B0B0B"/>
                          </a:solidFill>
                        </a:rPr>
                        <a:t>0.9%</a:t>
                      </a:r>
                    </a:p>
                  </a:txBody>
                  <a:tcPr marL="45720" marR="45720" marT="27432" marB="27432">
                    <a:solidFill>
                      <a:srgbClr val="FCFCFB"/>
                    </a:solidFill>
                  </a:tcPr>
                </a:tc>
                <a:tc>
                  <a:txBody>
                    <a:bodyPr/>
                    <a:lstStyle/>
                    <a:p>
                      <a:r>
                        <a:rPr sz="850" b="0">
                          <a:solidFill>
                            <a:srgbClr val="0B0B0B"/>
                          </a:solidFill>
                        </a:rPr>
                        <a:t>459</a:t>
                      </a:r>
                    </a:p>
                  </a:txBody>
                  <a:tcPr marL="45720" marR="45720" marT="27432" marB="27432">
                    <a:solidFill>
                      <a:srgbClr val="FCFCFB"/>
                    </a:solidFill>
                  </a:tcPr>
                </a:tc>
                <a:tc>
                  <a:txBody>
                    <a:bodyPr/>
                    <a:lstStyle/>
                    <a:p>
                      <a:r>
                        <a:rPr sz="850" b="0">
                          <a:solidFill>
                            <a:srgbClr val="0B0B0B"/>
                          </a:solidFill>
                        </a:rPr>
                        <a:t>20.0%</a:t>
                      </a:r>
                    </a:p>
                  </a:txBody>
                  <a:tcPr marL="45720" marR="45720" marT="27432" marB="27432">
                    <a:solidFill>
                      <a:srgbClr val="FCFCFB"/>
                    </a:solidFill>
                  </a:tcPr>
                </a:tc>
              </a:tr>
              <a:tr h="274320">
                <a:tc>
                  <a:txBody>
                    <a:bodyPr/>
                    <a:lstStyle/>
                    <a:p>
                      <a:r>
                        <a:rPr sz="850" b="0">
                          <a:solidFill>
                            <a:srgbClr val="0B0B0B"/>
                          </a:solidFill>
                        </a:rPr>
                        <a:t>Knot DNS 2.0.0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2015-06</a:t>
                      </a:r>
                    </a:p>
                  </a:txBody>
                  <a:tcPr marL="45720" marR="45720" marT="27432" marB="27432">
                    <a:solidFill>
                      <a:srgbClr val="FCFCFB"/>
                    </a:solidFill>
                  </a:tcPr>
                </a:tc>
                <a:tc>
                  <a:txBody>
                    <a:bodyPr/>
                    <a:lstStyle/>
                    <a:p>
                      <a:r>
                        <a:rPr sz="850" b="0">
                          <a:solidFill>
                            <a:srgbClr val="0B0B0B"/>
                          </a:solidFill>
                        </a:rPr>
                        <a:t>1093</a:t>
                      </a:r>
                    </a:p>
                  </a:txBody>
                  <a:tcPr marL="45720" marR="45720" marT="27432" marB="27432">
                    <a:solidFill>
                      <a:srgbClr val="FCFCFB"/>
                    </a:solidFill>
                  </a:tcPr>
                </a:tc>
                <a:tc>
                  <a:txBody>
                    <a:bodyPr/>
                    <a:lstStyle/>
                    <a:p>
                      <a:r>
                        <a:rPr sz="850" b="0">
                          <a:solidFill>
                            <a:srgbClr val="0B0B0B"/>
                          </a:solidFill>
                        </a:rPr>
                        <a:t>78.0%</a:t>
                      </a:r>
                    </a:p>
                  </a:txBody>
                  <a:tcPr marL="45720" marR="45720" marT="27432" marB="27432">
                    <a:solidFill>
                      <a:srgbClr val="FCFCFB"/>
                    </a:solidFill>
                  </a:tcPr>
                </a:tc>
                <a:tc>
                  <a:txBody>
                    <a:bodyPr/>
                    <a:lstStyle/>
                    <a:p>
                      <a:r>
                        <a:rPr sz="850" b="0">
                          <a:solidFill>
                            <a:srgbClr val="0B0B0B"/>
                          </a:solidFill>
                        </a:rPr>
                        <a:t>777</a:t>
                      </a:r>
                    </a:p>
                  </a:txBody>
                  <a:tcPr marL="45720" marR="45720" marT="27432" marB="27432">
                    <a:solidFill>
                      <a:srgbClr val="FCFCFB"/>
                    </a:solidFill>
                  </a:tcPr>
                </a:tc>
                <a:tc>
                  <a:txBody>
                    <a:bodyPr/>
                    <a:lstStyle/>
                    <a:p>
                      <a:r>
                        <a:rPr sz="850" b="0">
                          <a:solidFill>
                            <a:srgbClr val="0B0B0B"/>
                          </a:solidFill>
                        </a:rPr>
                        <a:t>69.6%</a:t>
                      </a:r>
                    </a:p>
                  </a:txBody>
                  <a:tcPr marL="45720" marR="45720" marT="27432" marB="27432">
                    <a:solidFill>
                      <a:srgbClr val="FCFCFB"/>
                    </a:solidFill>
                  </a:tcPr>
                </a:tc>
              </a:tr>
              <a:tr h="274320">
                <a:tc>
                  <a:txBody>
                    <a:bodyPr/>
                    <a:lstStyle/>
                    <a:p>
                      <a:r>
                        <a:rPr sz="850" b="0">
                          <a:solidFill>
                            <a:srgbClr val="0B0B0B"/>
                          </a:solidFill>
                        </a:rPr>
                        <a:t>Ubuntu 16.04: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70.3% (96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96.8% (94 blocks)</a:t>
                      </a:r>
                    </a:p>
                  </a:txBody>
                  <a:tcPr marL="45720" marR="45720" marT="27432" marB="27432">
                    <a:solidFill>
                      <a:srgbClr val="FCFCFB"/>
                    </a:solidFill>
                  </a:tcPr>
                </a:tc>
              </a:tr>
              <a:tr h="274320">
                <a:tc>
                  <a:txBody>
                    <a:bodyPr/>
                    <a:lstStyle/>
                    <a:p>
                      <a:r>
                        <a:rPr sz="850" b="0">
                          <a:solidFill>
                            <a:srgbClr val="0B0B0B"/>
                          </a:solidFill>
                        </a:rPr>
                        <a:t>Debian 9: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97.6% (96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18.4% (43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8080 published 2017-02: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9.12.0, 2018-01 (11 mo after the RFC); CVE-2022-38178 2022-09.</a:t>
            </a:r>
          </a:p>
          <a:p>
            <a:pPr>
              <a:spcAft>
                <a:spcPts val="800"/>
              </a:spcAft>
            </a:pPr>
            <a:r>
              <a:rPr sz="1200" b="0">
                <a:solidFill>
                  <a:srgbClr val="0B0B0B"/>
                </a:solidFill>
                <a:latin typeface="Segoe UI"/>
              </a:rPr>
              <a:t>Knot DNS: algorithm-awares it from 2.4.0, 2017-01 (1 mo before the RFC); signs it from 2.6.0, 2017-09 (7 mo after the RFC).</a:t>
            </a:r>
          </a:p>
          <a:p>
            <a:pPr>
              <a:spcAft>
                <a:spcPts val="800"/>
              </a:spcAft>
            </a:pPr>
            <a:r>
              <a:rPr sz="1200" b="0">
                <a:solidFill>
                  <a:srgbClr val="0B0B0B"/>
                </a:solidFill>
                <a:latin typeface="Segoe UI"/>
              </a:rPr>
              <a:t>OpenDNSSEC: signs it from 2.1.7, 2020-10 (44 mo after the RFC).</a:t>
            </a:r>
          </a:p>
          <a:p>
            <a:pPr>
              <a:spcAft>
                <a:spcPts val="800"/>
              </a:spcAft>
            </a:pPr>
            <a:r>
              <a:rPr sz="1200" b="0">
                <a:solidFill>
                  <a:srgbClr val="0B0B0B"/>
                </a:solidFill>
                <a:latin typeface="Segoe UI"/>
              </a:rPr>
              <a:t>Unbound: validates it from 1.6.4, 2017-06 (4 mo after the RFC); validates it from 1.7.1, 2018-04 (14 mo after the RFC).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NO DEFAULT, NO ADOPTION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EdDSA (algorithms 15, 16)</a:t>
            </a:r>
          </a:p>
        </p:txBody>
      </p:sp>
      <p:pic>
        <p:nvPicPr>
          <p:cNvPr id="4" name="Picture 3" descr="rfc_8080.png"/>
          <p:cNvPicPr>
            <a:picLocks noChangeAspect="1"/>
          </p:cNvPicPr>
          <p:nvPr/>
        </p:nvPicPr>
        <p:blipFill>
          <a:blip r:embed="rId2"/>
          <a:stretch>
            <a:fillRect/>
          </a:stretch>
        </p:blipFill>
        <p:spPr>
          <a:xfrm>
            <a:off x="658433" y="1097280"/>
            <a:ext cx="10874829"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64592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+18,746  (0% -&gt; 2%)</a:t>
                      </a:r>
                    </a:p>
                  </a:txBody>
                  <a:tcPr marL="45720" marR="45720" marT="27432" marB="27432">
                    <a:solidFill>
                      <a:srgbClr val="FCFCFB"/>
                    </a:solidFill>
                  </a:tcPr>
                </a:tc>
                <a:tc>
                  <a:txBody>
                    <a:bodyPr/>
                    <a:lstStyle/>
                    <a:p>
                      <a:r>
                        <a:rPr sz="850" b="0">
                          <a:solidFill>
                            <a:srgbClr val="0B0B0B"/>
                          </a:solidFill>
                        </a:rPr>
                        <a:t>mixed: &gt;=11,718 rolled</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2023-01..2023-02</a:t>
                      </a:r>
                    </a:p>
                  </a:txBody>
                  <a:tcPr marL="45720" marR="45720" marT="27432" marB="27432">
                    <a:solidFill>
                      <a:srgbClr val="FCFCFB"/>
                    </a:solidFill>
                  </a:tcPr>
                </a:tc>
                <a:tc>
                  <a:txBody>
                    <a:bodyPr/>
                    <a:lstStyle/>
                    <a:p>
                      <a:r>
                        <a:rPr sz="850" b="0">
                          <a:solidFill>
                            <a:srgbClr val="0B0B0B"/>
                          </a:solidFill>
                        </a:rPr>
                        <a:t>+13,257  (0% -&gt; 2%)</a:t>
                      </a:r>
                    </a:p>
                  </a:txBody>
                  <a:tcPr marL="45720" marR="45720" marT="27432" marB="27432">
                    <a:solidFill>
                      <a:srgbClr val="FCFCFB"/>
                    </a:solidFill>
                  </a:tcPr>
                </a:tc>
                <a:tc>
                  <a:txBody>
                    <a:bodyPr/>
                    <a:lstStyle/>
                    <a:p>
                      <a:r>
                        <a:rPr sz="850" b="0">
                          <a:solidFill>
                            <a:srgbClr val="0B0B0B"/>
                          </a:solidFill>
                        </a:rPr>
                        <a:t>mixed: &gt;=12,748 rolled</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+1,125  (0% -&gt; 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+735  (0% -&gt; 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+490  (0% -&gt; 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bl>
          </a:graphicData>
        </a:graphic>
      </p:graphicFrame>
      <p:sp>
        <p:nvSpPr>
          <p:cNvPr id="5" name="TextBox 4"/>
          <p:cNvSpPr txBox="1"/>
          <p:nvPr/>
        </p:nvSpPr>
        <p:spPr>
          <a:xfrm>
            <a:off x="566928" y="2980944"/>
            <a:ext cx="11064240" cy="2377440"/>
          </a:xfrm>
          <a:prstGeom prst="rect">
            <a:avLst/>
          </a:prstGeom>
          <a:noFill/>
        </p:spPr>
        <p:txBody>
          <a:bodyPr wrap="square">
            <a:spAutoFit/>
          </a:bodyPr>
          <a:lstStyle/>
          <a:p>
            <a:pPr>
              <a:spcAft>
                <a:spcPts val="500"/>
              </a:spcAft>
            </a:pPr>
            <a:r>
              <a:rPr sz="1050" b="0">
                <a:solidFill>
                  <a:srgbClr val="0B0B0B"/>
                </a:solidFill>
                <a:latin typeface="Segoe UI"/>
              </a:rPr>
              <a:t>No program ever made EdDSA a default, and no OS package carried a default for it. The forward corpus shows two experiments, both in .se/.nu and both withdrawn: 2020-04..2020-06 +18,746 zones (11,718 rolled from another algorithm) and 2023-01..2023-02 +13,257 (12,748 rolled). The share returns to zero within a year each time.</a:t>
            </a:r>
          </a:p>
          <a:p>
            <a:pPr>
              <a:spcAft>
                <a:spcPts val="500"/>
              </a:spcAft>
            </a:pPr>
            <a:r>
              <a:rPr sz="1050" b="0">
                <a:solidFill>
                  <a:srgbClr val="0B0B0B"/>
                </a:solidFill>
                <a:latin typeface="Segoe UI"/>
              </a:rPr>
              <a:t>Each episode sits 27 months after the nearest signer release, and a random forward month is within 3 months of one 18% of the time -- no spike is. The second episode came 4 months after CVE-2022-38178, a BIND memory leak on malformed EdDSA signatures; a validator bug is not a reason to sign with EdDSA, and one such coincidence among 5 spikes is expected.</a:t>
            </a:r>
          </a:p>
          <a:p>
            <a:pPr>
              <a:spcAft>
                <a:spcPts val="500"/>
              </a:spcAft>
            </a:pPr>
            <a:r>
              <a:rPr sz="1050" b="0">
                <a:solidFill>
                  <a:srgbClr val="0B0B0B"/>
                </a:solidFill>
                <a:latin typeface="Segoe UI"/>
              </a:rPr>
              <a:t>Reverse DNS: no spike, and 14 rollovers to EdDSA in the whole ledger. The mechanism that moved ECDSA (a signer default that new zones inherit) never existed for EdDSA.</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5 spikes (5 OpenINTEL, 0 reverse). Within 3 months after: signer release 0, default change 0, validator cap 0, CVE 0, any DNS release 5. Chance that a random month is within 3 months after a default change: forward n/a, reverse n/a. Full ledger: out/analysis/dns_program_rfc_spikes.csv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8080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2.4.0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2017-01</a:t>
                      </a:r>
                    </a:p>
                  </a:txBody>
                  <a:tcPr marL="45720" marR="45720" marT="27432" marB="27432">
                    <a:solidFill>
                      <a:srgbClr val="FCFCFB"/>
                    </a:solidFill>
                  </a:tcPr>
                </a:tc>
                <a:tc>
                  <a:txBody>
                    <a:bodyPr/>
                    <a:lstStyle/>
                    <a:p>
                      <a:r>
                        <a:rPr sz="850" b="0">
                          <a:solidFill>
                            <a:srgbClr val="0B0B0B"/>
                          </a:solidFill>
                        </a:rPr>
                        <a:t>879</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783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Knot DNS 2.6.0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2017-09</a:t>
                      </a:r>
                    </a:p>
                  </a:txBody>
                  <a:tcPr marL="45720" marR="45720" marT="27432" marB="27432">
                    <a:solidFill>
                      <a:srgbClr val="FCFCFB"/>
                    </a:solidFill>
                  </a:tcPr>
                </a:tc>
                <a:tc>
                  <a:txBody>
                    <a:bodyPr/>
                    <a:lstStyle/>
                    <a:p>
                      <a:r>
                        <a:rPr sz="850" b="0">
                          <a:solidFill>
                            <a:srgbClr val="0B0B0B"/>
                          </a:solidFill>
                        </a:rPr>
                        <a:t>1342</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603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BIND 9 9.12.0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2018-01</a:t>
                      </a:r>
                    </a:p>
                  </a:txBody>
                  <a:tcPr marL="45720" marR="45720" marT="27432" marB="27432">
                    <a:solidFill>
                      <a:srgbClr val="FCFCFB"/>
                    </a:solidFill>
                  </a:tcPr>
                </a:tc>
                <a:tc>
                  <a:txBody>
                    <a:bodyPr/>
                    <a:lstStyle/>
                    <a:p>
                      <a:r>
                        <a:rPr sz="850" b="0">
                          <a:solidFill>
                            <a:srgbClr val="0B0B0B"/>
                          </a:solidFill>
                        </a:rPr>
                        <a:t>767</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1134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OpenDNSSEC 2.1.7</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2020-10</a:t>
                      </a:r>
                    </a:p>
                  </a:txBody>
                  <a:tcPr marL="45720" marR="45720" marT="27432" marB="27432">
                    <a:solidFill>
                      <a:srgbClr val="FCFCFB"/>
                    </a:solidFill>
                  </a:tcPr>
                </a:tc>
                <a:tc>
                  <a:txBody>
                    <a:bodyPr/>
                    <a:lstStyle/>
                    <a:p>
                      <a:r>
                        <a:rPr sz="850" b="0">
                          <a:solidFill>
                            <a:srgbClr val="0B0B0B"/>
                          </a:solidFill>
                        </a:rPr>
                        <a:t>1110</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1244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5155 published 2008-03: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9.6.0, 2008-12 (9 mo after the RFC); CVE-2010-0097 2010-01; default from 9.7.0, 2010-02 (23 mo after the RFC); CVE-2014-0591 2014-01.</a:t>
            </a:r>
          </a:p>
          <a:p>
            <a:pPr>
              <a:spcAft>
                <a:spcPts val="800"/>
              </a:spcAft>
            </a:pPr>
            <a:r>
              <a:rPr sz="1200" b="0">
                <a:solidFill>
                  <a:srgbClr val="0B0B0B"/>
                </a:solidFill>
                <a:latin typeface="Segoe UI"/>
              </a:rPr>
              <a:t>Knot DNS: caps it from 3.1.5, 2021-12 (165 mo after the RFC).</a:t>
            </a:r>
          </a:p>
          <a:p>
            <a:pPr>
              <a:spcAft>
                <a:spcPts val="800"/>
              </a:spcAft>
            </a:pPr>
            <a:r>
              <a:rPr sz="1200" b="0">
                <a:solidFill>
                  <a:srgbClr val="0B0B0B"/>
                </a:solidFill>
                <a:latin typeface="Segoe UI"/>
              </a:rPr>
              <a:t>PowerDNS Auth: caps it from 4.5.0, 2021-07 (160 mo after the RFC).</a:t>
            </a:r>
          </a:p>
          <a:p>
            <a:pPr>
              <a:spcAft>
                <a:spcPts val="800"/>
              </a:spcAft>
            </a:pPr>
            <a:r>
              <a:rPr sz="1200" b="0">
                <a:solidFill>
                  <a:srgbClr val="0B0B0B"/>
                </a:solidFill>
                <a:latin typeface="Segoe UI"/>
              </a:rPr>
              <a:t>Unbound: validates it from 0.7.1, 2007-11 (4 mo before the RFC); CVE-2009-3602 2009-10; caps it from 1.13.2, 2021-08 (161 mo after the RFC).</a:t>
            </a:r>
          </a:p>
          <a:p>
            <a:pPr>
              <a:spcAft>
                <a:spcPts val="800"/>
              </a:spcAft>
            </a:pPr>
            <a:r>
              <a:rPr sz="1200" b="0">
                <a:solidFill>
                  <a:srgbClr val="0B0B0B"/>
                </a:solidFill>
                <a:latin typeface="Segoe UI"/>
              </a:rPr>
              <a:t>PowerDNS Rec: caps it from 4.1.0, 2017-12 (117 mo after the RFC).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SHIPPED BEFORE THE RFC; SPIKES ARE SIGNING WAVES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authenticated denial</a:t>
            </a:r>
          </a:p>
        </p:txBody>
      </p:sp>
      <p:pic>
        <p:nvPicPr>
          <p:cNvPr id="4" name="Picture 3" descr="rfc_5155.png"/>
          <p:cNvPicPr>
            <a:picLocks noChangeAspect="1"/>
          </p:cNvPicPr>
          <p:nvPr/>
        </p:nvPicPr>
        <p:blipFill>
          <a:blip r:embed="rId2"/>
          <a:stretch>
            <a:fillRect/>
          </a:stretch>
        </p:blipFill>
        <p:spPr>
          <a:xfrm>
            <a:off x="2666847" y="1097280"/>
            <a:ext cx="685800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2021-07..2021-10</a:t>
                      </a:r>
                    </a:p>
                  </a:txBody>
                  <a:tcPr marL="45720" marR="45720" marT="27432" marB="27432">
                    <a:solidFill>
                      <a:srgbClr val="FCFCFB"/>
                    </a:solidFill>
                  </a:tcPr>
                </a:tc>
                <a:tc>
                  <a:txBody>
                    <a:bodyPr/>
                    <a:lstStyle/>
                    <a:p>
                      <a:r>
                        <a:rPr sz="850" b="0">
                          <a:solidFill>
                            <a:srgbClr val="0B0B0B"/>
                          </a:solidFill>
                        </a:rPr>
                        <a:t>+296,470  (15% -&gt; 51%)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CVE-2014-0591 (BIND 9) (90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2022-06</a:t>
                      </a:r>
                    </a:p>
                  </a:txBody>
                  <a:tcPr marL="45720" marR="45720" marT="27432" marB="27432">
                    <a:solidFill>
                      <a:srgbClr val="FCFCFB"/>
                    </a:solidFill>
                  </a:tcPr>
                </a:tc>
                <a:tc>
                  <a:txBody>
                    <a:bodyPr/>
                    <a:lstStyle/>
                    <a:p>
                      <a:r>
                        <a:rPr sz="850" b="0">
                          <a:solidFill>
                            <a:srgbClr val="0B0B0B"/>
                          </a:solidFill>
                        </a:rPr>
                        <a:t>+51,077  (39% -&gt; 42%)</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CVE-2014-0591 (BIND 9) (101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+43,894  (39% -&gt; 41%)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CVE-2014-0591 (BIND 9) (108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+19,582  (91%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CVE-2014-0591 (BIND 9) (46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+12,989  (78%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CVE-2014-0591 (BIND 9) (51 mo before)</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2021-08..2021-10</a:t>
                      </a:r>
                    </a:p>
                  </a:txBody>
                  <a:tcPr marL="45720" marR="45720" marT="27432" marB="27432">
                    <a:solidFill>
                      <a:srgbClr val="FCFCFB"/>
                    </a:solidFill>
                  </a:tcPr>
                </a:tc>
                <a:tc>
                  <a:txBody>
                    <a:bodyPr/>
                    <a:lstStyle/>
                    <a:p>
                      <a:r>
                        <a:rPr sz="850" b="0">
                          <a:solidFill>
                            <a:srgbClr val="0B0B0B"/>
                          </a:solidFill>
                        </a:rPr>
                        <a:t>+4,368  (38% -&gt; 64%)</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CVE-2014-0591 (BIND 9) (91 mo before)</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.ee</a:t>
                      </a:r>
                    </a:p>
                  </a:txBody>
                  <a:tcPr marL="45720" marR="45720" marT="27432" marB="27432">
                    <a:solidFill>
                      <a:srgbClr val="FCFCFB"/>
                    </a:solidFill>
                  </a:tcPr>
                </a:tc>
                <a:tc>
                  <a:txBody>
                    <a:bodyPr/>
                    <a:lstStyle/>
                    <a:p>
                      <a:r>
                        <a:rPr sz="850" b="0">
                          <a:solidFill>
                            <a:srgbClr val="0B0B0B"/>
                          </a:solidFill>
                        </a:rPr>
                        <a:t>2019-08..2019-09</a:t>
                      </a:r>
                    </a:p>
                  </a:txBody>
                  <a:tcPr marL="45720" marR="45720" marT="27432" marB="27432">
                    <a:solidFill>
                      <a:srgbClr val="FCFCFB"/>
                    </a:solidFill>
                  </a:tcPr>
                </a:tc>
                <a:tc>
                  <a:txBody>
                    <a:bodyPr/>
                    <a:lstStyle/>
                    <a:p>
                      <a:r>
                        <a:rPr sz="850" b="0">
                          <a:solidFill>
                            <a:srgbClr val="0B0B0B"/>
                          </a:solidFill>
                        </a:rPr>
                        <a:t>+1,615  (94%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CVE-2014-0591 (BIND 9) (67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ARIN</a:t>
                      </a:r>
                    </a:p>
                  </a:txBody>
                  <a:tcPr marL="45720" marR="45720" marT="27432" marB="27432">
                    <a:solidFill>
                      <a:srgbClr val="FCFCFB"/>
                    </a:solidFill>
                  </a:tcPr>
                </a:tc>
                <a:tc>
                  <a:txBody>
                    <a:bodyPr/>
                    <a:lstStyle/>
                    <a:p>
                      <a:r>
                        <a:rPr sz="850" b="0">
                          <a:solidFill>
                            <a:srgbClr val="0B0B0B"/>
                          </a:solidFill>
                        </a:rPr>
                        <a:t>2017-05..2017-06</a:t>
                      </a:r>
                    </a:p>
                  </a:txBody>
                  <a:tcPr marL="45720" marR="45720" marT="27432" marB="27432">
                    <a:solidFill>
                      <a:srgbClr val="FCFCFB"/>
                    </a:solidFill>
                  </a:tcPr>
                </a:tc>
                <a:tc>
                  <a:txBody>
                    <a:bodyPr/>
                    <a:lstStyle/>
                    <a:p>
                      <a:r>
                        <a:rPr sz="850" b="0">
                          <a:solidFill>
                            <a:srgbClr val="0B0B0B"/>
                          </a:solidFill>
                        </a:rPr>
                        <a:t>+167  (5% -&gt; 25%)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CVE-2014-0591 (BIND 9) (40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BIND 9.6.0 signed NSEC3 9 months after the RFC and Unbound validated it from 0.7.1, before it. The first NSEC3-signed reverse delegations (RIPE) appear 2009-07, 7 months after BIND 9.6.0; the first CVE on the mechanism came 2009-10, 3 months after that. Code, then deployment, then CVEs, each within a year.</a:t>
            </a:r>
          </a:p>
          <a:p>
            <a:pPr>
              <a:spcAft>
                <a:spcPts val="500"/>
              </a:spcAft>
            </a:pPr>
            <a:r>
              <a:rPr sz="1050" b="0">
                <a:solidFill>
                  <a:srgbClr val="0B0B0B"/>
                </a:solidFill>
                <a:latin typeface="Segoe UI"/>
              </a:rPr>
              <a:t>The forward corpus opens with NSEC3 at 99% of signed .se zones. Its spikes are signing waves, not NSEC3 decisions: .ch 2021-07..2021-10 +296,470 NSEC3PARAM zones is the same wave that put 591,333 ECDSA zones in .ch, and it lands in the month of the PowerDNS 4.5.0 and Unbound 1.13.2 iteration caps (0 months) -- the wave signed with 1 iteration, which is what the caps asked for.</a:t>
            </a:r>
          </a:p>
          <a:p>
            <a:pPr>
              <a:spcAft>
                <a:spcPts val="500"/>
              </a:spcAft>
            </a:pPr>
            <a:r>
              <a:rPr sz="1050" b="0">
                <a:solidFill>
                  <a:srgbClr val="0B0B0B"/>
                </a:solidFill>
                <a:latin typeface="Segoe UI"/>
              </a:rPr>
              <a:t>Reverse DNS sees NSEC3 only through algorithm 7 (RSASHA1-NSEC3-SHA1), a proxy that misses NSEC3 with 8 or 13. Its largest spike, ARIN 2017-05 +167, is 87 months after the nearest signer release. Overall 0 of 17 spikes are within 3 months of a signer release.</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17 spikes (7 OpenINTEL, 10 reverse). Within 3 months after: signer release 0, default change 0, validator cap 2, CVE 0, any DNS release 17. Chance that a random month is within 3 months after a default change: forward 0%, reverse 2%. Full ledger: out/analysis/dns_program_rfc_spikes.csv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155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BIND 9 9.7.0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2010-02</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c>
                  <a:txBody>
                    <a:bodyPr/>
                    <a:lstStyle/>
                    <a:p>
                      <a:r>
                        <a:rPr sz="850" b="0">
                          <a:solidFill>
                            <a:srgbClr val="0B0B0B"/>
                          </a:solidFill>
                        </a:rPr>
                        <a:t>50.0%</a:t>
                      </a:r>
                    </a:p>
                  </a:txBody>
                  <a:tcPr marL="45720" marR="45720" marT="27432" marB="27432">
                    <a:solidFill>
                      <a:srgbClr val="FCFCFB"/>
                    </a:solidFill>
                  </a:tcPr>
                </a:tc>
                <a:tc>
                  <a:txBody>
                    <a:bodyPr/>
                    <a:lstStyle/>
                    <a:p>
                      <a:r>
                        <a:rPr sz="850" b="0">
                          <a:solidFill>
                            <a:srgbClr val="0B0B0B"/>
                          </a:solidFill>
                        </a:rPr>
                        <a:t>217</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r>
              <a:tr h="274320">
                <a:tc>
                  <a:txBody>
                    <a:bodyPr/>
                    <a:lstStyle/>
                    <a:p>
                      <a:r>
                        <a:rPr sz="850" b="0">
                          <a:solidFill>
                            <a:srgbClr val="0B0B0B"/>
                          </a:solidFill>
                        </a:rPr>
                        <a:t>Ubuntu 16.04: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5.8% (14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0.8% (6 blocks)</a:t>
                      </a:r>
                    </a:p>
                  </a:txBody>
                  <a:tcPr marL="45720" marR="45720" marT="27432" marB="27432">
                    <a:solidFill>
                      <a:srgbClr val="FCFCFB"/>
                    </a:solidFill>
                  </a:tcPr>
                </a:tc>
              </a:tr>
              <a:tr h="274320">
                <a:tc>
                  <a:txBody>
                    <a:bodyPr/>
                    <a:lstStyle/>
                    <a:p>
                      <a:r>
                        <a:rPr sz="850" b="0">
                          <a:solidFill>
                            <a:srgbClr val="0B0B0B"/>
                          </a:solidFill>
                        </a:rPr>
                        <a:t>Debian 9: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0.3%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21.1% (20 blocks)</a:t>
                      </a:r>
                    </a:p>
                  </a:txBody>
                  <a:tcPr marL="45720" marR="45720" marT="27432" marB="27432">
                    <a:solidFill>
                      <a:srgbClr val="FCFCFB"/>
                    </a:solidFill>
                  </a:tcPr>
                </a:tc>
              </a:tr>
              <a:tr h="274320">
                <a:tc>
                  <a:txBody>
                    <a:bodyPr/>
                    <a:lstStyle/>
                    <a:p>
                      <a:r>
                        <a:rPr sz="850" b="0">
                          <a:solidFill>
                            <a:srgbClr val="0B0B0B"/>
                          </a:solidFill>
                        </a:rPr>
                        <a:t>RHEL 9: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2022-05</a:t>
                      </a:r>
                    </a:p>
                  </a:txBody>
                  <a:tcPr marL="45720" marR="45720" marT="27432" marB="27432">
                    <a:solidFill>
                      <a:srgbClr val="FCFCFB"/>
                    </a:solidFill>
                  </a:tcPr>
                </a:tc>
                <a:tc>
                  <a:txBody>
                    <a:bodyPr/>
                    <a:lstStyle/>
                    <a:p>
                      <a:r>
                        <a:rPr sz="850" b="0">
                          <a:solidFill>
                            <a:srgbClr val="0B0B0B"/>
                          </a:solidFill>
                        </a:rPr>
                        <a:t>1231</a:t>
                      </a:r>
                    </a:p>
                  </a:txBody>
                  <a:tcPr marL="45720" marR="45720" marT="27432" marB="27432">
                    <a:solidFill>
                      <a:srgbClr val="FCFCFB"/>
                    </a:solidFill>
                  </a:tcPr>
                </a:tc>
                <a:tc>
                  <a:txBody>
                    <a:bodyPr/>
                    <a:lstStyle/>
                    <a:p>
                      <a:r>
                        <a:rPr sz="850" b="0">
                          <a:solidFill>
                            <a:srgbClr val="0B0B0B"/>
                          </a:solidFill>
                        </a:rPr>
                        <a:t>2.9% (7 blocks)</a:t>
                      </a:r>
                    </a:p>
                  </a:txBody>
                  <a:tcPr marL="45720" marR="45720" marT="27432" marB="27432">
                    <a:solidFill>
                      <a:srgbClr val="FCFCFB"/>
                    </a:solidFill>
                  </a:tcPr>
                </a:tc>
                <a:tc>
                  <a:txBody>
                    <a:bodyPr/>
                    <a:lstStyle/>
                    <a:p>
                      <a:r>
                        <a:rPr sz="850" b="0">
                          <a:solidFill>
                            <a:srgbClr val="0B0B0B"/>
                          </a:solidFill>
                        </a:rPr>
                        <a:t>1671</a:t>
                      </a:r>
                    </a:p>
                  </a:txBody>
                  <a:tcPr marL="45720" marR="45720" marT="27432" marB="27432">
                    <a:solidFill>
                      <a:srgbClr val="FCFCFB"/>
                    </a:solidFill>
                  </a:tcPr>
                </a:tc>
                <a:tc>
                  <a:txBody>
                    <a:bodyPr/>
                    <a:lstStyle/>
                    <a:p>
                      <a:r>
                        <a:rPr sz="850" b="0">
                          <a:solidFill>
                            <a:srgbClr val="0B0B0B"/>
                          </a:solidFill>
                        </a:rPr>
                        <a:t>3.4% (11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9276 published 2022-08: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default from 9.7.0, 2010-02 (150 mo before the RFC); CVE-2023-50868 2024-02.</a:t>
            </a:r>
          </a:p>
          <a:p>
            <a:pPr>
              <a:spcAft>
                <a:spcPts val="800"/>
              </a:spcAft>
            </a:pPr>
            <a:r>
              <a:rPr sz="1200" b="0">
                <a:solidFill>
                  <a:srgbClr val="0B0B0B"/>
                </a:solidFill>
                <a:latin typeface="Segoe UI"/>
              </a:rPr>
              <a:t>Knot DNS: caps it from 3.1.5, 2021-12 (8 mo before the RFC).</a:t>
            </a:r>
          </a:p>
          <a:p>
            <a:pPr>
              <a:spcAft>
                <a:spcPts val="800"/>
              </a:spcAft>
            </a:pPr>
            <a:r>
              <a:rPr sz="1200" b="0">
                <a:solidFill>
                  <a:srgbClr val="0B0B0B"/>
                </a:solidFill>
                <a:latin typeface="Segoe UI"/>
              </a:rPr>
              <a:t>PowerDNS Auth: caps it from 4.5.0, 2021-07 (13 mo before the RFC); CVE-2023-50868 2024-02.</a:t>
            </a:r>
          </a:p>
          <a:p>
            <a:pPr>
              <a:spcAft>
                <a:spcPts val="800"/>
              </a:spcAft>
            </a:pPr>
            <a:r>
              <a:rPr sz="1200" b="0">
                <a:solidFill>
                  <a:srgbClr val="0B0B0B"/>
                </a:solidFill>
                <a:latin typeface="Segoe UI"/>
              </a:rPr>
              <a:t>Unbound: caps it from 1.13.2, 2021-08 (12 mo before the RFC); CVE-2023-50868 2024-02; CVE-2026-33278 2026-05; CVE-2026-42923 2026-05.</a:t>
            </a:r>
          </a:p>
          <a:p>
            <a:pPr>
              <a:spcAft>
                <a:spcPts val="800"/>
              </a:spcAft>
            </a:pPr>
            <a:r>
              <a:rPr sz="1200" b="0">
                <a:solidFill>
                  <a:srgbClr val="0B0B0B"/>
                </a:solidFill>
                <a:latin typeface="Segoe UI"/>
              </a:rPr>
              <a:t>Knot Resolver: CVE-2021-40083 2021-08; CVE-2023-50868 2024-02.</a:t>
            </a:r>
          </a:p>
          <a:p>
            <a:pPr>
              <a:spcAft>
                <a:spcPts val="800"/>
              </a:spcAft>
            </a:pPr>
            <a:r>
              <a:rPr sz="1200" b="0">
                <a:solidFill>
                  <a:srgbClr val="0B0B0B"/>
                </a:solidFill>
                <a:latin typeface="Segoe UI"/>
              </a:rPr>
              <a:t>PowerDNS Rec: caps it from 4.1.0, 2017-12 (56 mo before the RFC); CVE-2023-50868 2024-02; CVE-2026-33261 2026-04.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VENDOR-TRIGGERED: CAPS AND A CVE, TEN MONTHS BEFORE THE RFC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parameters: iterations to 0</a:t>
            </a:r>
          </a:p>
        </p:txBody>
      </p:sp>
      <p:pic>
        <p:nvPicPr>
          <p:cNvPr id="4" name="Picture 3" descr="rfc_9276.png"/>
          <p:cNvPicPr>
            <a:picLocks noChangeAspect="1"/>
          </p:cNvPicPr>
          <p:nvPr/>
        </p:nvPicPr>
        <p:blipFill>
          <a:blip r:embed="rId2"/>
          <a:stretch>
            <a:fillRect/>
          </a:stretch>
        </p:blipFill>
        <p:spPr>
          <a:xfrm>
            <a:off x="1693931" y="1097280"/>
            <a:ext cx="8803832"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0972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-12,035</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-3,366</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-1,388</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bl>
          </a:graphicData>
        </a:graphic>
      </p:graphicFrame>
      <p:sp>
        <p:nvSpPr>
          <p:cNvPr id="5" name="TextBox 4"/>
          <p:cNvSpPr txBox="1"/>
          <p:nvPr/>
        </p:nvSpPr>
        <p:spPr>
          <a:xfrm>
            <a:off x="566928" y="2414016"/>
            <a:ext cx="11064240" cy="2377440"/>
          </a:xfrm>
          <a:prstGeom prst="rect">
            <a:avLst/>
          </a:prstGeom>
          <a:noFill/>
        </p:spPr>
        <p:txBody>
          <a:bodyPr wrap="square">
            <a:spAutoFit/>
          </a:bodyPr>
          <a:lstStyle/>
          <a:p>
            <a:pPr>
              <a:spcAft>
                <a:spcPts val="500"/>
              </a:spcAft>
            </a:pPr>
            <a:r>
              <a:rPr sz="1050" b="0">
                <a:solidFill>
                  <a:srgbClr val="0B0B0B"/>
                </a:solidFill>
                <a:latin typeface="Segoe UI"/>
              </a:rPr>
              <a:t>This is the one vendor-triggered case. Names with 100 or more NSEC3 iterations collapsed in 2021-10..2021-11 in all three TLDs that had them: .nu 12,145 -&gt; 110, .ch 3,618 -&gt; 252, .se 1,476 -&gt; 88. That is 10 months BEFORE RFC 9276 was published.</a:t>
            </a:r>
          </a:p>
          <a:p>
            <a:pPr>
              <a:spcAft>
                <a:spcPts val="500"/>
              </a:spcAft>
            </a:pPr>
            <a:r>
              <a:rPr sz="1050" b="0">
                <a:solidFill>
                  <a:srgbClr val="0B0B0B"/>
                </a:solidFill>
                <a:latin typeface="Segoe UI"/>
              </a:rPr>
              <a:t>What preceded it: PowerDNS Auth 4.5.0 capped iterations 2021-07; Unbound 1.13.2 capped iterations 2021-08; and CVE-2021-40083 (Knot Resolver, 2021-08, an assertion failure on NSEC3 with too many iterations), 2 months before the collapse. The caps and the CVE are one event: the resolver vendors agreed in mid-2021 to reject high iteration counts, and the zones that would have failed validation were re-signed (Knot DNS 3.1.5 followed 2021-12).</a:t>
            </a:r>
          </a:p>
          <a:p>
            <a:pPr>
              <a:spcAft>
                <a:spcPts val="500"/>
              </a:spcAft>
            </a:pPr>
            <a:r>
              <a:rPr sz="1050" b="0">
                <a:solidFill>
                  <a:srgbClr val="0B0B0B"/>
                </a:solidFill>
                <a:latin typeface="Segoe UI"/>
              </a:rPr>
              <a:t>All 3 spikes are within 3 months of a validator cap; a random forward month is 14% likely to be. The signers' own defaults had nothing to do with it: BIND's 100 -&gt; 10 default change was 140 months earlier. The RFC codified what validators had already forced. CVE-2023-50868 (KeyTrap era, 2024-02) came after both.</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 spikes (3 OpenINTEL, 0 reverse). Within 3 months after: signer release 0, default change 0, validator cap 3, CVE 3, any DNS release 3. Chance that a random month is within 3 months after a default change: forward 0%, reverse n/a. Full ledger: out/analysis/dns_program_rfc_spikes.csv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ACROSS THE FIVE RFCs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Spikes within 3 months of a software event, against chance</a:t>
            </a:r>
          </a:p>
        </p:txBody>
      </p:sp>
      <p:graphicFrame>
        <p:nvGraphicFramePr>
          <p:cNvPr id="4" name="Table 3"/>
          <p:cNvGraphicFramePr>
            <a:graphicFrameLocks noGrp="1"/>
          </p:cNvGraphicFramePr>
          <p:nvPr/>
        </p:nvGraphicFramePr>
        <p:xfrm>
          <a:off x="411480" y="1188720"/>
          <a:ext cx="11338560" cy="1645920"/>
        </p:xfrm>
        <a:graphic>
          <a:graphicData uri="http://schemas.openxmlformats.org/drawingml/2006/table">
            <a:tbl>
              <a:tblPr firstRow="1" bandRow="1">
                <a:tableStyleId>{5C22544A-7EE6-4342-B048-85BDC9FD1C3A}</a:tableStyleId>
              </a:tblPr>
              <a:tblGrid>
                <a:gridCol w="822960"/>
                <a:gridCol w="548640"/>
                <a:gridCol w="1097280"/>
                <a:gridCol w="914400"/>
                <a:gridCol w="731520"/>
                <a:gridCol w="731520"/>
                <a:gridCol w="329184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spikes</a:t>
                      </a:r>
                    </a:p>
                  </a:txBody>
                  <a:tcPr marL="45720" marR="45720" marT="27432" marB="27432">
                    <a:solidFill>
                      <a:srgbClr val="E1E0D9"/>
                    </a:solidFill>
                  </a:tcPr>
                </a:tc>
                <a:tc>
                  <a:txBody>
                    <a:bodyPr/>
                    <a:lstStyle/>
                    <a:p>
                      <a:r>
                        <a:rPr sz="900" b="1">
                          <a:solidFill>
                            <a:srgbClr val="52514E"/>
                          </a:solidFill>
                        </a:rPr>
                        <a:t>after signer release</a:t>
                      </a:r>
                    </a:p>
                  </a:txBody>
                  <a:tcPr marL="45720" marR="45720" marT="27432" marB="27432">
                    <a:solidFill>
                      <a:srgbClr val="E1E0D9"/>
                    </a:solidFill>
                  </a:tcPr>
                </a:tc>
                <a:tc>
                  <a:txBody>
                    <a:bodyPr/>
                    <a:lstStyle/>
                    <a:p>
                      <a:r>
                        <a:rPr sz="900" b="1">
                          <a:solidFill>
                            <a:srgbClr val="52514E"/>
                          </a:solidFill>
                        </a:rPr>
                        <a:t>after default</a:t>
                      </a:r>
                    </a:p>
                  </a:txBody>
                  <a:tcPr marL="45720" marR="45720" marT="27432" marB="27432">
                    <a:solidFill>
                      <a:srgbClr val="E1E0D9"/>
                    </a:solidFill>
                  </a:tcPr>
                </a:tc>
                <a:tc>
                  <a:txBody>
                    <a:bodyPr/>
                    <a:lstStyle/>
                    <a:p>
                      <a:r>
                        <a:rPr sz="900" b="1">
                          <a:solidFill>
                            <a:srgbClr val="52514E"/>
                          </a:solidFill>
                        </a:rPr>
                        <a:t>after cap</a:t>
                      </a:r>
                    </a:p>
                  </a:txBody>
                  <a:tcPr marL="45720" marR="45720" marT="27432" marB="27432">
                    <a:solidFill>
                      <a:srgbClr val="E1E0D9"/>
                    </a:solidFill>
                  </a:tcPr>
                </a:tc>
                <a:tc>
                  <a:txBody>
                    <a:bodyPr/>
                    <a:lstStyle/>
                    <a:p>
                      <a:r>
                        <a:rPr sz="900" b="1">
                          <a:solidFill>
                            <a:srgbClr val="52514E"/>
                          </a:solidFill>
                        </a:rPr>
                        <a:t>after CVE</a:t>
                      </a:r>
                    </a:p>
                  </a:txBody>
                  <a:tcPr marL="45720" marR="45720" marT="27432" marB="27432">
                    <a:solidFill>
                      <a:srgbClr val="E1E0D9"/>
                    </a:solidFill>
                  </a:tcPr>
                </a:tc>
                <a:tc>
                  <a:txBody>
                    <a:bodyPr/>
                    <a:lstStyle/>
                    <a:p>
                      <a:r>
                        <a:rPr sz="900" b="1">
                          <a:solidFill>
                            <a:srgbClr val="52514E"/>
                          </a:solidFill>
                        </a:rPr>
                        <a:t>chance / month (fwd, rev)</a:t>
                      </a:r>
                    </a:p>
                  </a:txBody>
                  <a:tcPr marL="45720" marR="45720" marT="27432" marB="27432">
                    <a:solidFill>
                      <a:srgbClr val="E1E0D9"/>
                    </a:solidFill>
                  </a:tcPr>
                </a:tc>
                <a:tc>
                  <a:txBody>
                    <a:bodyPr/>
                    <a:lstStyle/>
                    <a:p>
                      <a:r>
                        <a:rPr sz="900" b="1">
                          <a:solidFill>
                            <a:srgbClr val="52514E"/>
                          </a:solidFill>
                        </a:rPr>
                        <a:t>made of (forward)</a:t>
                      </a:r>
                    </a:p>
                  </a:txBody>
                  <a:tcPr marL="45720" marR="45720" marT="27432" marB="27432">
                    <a:solidFill>
                      <a:srgbClr val="E1E0D9"/>
                    </a:solidFill>
                  </a:tcPr>
                </a:tc>
              </a:tr>
              <a:tr h="274320">
                <a:tc>
                  <a:txBody>
                    <a:bodyPr/>
                    <a:lstStyle/>
                    <a:p>
                      <a:r>
                        <a:rPr sz="900" b="0">
                          <a:solidFill>
                            <a:srgbClr val="0B0B0B"/>
                          </a:solidFill>
                        </a:rPr>
                        <a:t>RFC 6605</a:t>
                      </a:r>
                    </a:p>
                  </a:txBody>
                  <a:tcPr marL="45720" marR="45720" marT="27432" marB="27432">
                    <a:solidFill>
                      <a:srgbClr val="FCFCFB"/>
                    </a:solidFill>
                  </a:tcPr>
                </a:tc>
                <a:tc>
                  <a:txBody>
                    <a:bodyPr/>
                    <a:lstStyle/>
                    <a:p>
                      <a:r>
                        <a:rPr sz="900" b="0">
                          <a:solidFill>
                            <a:srgbClr val="0B0B0B"/>
                          </a:solidFill>
                        </a:rPr>
                        <a:t>31</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default 9%/6%; cap n/a; CVE 9%/4%</a:t>
                      </a:r>
                    </a:p>
                  </a:txBody>
                  <a:tcPr marL="45720" marR="45720" marT="27432" marB="27432">
                    <a:solidFill>
                      <a:srgbClr val="FCFCFB"/>
                    </a:solidFill>
                  </a:tcPr>
                </a:tc>
                <a:tc>
                  <a:txBody>
                    <a:bodyPr/>
                    <a:lstStyle/>
                    <a:p>
                      <a:r>
                        <a:rPr sz="900" b="0">
                          <a:solidFill>
                            <a:srgbClr val="0B0B0B"/>
                          </a:solidFill>
                        </a:rPr>
                        <a:t>389,932 rolled / 645,952 new at most</a:t>
                      </a:r>
                    </a:p>
                  </a:txBody>
                  <a:tcPr marL="45720" marR="45720" marT="27432" marB="27432">
                    <a:solidFill>
                      <a:srgbClr val="FCFCFB"/>
                    </a:solidFill>
                  </a:tcPr>
                </a:tc>
              </a:tr>
              <a:tr h="274320">
                <a:tc>
                  <a:txBody>
                    <a:bodyPr/>
                    <a:lstStyle/>
                    <a:p>
                      <a:r>
                        <a:rPr sz="900" b="0">
                          <a:solidFill>
                            <a:srgbClr val="0B0B0B"/>
                          </a:solidFill>
                        </a:rPr>
                        <a:t>RFC 5702</a:t>
                      </a:r>
                    </a:p>
                  </a:txBody>
                  <a:tcPr marL="45720" marR="45720" marT="27432" marB="27432">
                    <a:solidFill>
                      <a:srgbClr val="FCFCFB"/>
                    </a:solidFill>
                  </a:tcPr>
                </a:tc>
                <a:tc>
                  <a:txBody>
                    <a:bodyPr/>
                    <a:lstStyle/>
                    <a:p>
                      <a:r>
                        <a:rPr sz="900" b="0">
                          <a:solidFill>
                            <a:srgbClr val="0B0B0B"/>
                          </a:solidFill>
                        </a:rPr>
                        <a:t>24</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0%/4%; cap n/a; CVE n/a/n/a</a:t>
                      </a:r>
                    </a:p>
                  </a:txBody>
                  <a:tcPr marL="45720" marR="45720" marT="27432" marB="27432">
                    <a:solidFill>
                      <a:srgbClr val="FCFCFB"/>
                    </a:solidFill>
                  </a:tcPr>
                </a:tc>
                <a:tc>
                  <a:txBody>
                    <a:bodyPr/>
                    <a:lstStyle/>
                    <a:p>
                      <a:r>
                        <a:rPr sz="900" b="0">
                          <a:solidFill>
                            <a:srgbClr val="0B0B0B"/>
                          </a:solidFill>
                        </a:rPr>
                        <a:t>371 rolled / 236,399 new at most</a:t>
                      </a:r>
                    </a:p>
                  </a:txBody>
                  <a:tcPr marL="45720" marR="45720" marT="27432" marB="27432">
                    <a:solidFill>
                      <a:srgbClr val="FCFCFB"/>
                    </a:solidFill>
                  </a:tcPr>
                </a:tc>
              </a:tr>
              <a:tr h="274320">
                <a:tc>
                  <a:txBody>
                    <a:bodyPr/>
                    <a:lstStyle/>
                    <a:p>
                      <a:r>
                        <a:rPr sz="900" b="0">
                          <a:solidFill>
                            <a:srgbClr val="0B0B0B"/>
                          </a:solidFill>
                        </a:rPr>
                        <a:t>RFC 8080</a:t>
                      </a:r>
                    </a:p>
                  </a:txBody>
                  <a:tcPr marL="45720" marR="45720" marT="27432" marB="27432">
                    <a:solidFill>
                      <a:srgbClr val="FCFCFB"/>
                    </a:solidFill>
                  </a:tcPr>
                </a:tc>
                <a:tc>
                  <a:txBody>
                    <a:bodyPr/>
                    <a:lstStyle/>
                    <a:p>
                      <a:r>
                        <a:rPr sz="900" b="0">
                          <a:solidFill>
                            <a:srgbClr val="0B0B0B"/>
                          </a:solidFill>
                        </a:rPr>
                        <a:t>5</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n/a/n/a; cap n/a; CVE 4%/n/a</a:t>
                      </a:r>
                    </a:p>
                  </a:txBody>
                  <a:tcPr marL="45720" marR="45720" marT="27432" marB="27432">
                    <a:solidFill>
                      <a:srgbClr val="FCFCFB"/>
                    </a:solidFill>
                  </a:tcPr>
                </a:tc>
                <a:tc>
                  <a:txBody>
                    <a:bodyPr/>
                    <a:lstStyle/>
                    <a:p>
                      <a:r>
                        <a:rPr sz="900" b="0">
                          <a:solidFill>
                            <a:srgbClr val="0B0B0B"/>
                          </a:solidFill>
                        </a:rPr>
                        <a:t>25,201 rolled / 9,152 new at most</a:t>
                      </a:r>
                    </a:p>
                  </a:txBody>
                  <a:tcPr marL="45720" marR="45720" marT="27432" marB="27432">
                    <a:solidFill>
                      <a:srgbClr val="FCFCFB"/>
                    </a:solidFill>
                  </a:tcPr>
                </a:tc>
              </a:tr>
              <a:tr h="274320">
                <a:tc>
                  <a:txBody>
                    <a:bodyPr/>
                    <a:lstStyle/>
                    <a:p>
                      <a:r>
                        <a:rPr sz="900" b="0">
                          <a:solidFill>
                            <a:srgbClr val="0B0B0B"/>
                          </a:solidFill>
                        </a:rPr>
                        <a:t>RFC 5155</a:t>
                      </a:r>
                    </a:p>
                  </a:txBody>
                  <a:tcPr marL="45720" marR="45720" marT="27432" marB="27432">
                    <a:solidFill>
                      <a:srgbClr val="FCFCFB"/>
                    </a:solidFill>
                  </a:tcPr>
                </a:tc>
                <a:tc>
                  <a:txBody>
                    <a:bodyPr/>
                    <a:lstStyle/>
                    <a:p>
                      <a:r>
                        <a:rPr sz="900" b="0">
                          <a:solidFill>
                            <a:srgbClr val="0B0B0B"/>
                          </a:solidFill>
                        </a:rPr>
                        <a:t>17</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0%/2%; cap 14%; CVE 0%/8%</a:t>
                      </a:r>
                    </a:p>
                  </a:txBody>
                  <a:tcPr marL="45720" marR="45720" marT="27432" marB="27432">
                    <a:solidFill>
                      <a:srgbClr val="FCFCFB"/>
                    </a:solidFill>
                  </a:tcPr>
                </a:tc>
                <a:tc>
                  <a:txBody>
                    <a:bodyPr/>
                    <a:lstStyle/>
                    <a:p>
                      <a:r>
                        <a:rPr sz="900" b="0">
                          <a:solidFill>
                            <a:srgbClr val="0B0B0B"/>
                          </a:solidFill>
                        </a:rPr>
                        <a:t>0 rolled / 429,995 new at most</a:t>
                      </a:r>
                    </a:p>
                  </a:txBody>
                  <a:tcPr marL="45720" marR="45720" marT="27432" marB="27432">
                    <a:solidFill>
                      <a:srgbClr val="FCFCFB"/>
                    </a:solidFill>
                  </a:tcPr>
                </a:tc>
              </a:tr>
              <a:tr h="274320">
                <a:tc>
                  <a:txBody>
                    <a:bodyPr/>
                    <a:lstStyle/>
                    <a:p>
                      <a:r>
                        <a:rPr sz="900" b="0">
                          <a:solidFill>
                            <a:srgbClr val="0B0B0B"/>
                          </a:solidFill>
                        </a:rPr>
                        <a:t>RFC 9276</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default 0%/n/a; cap 14%; CVE 4%/n/a</a:t>
                      </a:r>
                    </a:p>
                  </a:txBody>
                  <a:tcPr marL="45720" marR="45720" marT="27432" marB="27432">
                    <a:solidFill>
                      <a:srgbClr val="FCFCFB"/>
                    </a:solidFill>
                  </a:tcPr>
                </a:tc>
                <a:tc>
                  <a:txBody>
                    <a:bodyPr/>
                    <a:lstStyle/>
                    <a:p>
                      <a:r>
                        <a:rPr sz="900" b="0">
                          <a:solidFill>
                            <a:srgbClr val="0B0B0B"/>
                          </a:solidFill>
                        </a:rPr>
                        <a:t>collapse</a:t>
                      </a:r>
                    </a:p>
                  </a:txBody>
                  <a:tcPr marL="45720" marR="45720" marT="27432" marB="27432">
                    <a:solidFill>
                      <a:srgbClr val="FCFCFB"/>
                    </a:solidFill>
                  </a:tcPr>
                </a:tc>
              </a:tr>
            </a:tbl>
          </a:graphicData>
        </a:graphic>
      </p:graphicFrame>
      <p:sp>
        <p:nvSpPr>
          <p:cNvPr id="5" name="TextBox 4"/>
          <p:cNvSpPr txBox="1"/>
          <p:nvPr/>
        </p:nvSpPr>
        <p:spPr>
          <a:xfrm>
            <a:off x="566928" y="3291840"/>
            <a:ext cx="11064240" cy="2926080"/>
          </a:xfrm>
          <a:prstGeom prst="rect">
            <a:avLst/>
          </a:prstGeom>
          <a:noFill/>
        </p:spPr>
        <p:txBody>
          <a:bodyPr wrap="square">
            <a:spAutoFit/>
          </a:bodyPr>
          <a:lstStyle/>
          <a:p>
            <a:pPr>
              <a:spcAft>
                <a:spcPts val="600"/>
              </a:spcAft>
            </a:pPr>
            <a:r>
              <a:rPr sz="1100" b="0">
                <a:solidFill>
                  <a:srgbClr val="0B0B0B"/>
                </a:solidFill>
                <a:latin typeface="Segoe UI"/>
              </a:rPr>
              <a:t>Only RFC 9276 beats chance: 3 of 3 spikes within 3 months of a validator cap against a 14% chance rate, and they are one coordinated event (caps + CVE-2021-40083) ten months before the RFC. For the algorithm RFCs the counts are what luck predicts: 2 of 31 ECDSA spikes after a default against a 9% forward rate.</a:t>
            </a:r>
          </a:p>
          <a:p>
            <a:pPr>
              <a:spcAft>
                <a:spcPts val="600"/>
              </a:spcAft>
            </a:pPr>
            <a:r>
              <a:rPr sz="1100" b="0">
                <a:solidFill>
                  <a:srgbClr val="0B0B0B"/>
                </a:solidFill>
                <a:latin typeface="Segoe UI"/>
              </a:rPr>
              <a:t>What the spikes are made of decides the causal story. Of the 1,035,884 forward ECDSA zones in spikes, at least 389,932 were existing zones rolling over -- deliberate migrations that no update performs. The rest were signing waves whose new zones took whatever the signer defaulted to; that is where defaults act, silently and years after they changed.</a:t>
            </a:r>
          </a:p>
          <a:p>
            <a:pPr>
              <a:spcAft>
                <a:spcPts val="600"/>
              </a:spcAft>
            </a:pPr>
            <a:r>
              <a:rPr sz="1100" b="0">
                <a:solidFill>
                  <a:srgbClr val="0B0B0B"/>
                </a:solidFill>
                <a:latin typeface="Segoe UI"/>
              </a:rPr>
              <a:t>CVEs did not lead any push. Every CVE nearest to a spike is a validator bug (memory leak, assertion failure); the one CVE that sits inside a causal chain, CVE-2021-40083, is a symptom of the same iteration problem the caps fixed. Median lag from a spike to the nearest CVE: 16 months for ECDSA, 57 for NSEC3.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AUTOMATIC UPDATES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Where an update could act, and where it did</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An update cannot roll a zone to a new algorithm; it can only change what a zone signed AFTER the update gets. So the test is the share of new signings, not the adoption curve, and the reverse ledger is the only place it can be run per zone.</a:t>
            </a:r>
          </a:p>
          <a:p>
            <a:pPr>
              <a:spcAft>
                <a:spcPts val="700"/>
              </a:spcAft>
            </a:pPr>
            <a:r>
              <a:rPr sz="1150" b="0">
                <a:solidFill>
                  <a:srgbClr val="0B0B0B"/>
                </a:solidFill>
                <a:latin typeface="Segoe UI"/>
              </a:rPr>
              <a:t>RSA/SHA-256: new reverse signings choosing it go 0% (2010Q4) -&gt; 20% (2011Q2) -&gt; 81% (2012Q2), with the detected step at 2012Q2, 15 months after OpenDNSSEC 1.2.0's default and 27 after BIND 9.7.0. Two of its five steps have no OS release in the year before them at all.</a:t>
            </a:r>
          </a:p>
          <a:p>
            <a:pPr>
              <a:spcAft>
                <a:spcPts val="700"/>
              </a:spcAft>
            </a:pPr>
            <a:r>
              <a:rPr sz="1150" b="0">
                <a:solidFill>
                  <a:srgbClr val="0B0B0B"/>
                </a:solidFill>
                <a:latin typeface="Segoe UI"/>
              </a:rPr>
              <a:t>ECDSA: the Knot 2.1.0 and PowerDNS 4.0.0 defaults changed nothing on their upstream dates (0.2% -&gt; 0.3%, 0.3% -&gt; 0.2%). New signings then stepped 4 times between 2017 and 2020, each step concentrated in a single month and a handful of parent blocks. An OS release precedes every step -- a different one each time -- while 31% of all months follow some OS release within 3 months, and two of the five RSA/SHA-256 steps have no OS release in the year before them at all.</a:t>
            </a:r>
          </a:p>
          <a:p>
            <a:pPr>
              <a:spcAft>
                <a:spcPts val="700"/>
              </a:spcAft>
            </a:pPr>
            <a:r>
              <a:rPr sz="1150" b="0">
                <a:solidFill>
                  <a:srgbClr val="0B0B0B"/>
                </a:solidFill>
                <a:latin typeface="Segoe UI"/>
              </a:rPr>
              <a:t>An update can only change what a zone signed after it gets, never an existing zone, so this is where a default would act. That the steps exist is evidence operators moved in batches once the defaults existed upstream; which delivery path reached any of them is not identifiable from published records.</a:t>
            </a:r>
          </a:p>
          <a:p>
            <a:pPr>
              <a:spcAft>
                <a:spcPts val="700"/>
              </a:spcAft>
            </a:pPr>
            <a:r>
              <a:rPr sz="1150" b="0">
                <a:solidFill>
                  <a:srgbClr val="0B0B0B"/>
                </a:solidFill>
                <a:latin typeface="Segoe UI"/>
              </a:rPr>
              <a:t>Forward DNS: the .ch 2021 wave chose ECDSA for 96% of 591,333 newly signed zones and NSEC3 with 1 iteration; by then every signer's default was ECDSA and the caps had just landed. That is an update effect in the only sense the data supports: whatever the hosters ran, its defaults were current. The 2019 .se moves were rollovers and cannot be.</a:t>
            </a:r>
          </a:p>
          <a:p>
            <a:pPr>
              <a:spcAft>
                <a:spcPts val="700"/>
              </a:spcAft>
            </a:pPr>
            <a:r>
              <a:rPr sz="1150" b="0">
                <a:solidFill>
                  <a:srgbClr val="0B0B0B"/>
                </a:solidFill>
                <a:latin typeface="Segoe UI"/>
              </a:rPr>
              <a:t>EdDSA: never a default anywhere, never picked up by new signings, and its two forward episodes were withdrawn. The update path carries defaults; where no vendor set one, it carried nothing.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What this cannot show</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Which software signs a zone is never visible from its records. 'Nearest release' is timing evidence only; the program named is the nearest of the six studied, not the one the operator ran. Registry and registrar signing platforms are closed source and off the list.</a:t>
            </a:r>
          </a:p>
          <a:p>
            <a:pPr>
              <a:spcAft>
                <a:spcPts val="700"/>
              </a:spcAft>
            </a:pPr>
            <a:r>
              <a:rPr sz="1150" b="0">
                <a:solidFill>
                  <a:srgbClr val="0B0B0B"/>
                </a:solidFill>
                <a:latin typeface="Segoe UI"/>
              </a:rPr>
              <a:t>OpenINTEL here is seven TLD zone files as monthly aggregates from 2016-06 (2020-05 for .ch/.li) to 2023-12. RSA/SHA-256 and NSEC3 were adopted before that window; their forward spikes are later signing waves, not adoption. Per-zone forward records are not in this repo, so forward spikes cannot be attributed to an operator; 'new vs rolled' is a bound from the change in signed-zone count.</a:t>
            </a:r>
          </a:p>
          <a:p>
            <a:pPr>
              <a:spcAft>
                <a:spcPts val="700"/>
              </a:spcAft>
            </a:pPr>
            <a:r>
              <a:rPr sz="1150" b="0">
                <a:solidFill>
                  <a:srgbClr val="0B0B0B"/>
                </a:solidFill>
                <a:latin typeface="Segoe UI"/>
              </a:rPr>
              <a:t>Reverse DNS is small (25,930 change events on 13,654 delegations); its spikes are one /16 block at a time and its shares are hidden where a RIR has fewer than 30 signed delegations. NSEC3 is invisible in DS records except through algorithm 7.</a:t>
            </a:r>
          </a:p>
          <a:p>
            <a:pPr>
              <a:spcAft>
                <a:spcPts val="700"/>
              </a:spcAft>
            </a:pPr>
            <a:r>
              <a:rPr sz="1150" b="0">
                <a:solidFill>
                  <a:srgbClr val="0B0B0B"/>
                </a:solidFill>
                <a:latin typeface="Segoe UI"/>
              </a:rPr>
              <a:t>OS packages cover Debian 9-13 and Ubuntu LTS 16.04-24.04 by version, plus RHEL majors by date. They are one delivery path among many: RHEL base carries only BIND (Knot and PowerDNS need EPEL) and had no ECDSA-default signer until RHEL 9 in 2022-05, and FreeBSD ports, Alpine, containers and source builds are not represented at all. Package dates bound when a default became reachable, not what anyone ran.</a:t>
            </a:r>
          </a:p>
          <a:p>
            <a:pPr>
              <a:spcAft>
                <a:spcPts val="700"/>
              </a:spcAft>
            </a:pPr>
            <a:r>
              <a:rPr sz="1150" b="0">
                <a:solidFill>
                  <a:srgbClr val="0B0B0B"/>
                </a:solidFill>
                <a:latin typeface="Segoe UI"/>
              </a:rPr>
              <a:t>The chance rate is per month and per series; with 3 to 31 spikes per RFC the counts are small, and 'beats chance' is a reading, not a test with a p-value. CVE attribution is by NVD product only; keyword matches are shown as 'other / unattributed'.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