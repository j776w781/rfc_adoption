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1828800"/>
            <a:ext cx="10515600" cy="365760"/>
          </a:xfrm>
          <a:prstGeom prst="rect">
            <a:avLst/>
          </a:prstGeom>
          <a:noFill/>
        </p:spPr>
        <p:txBody>
          <a:bodyPr wrap="square">
            <a:spAutoFit/>
          </a:bodyPr>
          <a:lstStyle/>
          <a:p>
            <a:pPr>
              <a:spcAft>
                <a:spcPts val="600"/>
              </a:spcAft>
            </a:pPr>
            <a:r>
              <a:rPr sz="1300" b="1">
                <a:solidFill>
                  <a:srgbClr val="898781"/>
                </a:solidFill>
                <a:latin typeface="Segoe UI"/>
              </a:rPr>
              <a:t>FIVE RFCs  ·  SIX PROGRAMS  ·  OPENINTEL + REVERSE DNS  ·  EVERY SPIKE TRACED BACK</a:t>
            </a:r>
          </a:p>
        </p:txBody>
      </p:sp>
      <p:sp>
        <p:nvSpPr>
          <p:cNvPr id="3" name="TextBox 2"/>
          <p:cNvSpPr txBox="1"/>
          <p:nvPr/>
        </p:nvSpPr>
        <p:spPr>
          <a:xfrm>
            <a:off x="822960" y="2240280"/>
            <a:ext cx="10607040" cy="1645920"/>
          </a:xfrm>
          <a:prstGeom prst="rect">
            <a:avLst/>
          </a:prstGeom>
          <a:noFill/>
        </p:spPr>
        <p:txBody>
          <a:bodyPr wrap="square">
            <a:spAutoFit/>
          </a:bodyPr>
          <a:lstStyle/>
          <a:p>
            <a:pPr>
              <a:spcAft>
                <a:spcPts val="200"/>
              </a:spcAft>
            </a:pPr>
            <a:r>
              <a:rPr sz="3800" b="1">
                <a:solidFill>
                  <a:srgbClr val="0B0B0B"/>
                </a:solidFill>
                <a:latin typeface="Segoe UI"/>
              </a:rPr>
              <a:t>Did a program's release, default or CVE</a:t>
            </a:r>
          </a:p>
          <a:p>
            <a:pPr>
              <a:spcAft>
                <a:spcPts val="200"/>
              </a:spcAft>
            </a:pPr>
            <a:r>
              <a:rPr sz="3800" b="1">
                <a:solidFill>
                  <a:srgbClr val="0B0B0B"/>
                </a:solidFill>
                <a:latin typeface="Segoe UI"/>
              </a:rPr>
              <a:t>cause the spikes in RFC adoption?</a:t>
            </a:r>
          </a:p>
        </p:txBody>
      </p:sp>
      <p:sp>
        <p:nvSpPr>
          <p:cNvPr id="4" name="Rectangle 3"/>
          <p:cNvSpPr/>
          <p:nvPr/>
        </p:nvSpPr>
        <p:spPr>
          <a:xfrm>
            <a:off x="841248" y="3977639"/>
            <a:ext cx="1828800" cy="28575"/>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297680"/>
            <a:ext cx="10515600" cy="1645920"/>
          </a:xfrm>
          <a:prstGeom prst="rect">
            <a:avLst/>
          </a:prstGeom>
          <a:noFill/>
        </p:spPr>
        <p:txBody>
          <a:bodyPr wrap="square">
            <a:spAutoFit/>
          </a:bodyPr>
          <a:lstStyle/>
          <a:p>
            <a:pPr>
              <a:spcAft>
                <a:spcPts val="600"/>
              </a:spcAft>
            </a:pPr>
            <a:r>
              <a:rPr sz="1400" b="0">
                <a:solidFill>
                  <a:srgbClr val="52514E"/>
                </a:solidFill>
                <a:latin typeface="Segoe UI"/>
              </a:rPr>
              <a:t>For each RFC: the date it was published, the release in which BIND 9, Knot DNS, PowerDNS, OpenDNSSEC, Unbound and Knot Resolver first implemented it, the release that made it the default or capped it, the first Ubuntu and Debian packages that carried that release, and the CVEs on the mechanism. Then every spike in the OpenINTEL zone files (per TLD) and in reverse DNS (per RIR), with the nearest preceding release, default, cap and CVE named -- and the chance rate that check has to beat.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47472"/>
            <a:ext cx="10972800" cy="274320"/>
          </a:xfrm>
          <a:prstGeom prst="rect">
            <a:avLst/>
          </a:prstGeom>
          <a:noFill/>
        </p:spPr>
        <p:txBody>
          <a:bodyPr wrap="square">
            <a:spAutoFit/>
          </a:bodyPr>
          <a:lstStyle/>
          <a:p>
            <a:pPr>
              <a:spcAft>
                <a:spcPts val="600"/>
              </a:spcAft>
            </a:pPr>
            <a:r>
              <a:rPr sz="1200" b="1">
                <a:solidFill>
                  <a:srgbClr val="898781"/>
                </a:solidFill>
                <a:latin typeface="Segoe UI"/>
              </a:rPr>
              <a:t>METHOD</a:t>
            </a:r>
          </a:p>
        </p:txBody>
      </p:sp>
      <p:sp>
        <p:nvSpPr>
          <p:cNvPr id="3" name="TextBox 2"/>
          <p:cNvSpPr txBox="1"/>
          <p:nvPr/>
        </p:nvSpPr>
        <p:spPr>
          <a:xfrm>
            <a:off x="566928" y="621792"/>
            <a:ext cx="11064240" cy="640080"/>
          </a:xfrm>
          <a:prstGeom prst="rect">
            <a:avLst/>
          </a:prstGeom>
          <a:noFill/>
        </p:spPr>
        <p:txBody>
          <a:bodyPr wrap="square">
            <a:spAutoFit/>
          </a:bodyPr>
          <a:lstStyle/>
          <a:p>
            <a:pPr>
              <a:spcAft>
                <a:spcPts val="600"/>
              </a:spcAft>
            </a:pPr>
            <a:r>
              <a:rPr sz="2600" b="1">
                <a:solidFill>
                  <a:srgbClr val="0B0B0B"/>
                </a:solidFill>
                <a:latin typeface="Segoe UI"/>
              </a:rPr>
              <a:t>Four checks per spike, and the trap they avoid</a:t>
            </a:r>
          </a:p>
        </p:txBody>
      </p:sp>
      <p:sp>
        <p:nvSpPr>
          <p:cNvPr id="4" name="TextBox 3"/>
          <p:cNvSpPr txBox="1"/>
          <p:nvPr/>
        </p:nvSpPr>
        <p:spPr>
          <a:xfrm>
            <a:off x="566928" y="1417320"/>
            <a:ext cx="2194560" cy="457200"/>
          </a:xfrm>
          <a:prstGeom prst="rect">
            <a:avLst/>
          </a:prstGeom>
          <a:noFill/>
        </p:spPr>
        <p:txBody>
          <a:bodyPr wrap="square">
            <a:spAutoFit/>
          </a:bodyPr>
          <a:lstStyle/>
          <a:p>
            <a:pPr>
              <a:spcAft>
                <a:spcPts val="600"/>
              </a:spcAft>
            </a:pPr>
            <a:r>
              <a:rPr sz="1250" b="1">
                <a:solidFill>
                  <a:srgbClr val="0B0B0B"/>
                </a:solidFill>
                <a:latin typeface="Segoe UI"/>
              </a:rPr>
              <a:t>Spike</a:t>
            </a:r>
          </a:p>
        </p:txBody>
      </p:sp>
      <p:sp>
        <p:nvSpPr>
          <p:cNvPr id="5" name="TextBox 4"/>
          <p:cNvSpPr txBox="1"/>
          <p:nvPr/>
        </p:nvSpPr>
        <p:spPr>
          <a:xfrm>
            <a:off x="2743200" y="1417320"/>
            <a:ext cx="8961120" cy="822960"/>
          </a:xfrm>
          <a:prstGeom prst="rect">
            <a:avLst/>
          </a:prstGeom>
          <a:noFill/>
        </p:spPr>
        <p:txBody>
          <a:bodyPr wrap="square">
            <a:spAutoFit/>
          </a:bodyPr>
          <a:lstStyle/>
          <a:p>
            <a:pPr>
              <a:spcAft>
                <a:spcPts val="600"/>
              </a:spcAft>
            </a:pPr>
            <a:r>
              <a:rPr sz="1100" b="0">
                <a:solidFill>
                  <a:srgbClr val="52514E"/>
                </a:solidFill>
                <a:latin typeface="Segoe UI"/>
              </a:rPr>
              <a:t>month-on-month change &gt;= floor, &gt;= 10% of the previous level, and &gt;= 4x the median absolute monthly change of the preceding 12 months; consecutive spike months merge into one episode. Floors: 300 zones forward, 30 reverse.</a:t>
            </a:r>
          </a:p>
        </p:txBody>
      </p:sp>
      <p:sp>
        <p:nvSpPr>
          <p:cNvPr id="6" name="TextBox 5"/>
          <p:cNvSpPr txBox="1"/>
          <p:nvPr/>
        </p:nvSpPr>
        <p:spPr>
          <a:xfrm>
            <a:off x="566928" y="2203704"/>
            <a:ext cx="2194560" cy="457200"/>
          </a:xfrm>
          <a:prstGeom prst="rect">
            <a:avLst/>
          </a:prstGeom>
          <a:noFill/>
        </p:spPr>
        <p:txBody>
          <a:bodyPr wrap="square">
            <a:spAutoFit/>
          </a:bodyPr>
          <a:lstStyle/>
          <a:p>
            <a:pPr>
              <a:spcAft>
                <a:spcPts val="600"/>
              </a:spcAft>
            </a:pPr>
            <a:r>
              <a:rPr sz="1250" b="1">
                <a:solidFill>
                  <a:srgbClr val="0B0B0B"/>
                </a:solidFill>
                <a:latin typeface="Segoe UI"/>
              </a:rPr>
              <a:t>Nearest release</a:t>
            </a:r>
          </a:p>
        </p:txBody>
      </p:sp>
      <p:sp>
        <p:nvSpPr>
          <p:cNvPr id="7" name="TextBox 6"/>
          <p:cNvSpPr txBox="1"/>
          <p:nvPr/>
        </p:nvSpPr>
        <p:spPr>
          <a:xfrm>
            <a:off x="2743200" y="2203704"/>
            <a:ext cx="8961120" cy="822960"/>
          </a:xfrm>
          <a:prstGeom prst="rect">
            <a:avLst/>
          </a:prstGeom>
          <a:noFill/>
        </p:spPr>
        <p:txBody>
          <a:bodyPr wrap="square">
            <a:spAutoFit/>
          </a:bodyPr>
          <a:lstStyle/>
          <a:p>
            <a:pPr>
              <a:spcAft>
                <a:spcPts val="600"/>
              </a:spcAft>
            </a:pPr>
            <a:r>
              <a:rPr sz="1100" b="0">
                <a:solidFill>
                  <a:srgbClr val="52514E"/>
                </a:solidFill>
                <a:latin typeface="Segoe UI"/>
              </a:rPr>
              <a:t>for each spike, the latest preceding release that implements, defaults or caps the mechanism, per program, and the lag in months. Also the latest preceding release of any of the eight projects.</a:t>
            </a:r>
          </a:p>
        </p:txBody>
      </p:sp>
      <p:sp>
        <p:nvSpPr>
          <p:cNvPr id="8" name="TextBox 7"/>
          <p:cNvSpPr txBox="1"/>
          <p:nvPr/>
        </p:nvSpPr>
        <p:spPr>
          <a:xfrm>
            <a:off x="566928" y="2990088"/>
            <a:ext cx="2194560" cy="457200"/>
          </a:xfrm>
          <a:prstGeom prst="rect">
            <a:avLst/>
          </a:prstGeom>
          <a:noFill/>
        </p:spPr>
        <p:txBody>
          <a:bodyPr wrap="square">
            <a:spAutoFit/>
          </a:bodyPr>
          <a:lstStyle/>
          <a:p>
            <a:pPr>
              <a:spcAft>
                <a:spcPts val="600"/>
              </a:spcAft>
            </a:pPr>
            <a:r>
              <a:rPr sz="1250" b="1">
                <a:solidFill>
                  <a:srgbClr val="0B0B0B"/>
                </a:solidFill>
                <a:latin typeface="Segoe UI"/>
              </a:rPr>
              <a:t>The trap</a:t>
            </a:r>
          </a:p>
        </p:txBody>
      </p:sp>
      <p:sp>
        <p:nvSpPr>
          <p:cNvPr id="9" name="TextBox 8"/>
          <p:cNvSpPr txBox="1"/>
          <p:nvPr/>
        </p:nvSpPr>
        <p:spPr>
          <a:xfrm>
            <a:off x="2743200" y="2990088"/>
            <a:ext cx="8961120" cy="822960"/>
          </a:xfrm>
          <a:prstGeom prst="rect">
            <a:avLst/>
          </a:prstGeom>
          <a:noFill/>
        </p:spPr>
        <p:txBody>
          <a:bodyPr wrap="square">
            <a:spAutoFit/>
          </a:bodyPr>
          <a:lstStyle/>
          <a:p>
            <a:pPr>
              <a:spcAft>
                <a:spcPts val="600"/>
              </a:spcAft>
            </a:pPr>
            <a:r>
              <a:rPr sz="1100" b="0">
                <a:solidFill>
                  <a:srgbClr val="52514E"/>
                </a:solidFill>
                <a:latin typeface="Segoe UI"/>
              </a:rPr>
              <a:t>95% of months contain some DNS release, so 'a release came shortly before' is always true. Each lag is compared with the same lag at every month of the series: the chance rate. A spike is release-timed only if it beats that.</a:t>
            </a:r>
          </a:p>
        </p:txBody>
      </p:sp>
      <p:sp>
        <p:nvSpPr>
          <p:cNvPr id="10" name="TextBox 9"/>
          <p:cNvSpPr txBox="1"/>
          <p:nvPr/>
        </p:nvSpPr>
        <p:spPr>
          <a:xfrm>
            <a:off x="566928" y="3776472"/>
            <a:ext cx="2194560" cy="457200"/>
          </a:xfrm>
          <a:prstGeom prst="rect">
            <a:avLst/>
          </a:prstGeom>
          <a:noFill/>
        </p:spPr>
        <p:txBody>
          <a:bodyPr wrap="square">
            <a:spAutoFit/>
          </a:bodyPr>
          <a:lstStyle/>
          <a:p>
            <a:pPr>
              <a:spcAft>
                <a:spcPts val="600"/>
              </a:spcAft>
            </a:pPr>
            <a:r>
              <a:rPr sz="1250" b="1">
                <a:solidFill>
                  <a:srgbClr val="0B0B0B"/>
                </a:solidFill>
                <a:latin typeface="Segoe UI"/>
              </a:rPr>
              <a:t>New vs rolled</a:t>
            </a:r>
          </a:p>
        </p:txBody>
      </p:sp>
      <p:sp>
        <p:nvSpPr>
          <p:cNvPr id="11" name="TextBox 10"/>
          <p:cNvSpPr txBox="1"/>
          <p:nvPr/>
        </p:nvSpPr>
        <p:spPr>
          <a:xfrm>
            <a:off x="2743200" y="3776472"/>
            <a:ext cx="8961120" cy="822960"/>
          </a:xfrm>
          <a:prstGeom prst="rect">
            <a:avLst/>
          </a:prstGeom>
          <a:noFill/>
        </p:spPr>
        <p:txBody>
          <a:bodyPr wrap="square">
            <a:spAutoFit/>
          </a:bodyPr>
          <a:lstStyle/>
          <a:p>
            <a:pPr>
              <a:spcAft>
                <a:spcPts val="600"/>
              </a:spcAft>
            </a:pPr>
            <a:r>
              <a:rPr sz="1100" b="0">
                <a:solidFill>
                  <a:srgbClr val="52514E"/>
                </a:solidFill>
                <a:latin typeface="Segoe UI"/>
              </a:rPr>
              <a:t>a jump in zones on algorithm X is split into at most the growth in signed zones that month (could be new signings) and the rest (existing zones that rolled over). An automatic update can change what a NEW zone gets; it never re-signs an existing one. Rollovers are operator decisions.</a:t>
            </a:r>
          </a:p>
        </p:txBody>
      </p:sp>
      <p:sp>
        <p:nvSpPr>
          <p:cNvPr id="12" name="TextBox 11"/>
          <p:cNvSpPr txBox="1"/>
          <p:nvPr/>
        </p:nvSpPr>
        <p:spPr>
          <a:xfrm>
            <a:off x="566928" y="4562856"/>
            <a:ext cx="2194560" cy="457200"/>
          </a:xfrm>
          <a:prstGeom prst="rect">
            <a:avLst/>
          </a:prstGeom>
          <a:noFill/>
        </p:spPr>
        <p:txBody>
          <a:bodyPr wrap="square">
            <a:spAutoFit/>
          </a:bodyPr>
          <a:lstStyle/>
          <a:p>
            <a:pPr>
              <a:spcAft>
                <a:spcPts val="600"/>
              </a:spcAft>
            </a:pPr>
            <a:r>
              <a:rPr sz="1250" b="1">
                <a:solidFill>
                  <a:srgbClr val="0B0B0B"/>
                </a:solidFill>
                <a:latin typeface="Segoe UI"/>
              </a:rPr>
              <a:t>Auto-update proxy</a:t>
            </a:r>
          </a:p>
        </p:txBody>
      </p:sp>
      <p:sp>
        <p:nvSpPr>
          <p:cNvPr id="13" name="TextBox 12"/>
          <p:cNvSpPr txBox="1"/>
          <p:nvPr/>
        </p:nvSpPr>
        <p:spPr>
          <a:xfrm>
            <a:off x="2743200" y="4562856"/>
            <a:ext cx="8961120" cy="822960"/>
          </a:xfrm>
          <a:prstGeom prst="rect">
            <a:avLst/>
          </a:prstGeom>
          <a:noFill/>
        </p:spPr>
        <p:txBody>
          <a:bodyPr wrap="square">
            <a:spAutoFit/>
          </a:bodyPr>
          <a:lstStyle/>
          <a:p>
            <a:pPr>
              <a:spcAft>
                <a:spcPts val="600"/>
              </a:spcAft>
            </a:pPr>
            <a:r>
              <a:rPr sz="1100" b="0">
                <a:solidFill>
                  <a:srgbClr val="52514E"/>
                </a:solidFill>
                <a:latin typeface="Segoe UI"/>
              </a:rPr>
              <a:t>the reverse ledger records every signing with the algorithm chosen. If a default propagates through updates, the share of new signings choosing it steps up after the release and after the OS package that carried it.</a:t>
            </a:r>
          </a:p>
        </p:txBody>
      </p:sp>
      <p:sp>
        <p:nvSpPr>
          <p:cNvPr id="14" name="TextBox 13"/>
          <p:cNvSpPr txBox="1"/>
          <p:nvPr/>
        </p:nvSpPr>
        <p:spPr>
          <a:xfrm>
            <a:off x="566928" y="5349240"/>
            <a:ext cx="2194560" cy="457200"/>
          </a:xfrm>
          <a:prstGeom prst="rect">
            <a:avLst/>
          </a:prstGeom>
          <a:noFill/>
        </p:spPr>
        <p:txBody>
          <a:bodyPr wrap="square">
            <a:spAutoFit/>
          </a:bodyPr>
          <a:lstStyle/>
          <a:p>
            <a:pPr>
              <a:spcAft>
                <a:spcPts val="600"/>
              </a:spcAft>
            </a:pPr>
            <a:r>
              <a:rPr sz="1250" b="1">
                <a:solidFill>
                  <a:srgbClr val="0B0B0B"/>
                </a:solidFill>
                <a:latin typeface="Segoe UI"/>
              </a:rPr>
              <a:t>Coverage</a:t>
            </a:r>
          </a:p>
        </p:txBody>
      </p:sp>
      <p:sp>
        <p:nvSpPr>
          <p:cNvPr id="15" name="TextBox 14"/>
          <p:cNvSpPr txBox="1"/>
          <p:nvPr/>
        </p:nvSpPr>
        <p:spPr>
          <a:xfrm>
            <a:off x="2743200" y="5349240"/>
            <a:ext cx="8961120" cy="822960"/>
          </a:xfrm>
          <a:prstGeom prst="rect">
            <a:avLst/>
          </a:prstGeom>
          <a:noFill/>
        </p:spPr>
        <p:txBody>
          <a:bodyPr wrap="square">
            <a:spAutoFit/>
          </a:bodyPr>
          <a:lstStyle/>
          <a:p>
            <a:pPr>
              <a:spcAft>
                <a:spcPts val="600"/>
              </a:spcAft>
            </a:pPr>
            <a:r>
              <a:rPr sz="1100" b="0">
                <a:solidFill>
                  <a:srgbClr val="52514E"/>
                </a:solidFill>
                <a:latin typeface="Segoe UI"/>
              </a:rPr>
              <a:t>OpenINTEL: .se/.nu 2016-06 to 2023-12, .ch/.li from 2020-05, .ee from 2019-07, .gov/.fed.us from 2017-05. Reverse: five RIRs 2009-03 to 2026-08; shares hidden where a RIR has under 30 signed delegations; the strict AFRINIC+ARIN panel is the share line in black.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THE RFC IN EACH PROGRAM  ·  RFC 6605</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000" b="1">
                <a:solidFill>
                  <a:srgbClr val="0B0B0B"/>
                </a:solidFill>
                <a:latin typeface="Segoe UI"/>
              </a:rPr>
              <a:t>RFC 6605 published 2012-04: what each program did, in months from that date</a:t>
            </a:r>
          </a:p>
        </p:txBody>
      </p:sp>
      <p:sp>
        <p:nvSpPr>
          <p:cNvPr id="4" name="TextBox 3"/>
          <p:cNvSpPr txBox="1"/>
          <p:nvPr/>
        </p:nvSpPr>
        <p:spPr>
          <a:xfrm>
            <a:off x="566928" y="1188720"/>
            <a:ext cx="11064240" cy="5029200"/>
          </a:xfrm>
          <a:prstGeom prst="rect">
            <a:avLst/>
          </a:prstGeom>
          <a:noFill/>
        </p:spPr>
        <p:txBody>
          <a:bodyPr wrap="square">
            <a:spAutoFit/>
          </a:bodyPr>
          <a:lstStyle/>
          <a:p>
            <a:pPr>
              <a:spcAft>
                <a:spcPts val="800"/>
              </a:spcAft>
            </a:pPr>
            <a:r>
              <a:rPr sz="1200" b="0">
                <a:solidFill>
                  <a:srgbClr val="0B0B0B"/>
                </a:solidFill>
                <a:latin typeface="Segoe UI"/>
              </a:rPr>
              <a:t>BIND 9: signs it from 9.8.4, 2012-09 (5 mo after the RFC); default from 9.16.0 (opt-in policy), 2020-02 (94 mo after the RFC); CVE-2022-38177 2022-09.</a:t>
            </a:r>
          </a:p>
          <a:p>
            <a:pPr>
              <a:spcAft>
                <a:spcPts val="800"/>
              </a:spcAft>
            </a:pPr>
            <a:r>
              <a:rPr sz="1200" b="0">
                <a:solidFill>
                  <a:srgbClr val="0B0B0B"/>
                </a:solidFill>
                <a:latin typeface="Segoe UI"/>
              </a:rPr>
              <a:t>Knot DNS: signs it from 1.4.0, 2013-12 (20 mo after the RFC); default from 2.1.0, 2016-01 (45 mo after the RFC).</a:t>
            </a:r>
          </a:p>
          <a:p>
            <a:pPr>
              <a:spcAft>
                <a:spcPts val="800"/>
              </a:spcAft>
            </a:pPr>
            <a:r>
              <a:rPr sz="1200" b="0">
                <a:solidFill>
                  <a:srgbClr val="0B0B0B"/>
                </a:solidFill>
                <a:latin typeface="Segoe UI"/>
              </a:rPr>
              <a:t>PowerDNS Auth: signs it from 3.0.1, 2012-01 (3 mo before the RFC); default from 4.0.0, 2016-07 (51 mo after the RFC).</a:t>
            </a:r>
          </a:p>
          <a:p>
            <a:pPr>
              <a:spcAft>
                <a:spcPts val="800"/>
              </a:spcAft>
            </a:pPr>
            <a:r>
              <a:rPr sz="1200" b="0">
                <a:solidFill>
                  <a:srgbClr val="0B0B0B"/>
                </a:solidFill>
                <a:latin typeface="Segoe UI"/>
              </a:rPr>
              <a:t>Unbound: validates it from 1.4.17, 2012-05 (1 mo after the RFC).</a:t>
            </a:r>
          </a:p>
          <a:p>
            <a:pPr>
              <a:spcAft>
                <a:spcPts val="800"/>
              </a:spcAft>
            </a:pPr>
            <a:r>
              <a:rPr sz="1200" b="0">
                <a:solidFill>
                  <a:srgbClr val="0B0B0B"/>
                </a:solidFill>
                <a:latin typeface="Segoe UI"/>
              </a:rPr>
              <a:t>PowerDNS Rec: CVE-2017-15094 2018-01.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1BAF7A"/>
                </a:solidFill>
                <a:latin typeface="Segoe UI"/>
              </a:rPr>
              <a:t>DEFAULTS FIRST, ZONES YEARS LATER  ·  RFC 6605</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400" b="1">
                <a:solidFill>
                  <a:srgbClr val="0B0B0B"/>
                </a:solidFill>
                <a:latin typeface="Segoe UI"/>
              </a:rPr>
              <a:t>ECDSA P-256 / P-384 (algorithms 13, 14)</a:t>
            </a:r>
          </a:p>
        </p:txBody>
      </p:sp>
      <p:pic>
        <p:nvPicPr>
          <p:cNvPr id="4" name="Picture 3" descr="rfc_6605.png"/>
          <p:cNvPicPr>
            <a:picLocks noChangeAspect="1"/>
          </p:cNvPicPr>
          <p:nvPr/>
        </p:nvPicPr>
        <p:blipFill>
          <a:blip r:embed="rId2"/>
          <a:stretch>
            <a:fillRect/>
          </a:stretch>
        </p:blipFill>
        <p:spPr>
          <a:xfrm>
            <a:off x="2486944" y="1097280"/>
            <a:ext cx="7217807" cy="5074920"/>
          </a:xfrm>
          <a:prstGeom prst="rect">
            <a:avLst/>
          </a:prstGeom>
        </p:spPr>
      </p:pic>
      <p:sp>
        <p:nvSpPr>
          <p:cNvPr id="5" name="TextBox 4"/>
          <p:cNvSpPr txBox="1"/>
          <p:nvPr/>
        </p:nvSpPr>
        <p:spPr>
          <a:xfrm>
            <a:off x="566928" y="6217920"/>
            <a:ext cx="11064240" cy="457200"/>
          </a:xfrm>
          <a:prstGeom prst="rect">
            <a:avLst/>
          </a:prstGeom>
          <a:noFill/>
        </p:spPr>
        <p:txBody>
          <a:bodyPr wrap="square">
            <a:spAutoFit/>
          </a:bodyPr>
          <a:lstStyle/>
          <a:p>
            <a:pPr>
              <a:spcAft>
                <a:spcPts val="600"/>
              </a:spcAft>
            </a:pPr>
            <a:r>
              <a:rPr sz="900" b="0">
                <a:solidFill>
                  <a:srgbClr val="898781"/>
                </a:solidFill>
                <a:latin typeface="Segoe UI"/>
              </a:rPr>
              <a:t>Numbered circles are the largest spikes; the next slide names what preceded each one. Ticks: the first Ubuntu/Debian release carrying that program version (the automatic-update path).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WHAT PRECEDED EACH SPIKE  ·  RFC 6605</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200" b="1">
                <a:solidFill>
                  <a:srgbClr val="0B0B0B"/>
                </a:solidFill>
                <a:latin typeface="Segoe UI"/>
              </a:rPr>
              <a:t>Nearest release, default, cap and CVE before each spike</a:t>
            </a:r>
          </a:p>
        </p:txBody>
      </p:sp>
      <p:graphicFrame>
        <p:nvGraphicFramePr>
          <p:cNvPr id="4" name="Table 3"/>
          <p:cNvGraphicFramePr>
            <a:graphicFrameLocks noGrp="1"/>
          </p:cNvGraphicFramePr>
          <p:nvPr/>
        </p:nvGraphicFramePr>
        <p:xfrm>
          <a:off x="411480" y="1143000"/>
          <a:ext cx="11338560" cy="2468880"/>
        </p:xfrm>
        <a:graphic>
          <a:graphicData uri="http://schemas.openxmlformats.org/drawingml/2006/table">
            <a:tbl>
              <a:tblPr firstRow="1" bandRow="1">
                <a:tableStyleId>{5C22544A-7EE6-4342-B048-85BDC9FD1C3A}</a:tableStyleId>
              </a:tblPr>
              <a:tblGrid>
                <a:gridCol w="274320"/>
                <a:gridCol w="1234440"/>
                <a:gridCol w="1143000"/>
                <a:gridCol w="1600200"/>
                <a:gridCol w="1143000"/>
                <a:gridCol w="2011680"/>
                <a:gridCol w="2011680"/>
                <a:gridCol w="1920240"/>
              </a:tblGrid>
              <a:tr h="274320">
                <a:tc>
                  <a:txBody>
                    <a:bodyPr/>
                    <a:lstStyle/>
                    <a:p>
                      <a:r>
                        <a:rPr sz="900" b="1">
                          <a:solidFill>
                            <a:srgbClr val="52514E"/>
                          </a:solidFill>
                        </a:rPr>
                        <a:t>#</a:t>
                      </a:r>
                    </a:p>
                  </a:txBody>
                  <a:tcPr marL="45720" marR="45720" marT="27432" marB="27432">
                    <a:solidFill>
                      <a:srgbClr val="E1E0D9"/>
                    </a:solidFill>
                  </a:tcPr>
                </a:tc>
                <a:tc>
                  <a:txBody>
                    <a:bodyPr/>
                    <a:lstStyle/>
                    <a:p>
                      <a:r>
                        <a:rPr sz="900" b="1">
                          <a:solidFill>
                            <a:srgbClr val="52514E"/>
                          </a:solidFill>
                        </a:rPr>
                        <a:t>corpus</a:t>
                      </a:r>
                    </a:p>
                  </a:txBody>
                  <a:tcPr marL="45720" marR="45720" marT="27432" marB="27432">
                    <a:solidFill>
                      <a:srgbClr val="E1E0D9"/>
                    </a:solidFill>
                  </a:tcPr>
                </a:tc>
                <a:tc>
                  <a:txBody>
                    <a:bodyPr/>
                    <a:lstStyle/>
                    <a:p>
                      <a:r>
                        <a:rPr sz="900" b="1">
                          <a:solidFill>
                            <a:srgbClr val="52514E"/>
                          </a:solidFill>
                        </a:rPr>
                        <a:t>month(s)</a:t>
                      </a:r>
                    </a:p>
                  </a:txBody>
                  <a:tcPr marL="45720" marR="45720" marT="27432" marB="27432">
                    <a:solidFill>
                      <a:srgbClr val="E1E0D9"/>
                    </a:solidFill>
                  </a:tcPr>
                </a:tc>
                <a:tc>
                  <a:txBody>
                    <a:bodyPr/>
                    <a:lstStyle/>
                    <a:p>
                      <a:r>
                        <a:rPr sz="900" b="1">
                          <a:solidFill>
                            <a:srgbClr val="52514E"/>
                          </a:solidFill>
                        </a:rPr>
                        <a:t>size</a:t>
                      </a:r>
                    </a:p>
                  </a:txBody>
                  <a:tcPr marL="45720" marR="45720" marT="27432" marB="27432">
                    <a:solidFill>
                      <a:srgbClr val="E1E0D9"/>
                    </a:solidFill>
                  </a:tcPr>
                </a:tc>
                <a:tc>
                  <a:txBody>
                    <a:bodyPr/>
                    <a:lstStyle/>
                    <a:p>
                      <a:r>
                        <a:rPr sz="900" b="1">
                          <a:solidFill>
                            <a:srgbClr val="52514E"/>
                          </a:solidFill>
                        </a:rPr>
                        <a:t>made of</a:t>
                      </a:r>
                    </a:p>
                  </a:txBody>
                  <a:tcPr marL="45720" marR="45720" marT="27432" marB="27432">
                    <a:solidFill>
                      <a:srgbClr val="E1E0D9"/>
                    </a:solidFill>
                  </a:tcPr>
                </a:tc>
                <a:tc>
                  <a:txBody>
                    <a:bodyPr/>
                    <a:lstStyle/>
                    <a:p>
                      <a:r>
                        <a:rPr sz="900" b="1">
                          <a:solidFill>
                            <a:srgbClr val="52514E"/>
                          </a:solidFill>
                        </a:rPr>
                        <a:t>nearest signer release</a:t>
                      </a:r>
                    </a:p>
                  </a:txBody>
                  <a:tcPr marL="45720" marR="45720" marT="27432" marB="27432">
                    <a:solidFill>
                      <a:srgbClr val="E1E0D9"/>
                    </a:solidFill>
                  </a:tcPr>
                </a:tc>
                <a:tc>
                  <a:txBody>
                    <a:bodyPr/>
                    <a:lstStyle/>
                    <a:p>
                      <a:r>
                        <a:rPr sz="900" b="1">
                          <a:solidFill>
                            <a:srgbClr val="52514E"/>
                          </a:solidFill>
                        </a:rPr>
                        <a:t>nearest default / cap</a:t>
                      </a:r>
                    </a:p>
                  </a:txBody>
                  <a:tcPr marL="45720" marR="45720" marT="27432" marB="27432">
                    <a:solidFill>
                      <a:srgbClr val="E1E0D9"/>
                    </a:solidFill>
                  </a:tcPr>
                </a:tc>
                <a:tc>
                  <a:txBody>
                    <a:bodyPr/>
                    <a:lstStyle/>
                    <a:p>
                      <a:r>
                        <a:rPr sz="900" b="1">
                          <a:solidFill>
                            <a:srgbClr val="52514E"/>
                          </a:solidFill>
                        </a:rPr>
                        <a:t>nearest CVE</a:t>
                      </a:r>
                    </a:p>
                  </a:txBody>
                  <a:tcPr marL="45720" marR="45720" marT="27432" marB="27432">
                    <a:solidFill>
                      <a:srgbClr val="E1E0D9"/>
                    </a:solidFill>
                  </a:tcPr>
                </a:tc>
              </a:tr>
              <a:tr h="274320">
                <a:tc>
                  <a:txBody>
                    <a:bodyPr/>
                    <a:lstStyle/>
                    <a:p>
                      <a:r>
                        <a:rPr sz="850" b="0">
                          <a:solidFill>
                            <a:srgbClr val="0B0B0B"/>
                          </a:solidFill>
                        </a:rPr>
                        <a:t>1</a:t>
                      </a:r>
                    </a:p>
                  </a:txBody>
                  <a:tcPr marL="45720" marR="45720" marT="27432" marB="27432">
                    <a:solidFill>
                      <a:srgbClr val="FCFCFB"/>
                    </a:solidFill>
                  </a:tcPr>
                </a:tc>
                <a:tc>
                  <a:txBody>
                    <a:bodyPr/>
                    <a:lstStyle/>
                    <a:p>
                      <a:r>
                        <a:rPr sz="850" b="0">
                          <a:solidFill>
                            <a:srgbClr val="0B0B0B"/>
                          </a:solidFill>
                        </a:rPr>
                        <a:t>OpenINTEL .ch</a:t>
                      </a:r>
                    </a:p>
                  </a:txBody>
                  <a:tcPr marL="45720" marR="45720" marT="27432" marB="27432">
                    <a:solidFill>
                      <a:srgbClr val="FCFCFB"/>
                    </a:solidFill>
                  </a:tcPr>
                </a:tc>
                <a:tc>
                  <a:txBody>
                    <a:bodyPr/>
                    <a:lstStyle/>
                    <a:p>
                      <a:r>
                        <a:rPr sz="850" b="0">
                          <a:solidFill>
                            <a:srgbClr val="0B0B0B"/>
                          </a:solidFill>
                        </a:rPr>
                        <a:t>2021-06..2021-11</a:t>
                      </a:r>
                    </a:p>
                  </a:txBody>
                  <a:tcPr marL="45720" marR="45720" marT="27432" marB="27432">
                    <a:solidFill>
                      <a:srgbClr val="FCFCFB"/>
                    </a:solidFill>
                  </a:tcPr>
                </a:tc>
                <a:tc>
                  <a:txBody>
                    <a:bodyPr/>
                    <a:lstStyle/>
                    <a:p>
                      <a:r>
                        <a:rPr sz="850" b="0">
                          <a:solidFill>
                            <a:srgbClr val="0B0B0B"/>
                          </a:solidFill>
                        </a:rPr>
                        <a:t>+591,333  (83% -&gt; 96%)</a:t>
                      </a:r>
                    </a:p>
                  </a:txBody>
                  <a:tcPr marL="45720" marR="45720" marT="27432" marB="27432">
                    <a:solidFill>
                      <a:srgbClr val="FCFCFB"/>
                    </a:solidFill>
                  </a:tcPr>
                </a:tc>
                <a:tc>
                  <a:txBody>
                    <a:bodyPr/>
                    <a:lstStyle/>
                    <a:p>
                      <a:r>
                        <a:rPr sz="850" b="0">
                          <a:solidFill>
                            <a:srgbClr val="0B0B0B"/>
                          </a:solidFill>
                        </a:rPr>
                        <a:t>new signings</a:t>
                      </a:r>
                    </a:p>
                  </a:txBody>
                  <a:tcPr marL="45720" marR="45720" marT="27432" marB="27432">
                    <a:solidFill>
                      <a:srgbClr val="FCFCFB"/>
                    </a:solidFill>
                  </a:tcPr>
                </a:tc>
                <a:tc>
                  <a:txBody>
                    <a:bodyPr/>
                    <a:lstStyle/>
                    <a:p>
                      <a:r>
                        <a:rPr sz="850" b="0">
                          <a:solidFill>
                            <a:srgbClr val="0B0B0B"/>
                          </a:solidFill>
                        </a:rPr>
                        <a:t>BIND 9 9.16.0 (16 mo before)</a:t>
                      </a:r>
                    </a:p>
                  </a:txBody>
                  <a:tcPr marL="45720" marR="45720" marT="27432" marB="27432">
                    <a:solidFill>
                      <a:srgbClr val="FCFCFB"/>
                    </a:solidFill>
                  </a:tcPr>
                </a:tc>
                <a:tc>
                  <a:txBody>
                    <a:bodyPr/>
                    <a:lstStyle/>
                    <a:p>
                      <a:r>
                        <a:rPr sz="850" b="0">
                          <a:solidFill>
                            <a:srgbClr val="0B0B0B"/>
                          </a:solidFill>
                        </a:rPr>
                        <a:t>BIND 9 9.16.0 (16 mo before)</a:t>
                      </a:r>
                    </a:p>
                  </a:txBody>
                  <a:tcPr marL="45720" marR="45720" marT="27432" marB="27432">
                    <a:solidFill>
                      <a:srgbClr val="FCFCFB"/>
                    </a:solidFill>
                  </a:tcPr>
                </a:tc>
                <a:tc>
                  <a:txBody>
                    <a:bodyPr/>
                    <a:lstStyle/>
                    <a:p>
                      <a:r>
                        <a:rPr sz="850" b="0">
                          <a:solidFill>
                            <a:srgbClr val="0B0B0B"/>
                          </a:solidFill>
                        </a:rPr>
                        <a:t>CVE-2017-15094 (PowerDNS Rec) (41 mo before)</a:t>
                      </a:r>
                    </a:p>
                  </a:txBody>
                  <a:tcPr marL="45720" marR="45720" marT="27432" marB="27432">
                    <a:solidFill>
                      <a:srgbClr val="FCFCFB"/>
                    </a:solidFill>
                  </a:tcPr>
                </a:tc>
              </a:tr>
              <a:tr h="274320">
                <a:tc>
                  <a:txBody>
                    <a:bodyPr/>
                    <a:lstStyle/>
                    <a:p>
                      <a:r>
                        <a:rPr sz="850" b="0">
                          <a:solidFill>
                            <a:srgbClr val="0B0B0B"/>
                          </a:solidFill>
                        </a:rPr>
                        <a:t>2</a:t>
                      </a:r>
                    </a:p>
                  </a:txBody>
                  <a:tcPr marL="45720" marR="45720" marT="27432" marB="27432">
                    <a:solidFill>
                      <a:srgbClr val="FCFCFB"/>
                    </a:solidFill>
                  </a:tcPr>
                </a:tc>
                <a:tc>
                  <a:txBody>
                    <a:bodyPr/>
                    <a:lstStyle/>
                    <a:p>
                      <a:r>
                        <a:rPr sz="850" b="0">
                          <a:solidFill>
                            <a:srgbClr val="0B0B0B"/>
                          </a:solidFill>
                        </a:rPr>
                        <a:t>OpenINTEL .se</a:t>
                      </a:r>
                    </a:p>
                  </a:txBody>
                  <a:tcPr marL="45720" marR="45720" marT="27432" marB="27432">
                    <a:solidFill>
                      <a:srgbClr val="FCFCFB"/>
                    </a:solidFill>
                  </a:tcPr>
                </a:tc>
                <a:tc>
                  <a:txBody>
                    <a:bodyPr/>
                    <a:lstStyle/>
                    <a:p>
                      <a:r>
                        <a:rPr sz="850" b="0">
                          <a:solidFill>
                            <a:srgbClr val="0B0B0B"/>
                          </a:solidFill>
                        </a:rPr>
                        <a:t>2019-06..2019-07</a:t>
                      </a:r>
                    </a:p>
                  </a:txBody>
                  <a:tcPr marL="45720" marR="45720" marT="27432" marB="27432">
                    <a:solidFill>
                      <a:srgbClr val="FCFCFB"/>
                    </a:solidFill>
                  </a:tcPr>
                </a:tc>
                <a:tc>
                  <a:txBody>
                    <a:bodyPr/>
                    <a:lstStyle/>
                    <a:p>
                      <a:r>
                        <a:rPr sz="850" b="0">
                          <a:solidFill>
                            <a:srgbClr val="0B0B0B"/>
                          </a:solidFill>
                        </a:rPr>
                        <a:t>+217,437  (24% -&gt; 53%)</a:t>
                      </a:r>
                    </a:p>
                  </a:txBody>
                  <a:tcPr marL="45720" marR="45720" marT="27432" marB="27432">
                    <a:solidFill>
                      <a:srgbClr val="FCFCFB"/>
                    </a:solidFill>
                  </a:tcPr>
                </a:tc>
                <a:tc>
                  <a:txBody>
                    <a:bodyPr/>
                    <a:lstStyle/>
                    <a:p>
                      <a:r>
                        <a:rPr sz="850" b="0">
                          <a:solidFill>
                            <a:srgbClr val="0B0B0B"/>
                          </a:solidFill>
                        </a:rPr>
                        <a:t>rollovers</a:t>
                      </a:r>
                    </a:p>
                  </a:txBody>
                  <a:tcPr marL="45720" marR="45720" marT="27432" marB="27432">
                    <a:solidFill>
                      <a:srgbClr val="FCFCFB"/>
                    </a:solidFill>
                  </a:tcPr>
                </a:tc>
                <a:tc>
                  <a:txBody>
                    <a:bodyPr/>
                    <a:lstStyle/>
                    <a:p>
                      <a:r>
                        <a:rPr sz="850" b="0">
                          <a:solidFill>
                            <a:srgbClr val="0B0B0B"/>
                          </a:solidFill>
                        </a:rPr>
                        <a:t>PowerDNS Auth 4.0.0 (35 mo before)</a:t>
                      </a:r>
                    </a:p>
                  </a:txBody>
                  <a:tcPr marL="45720" marR="45720" marT="27432" marB="27432">
                    <a:solidFill>
                      <a:srgbClr val="FCFCFB"/>
                    </a:solidFill>
                  </a:tcPr>
                </a:tc>
                <a:tc>
                  <a:txBody>
                    <a:bodyPr/>
                    <a:lstStyle/>
                    <a:p>
                      <a:r>
                        <a:rPr sz="850" b="0">
                          <a:solidFill>
                            <a:srgbClr val="0B0B0B"/>
                          </a:solidFill>
                        </a:rPr>
                        <a:t>PowerDNS Auth 4.0.0 (35 mo before)</a:t>
                      </a:r>
                    </a:p>
                  </a:txBody>
                  <a:tcPr marL="45720" marR="45720" marT="27432" marB="27432">
                    <a:solidFill>
                      <a:srgbClr val="FCFCFB"/>
                    </a:solidFill>
                  </a:tcPr>
                </a:tc>
                <a:tc>
                  <a:txBody>
                    <a:bodyPr/>
                    <a:lstStyle/>
                    <a:p>
                      <a:r>
                        <a:rPr sz="850" b="0">
                          <a:solidFill>
                            <a:srgbClr val="0B0B0B"/>
                          </a:solidFill>
                        </a:rPr>
                        <a:t>CVE-2017-15094 (PowerDNS Rec) (17 mo before)</a:t>
                      </a:r>
                    </a:p>
                  </a:txBody>
                  <a:tcPr marL="45720" marR="45720" marT="27432" marB="27432">
                    <a:solidFill>
                      <a:srgbClr val="FCFCFB"/>
                    </a:solidFill>
                  </a:tcPr>
                </a:tc>
              </a:tr>
              <a:tr h="274320">
                <a:tc>
                  <a:txBody>
                    <a:bodyPr/>
                    <a:lstStyle/>
                    <a:p>
                      <a:r>
                        <a:rPr sz="850" b="0">
                          <a:solidFill>
                            <a:srgbClr val="0B0B0B"/>
                          </a:solidFill>
                        </a:rPr>
                        <a:t>3</a:t>
                      </a:r>
                    </a:p>
                  </a:txBody>
                  <a:tcPr marL="45720" marR="45720" marT="27432" marB="27432">
                    <a:solidFill>
                      <a:srgbClr val="FCFCFB"/>
                    </a:solidFill>
                  </a:tcPr>
                </a:tc>
                <a:tc>
                  <a:txBody>
                    <a:bodyPr/>
                    <a:lstStyle/>
                    <a:p>
                      <a:r>
                        <a:rPr sz="850" b="0">
                          <a:solidFill>
                            <a:srgbClr val="0B0B0B"/>
                          </a:solidFill>
                        </a:rPr>
                        <a:t>OpenINTEL .se</a:t>
                      </a:r>
                    </a:p>
                  </a:txBody>
                  <a:tcPr marL="45720" marR="45720" marT="27432" marB="27432">
                    <a:solidFill>
                      <a:srgbClr val="FCFCFB"/>
                    </a:solidFill>
                  </a:tcPr>
                </a:tc>
                <a:tc>
                  <a:txBody>
                    <a:bodyPr/>
                    <a:lstStyle/>
                    <a:p>
                      <a:r>
                        <a:rPr sz="850" b="0">
                          <a:solidFill>
                            <a:srgbClr val="0B0B0B"/>
                          </a:solidFill>
                        </a:rPr>
                        <a:t>2019-01</a:t>
                      </a:r>
                    </a:p>
                  </a:txBody>
                  <a:tcPr marL="45720" marR="45720" marT="27432" marB="27432">
                    <a:solidFill>
                      <a:srgbClr val="FCFCFB"/>
                    </a:solidFill>
                  </a:tcPr>
                </a:tc>
                <a:tc>
                  <a:txBody>
                    <a:bodyPr/>
                    <a:lstStyle/>
                    <a:p>
                      <a:r>
                        <a:rPr sz="850" b="0">
                          <a:solidFill>
                            <a:srgbClr val="0B0B0B"/>
                          </a:solidFill>
                        </a:rPr>
                        <a:t>+119,500  (4% -&gt; 21%)</a:t>
                      </a:r>
                    </a:p>
                  </a:txBody>
                  <a:tcPr marL="45720" marR="45720" marT="27432" marB="27432">
                    <a:solidFill>
                      <a:srgbClr val="FCFCFB"/>
                    </a:solidFill>
                  </a:tcPr>
                </a:tc>
                <a:tc>
                  <a:txBody>
                    <a:bodyPr/>
                    <a:lstStyle/>
                    <a:p>
                      <a:r>
                        <a:rPr sz="850" b="0">
                          <a:solidFill>
                            <a:srgbClr val="0B0B0B"/>
                          </a:solidFill>
                        </a:rPr>
                        <a:t>rollovers</a:t>
                      </a:r>
                    </a:p>
                  </a:txBody>
                  <a:tcPr marL="45720" marR="45720" marT="27432" marB="27432">
                    <a:solidFill>
                      <a:srgbClr val="FCFCFB"/>
                    </a:solidFill>
                  </a:tcPr>
                </a:tc>
                <a:tc>
                  <a:txBody>
                    <a:bodyPr/>
                    <a:lstStyle/>
                    <a:p>
                      <a:r>
                        <a:rPr sz="850" b="0">
                          <a:solidFill>
                            <a:srgbClr val="0B0B0B"/>
                          </a:solidFill>
                        </a:rPr>
                        <a:t>PowerDNS Auth 4.0.0 (30 mo before)</a:t>
                      </a:r>
                    </a:p>
                  </a:txBody>
                  <a:tcPr marL="45720" marR="45720" marT="27432" marB="27432">
                    <a:solidFill>
                      <a:srgbClr val="FCFCFB"/>
                    </a:solidFill>
                  </a:tcPr>
                </a:tc>
                <a:tc>
                  <a:txBody>
                    <a:bodyPr/>
                    <a:lstStyle/>
                    <a:p>
                      <a:r>
                        <a:rPr sz="850" b="0">
                          <a:solidFill>
                            <a:srgbClr val="0B0B0B"/>
                          </a:solidFill>
                        </a:rPr>
                        <a:t>PowerDNS Auth 4.0.0 (30 mo before)</a:t>
                      </a:r>
                    </a:p>
                  </a:txBody>
                  <a:tcPr marL="45720" marR="45720" marT="27432" marB="27432">
                    <a:solidFill>
                      <a:srgbClr val="FCFCFB"/>
                    </a:solidFill>
                  </a:tcPr>
                </a:tc>
                <a:tc>
                  <a:txBody>
                    <a:bodyPr/>
                    <a:lstStyle/>
                    <a:p>
                      <a:r>
                        <a:rPr sz="850" b="0">
                          <a:solidFill>
                            <a:srgbClr val="0B0B0B"/>
                          </a:solidFill>
                        </a:rPr>
                        <a:t>CVE-2017-15094 (PowerDNS Rec) (12 mo before)</a:t>
                      </a:r>
                    </a:p>
                  </a:txBody>
                  <a:tcPr marL="45720" marR="45720" marT="27432" marB="27432">
                    <a:solidFill>
                      <a:srgbClr val="FCFCFB"/>
                    </a:solidFill>
                  </a:tcPr>
                </a:tc>
              </a:tr>
              <a:tr h="274320">
                <a:tc>
                  <a:txBody>
                    <a:bodyPr/>
                    <a:lstStyle/>
                    <a:p>
                      <a:r>
                        <a:rPr sz="850" b="0">
                          <a:solidFill>
                            <a:srgbClr val="0B0B0B"/>
                          </a:solidFill>
                        </a:rPr>
                        <a:t>4</a:t>
                      </a:r>
                    </a:p>
                  </a:txBody>
                  <a:tcPr marL="45720" marR="45720" marT="27432" marB="27432">
                    <a:solidFill>
                      <a:srgbClr val="FCFCFB"/>
                    </a:solidFill>
                  </a:tcPr>
                </a:tc>
                <a:tc>
                  <a:txBody>
                    <a:bodyPr/>
                    <a:lstStyle/>
                    <a:p>
                      <a:r>
                        <a:rPr sz="850" b="0">
                          <a:solidFill>
                            <a:srgbClr val="0B0B0B"/>
                          </a:solidFill>
                        </a:rPr>
                        <a:t>OpenINTEL .nu</a:t>
                      </a:r>
                    </a:p>
                  </a:txBody>
                  <a:tcPr marL="45720" marR="45720" marT="27432" marB="27432">
                    <a:solidFill>
                      <a:srgbClr val="FCFCFB"/>
                    </a:solidFill>
                  </a:tcPr>
                </a:tc>
                <a:tc>
                  <a:txBody>
                    <a:bodyPr/>
                    <a:lstStyle/>
                    <a:p>
                      <a:r>
                        <a:rPr sz="850" b="0">
                          <a:solidFill>
                            <a:srgbClr val="0B0B0B"/>
                          </a:solidFill>
                        </a:rPr>
                        <a:t>2019-01</a:t>
                      </a:r>
                    </a:p>
                  </a:txBody>
                  <a:tcPr marL="45720" marR="45720" marT="27432" marB="27432">
                    <a:solidFill>
                      <a:srgbClr val="FCFCFB"/>
                    </a:solidFill>
                  </a:tcPr>
                </a:tc>
                <a:tc>
                  <a:txBody>
                    <a:bodyPr/>
                    <a:lstStyle/>
                    <a:p>
                      <a:r>
                        <a:rPr sz="850" b="0">
                          <a:solidFill>
                            <a:srgbClr val="0B0B0B"/>
                          </a:solidFill>
                        </a:rPr>
                        <a:t>+18,247  (2% -&gt; 18%)</a:t>
                      </a:r>
                    </a:p>
                  </a:txBody>
                  <a:tcPr marL="45720" marR="45720" marT="27432" marB="27432">
                    <a:solidFill>
                      <a:srgbClr val="FCFCFB"/>
                    </a:solidFill>
                  </a:tcPr>
                </a:tc>
                <a:tc>
                  <a:txBody>
                    <a:bodyPr/>
                    <a:lstStyle/>
                    <a:p>
                      <a:r>
                        <a:rPr sz="850" b="0">
                          <a:solidFill>
                            <a:srgbClr val="0B0B0B"/>
                          </a:solidFill>
                        </a:rPr>
                        <a:t>rollovers</a:t>
                      </a:r>
                    </a:p>
                  </a:txBody>
                  <a:tcPr marL="45720" marR="45720" marT="27432" marB="27432">
                    <a:solidFill>
                      <a:srgbClr val="FCFCFB"/>
                    </a:solidFill>
                  </a:tcPr>
                </a:tc>
                <a:tc>
                  <a:txBody>
                    <a:bodyPr/>
                    <a:lstStyle/>
                    <a:p>
                      <a:r>
                        <a:rPr sz="850" b="0">
                          <a:solidFill>
                            <a:srgbClr val="0B0B0B"/>
                          </a:solidFill>
                        </a:rPr>
                        <a:t>PowerDNS Auth 4.0.0 (30 mo before)</a:t>
                      </a:r>
                    </a:p>
                  </a:txBody>
                  <a:tcPr marL="45720" marR="45720" marT="27432" marB="27432">
                    <a:solidFill>
                      <a:srgbClr val="FCFCFB"/>
                    </a:solidFill>
                  </a:tcPr>
                </a:tc>
                <a:tc>
                  <a:txBody>
                    <a:bodyPr/>
                    <a:lstStyle/>
                    <a:p>
                      <a:r>
                        <a:rPr sz="850" b="0">
                          <a:solidFill>
                            <a:srgbClr val="0B0B0B"/>
                          </a:solidFill>
                        </a:rPr>
                        <a:t>PowerDNS Auth 4.0.0 (30 mo before)</a:t>
                      </a:r>
                    </a:p>
                  </a:txBody>
                  <a:tcPr marL="45720" marR="45720" marT="27432" marB="27432">
                    <a:solidFill>
                      <a:srgbClr val="FCFCFB"/>
                    </a:solidFill>
                  </a:tcPr>
                </a:tc>
                <a:tc>
                  <a:txBody>
                    <a:bodyPr/>
                    <a:lstStyle/>
                    <a:p>
                      <a:r>
                        <a:rPr sz="850" b="0">
                          <a:solidFill>
                            <a:srgbClr val="0B0B0B"/>
                          </a:solidFill>
                        </a:rPr>
                        <a:t>CVE-2017-15094 (PowerDNS Rec) (12 mo before)</a:t>
                      </a:r>
                    </a:p>
                  </a:txBody>
                  <a:tcPr marL="45720" marR="45720" marT="27432" marB="27432">
                    <a:solidFill>
                      <a:srgbClr val="FCFCFB"/>
                    </a:solidFill>
                  </a:tcPr>
                </a:tc>
              </a:tr>
              <a:tr h="274320">
                <a:tc>
                  <a:txBody>
                    <a:bodyPr/>
                    <a:lstStyle/>
                    <a:p>
                      <a:r>
                        <a:rPr sz="850" b="0">
                          <a:solidFill>
                            <a:srgbClr val="0B0B0B"/>
                          </a:solidFill>
                        </a:rPr>
                        <a:t>5</a:t>
                      </a:r>
                    </a:p>
                  </a:txBody>
                  <a:tcPr marL="45720" marR="45720" marT="27432" marB="27432">
                    <a:solidFill>
                      <a:srgbClr val="FCFCFB"/>
                    </a:solidFill>
                  </a:tcPr>
                </a:tc>
                <a:tc>
                  <a:txBody>
                    <a:bodyPr/>
                    <a:lstStyle/>
                    <a:p>
                      <a:r>
                        <a:rPr sz="850" b="0">
                          <a:solidFill>
                            <a:srgbClr val="0B0B0B"/>
                          </a:solidFill>
                        </a:rPr>
                        <a:t>OpenINTEL .se</a:t>
                      </a:r>
                    </a:p>
                  </a:txBody>
                  <a:tcPr marL="45720" marR="45720" marT="27432" marB="27432">
                    <a:solidFill>
                      <a:srgbClr val="FCFCFB"/>
                    </a:solidFill>
                  </a:tcPr>
                </a:tc>
                <a:tc>
                  <a:txBody>
                    <a:bodyPr/>
                    <a:lstStyle/>
                    <a:p>
                      <a:r>
                        <a:rPr sz="850" b="0">
                          <a:solidFill>
                            <a:srgbClr val="0B0B0B"/>
                          </a:solidFill>
                        </a:rPr>
                        <a:t>2016-10..2016-11</a:t>
                      </a:r>
                    </a:p>
                  </a:txBody>
                  <a:tcPr marL="45720" marR="45720" marT="27432" marB="27432">
                    <a:solidFill>
                      <a:srgbClr val="FCFCFB"/>
                    </a:solidFill>
                  </a:tcPr>
                </a:tc>
                <a:tc>
                  <a:txBody>
                    <a:bodyPr/>
                    <a:lstStyle/>
                    <a:p>
                      <a:r>
                        <a:rPr sz="850" b="0">
                          <a:solidFill>
                            <a:srgbClr val="0B0B0B"/>
                          </a:solidFill>
                        </a:rPr>
                        <a:t>+17,193  (0% -&gt; 2%)</a:t>
                      </a:r>
                    </a:p>
                  </a:txBody>
                  <a:tcPr marL="45720" marR="45720" marT="27432" marB="27432">
                    <a:solidFill>
                      <a:srgbClr val="FCFCFB"/>
                    </a:solidFill>
                  </a:tcPr>
                </a:tc>
                <a:tc>
                  <a:txBody>
                    <a:bodyPr/>
                    <a:lstStyle/>
                    <a:p>
                      <a:r>
                        <a:rPr sz="850" b="0">
                          <a:solidFill>
                            <a:srgbClr val="0B0B0B"/>
                          </a:solidFill>
                        </a:rPr>
                        <a:t>mixed: &gt;=10,748 rolled</a:t>
                      </a:r>
                    </a:p>
                  </a:txBody>
                  <a:tcPr marL="45720" marR="45720" marT="27432" marB="27432">
                    <a:solidFill>
                      <a:srgbClr val="FCFCFB"/>
                    </a:solidFill>
                  </a:tcPr>
                </a:tc>
                <a:tc>
                  <a:txBody>
                    <a:bodyPr/>
                    <a:lstStyle/>
                    <a:p>
                      <a:r>
                        <a:rPr sz="850" b="0">
                          <a:solidFill>
                            <a:srgbClr val="0B0B0B"/>
                          </a:solidFill>
                        </a:rPr>
                        <a:t>PowerDNS Auth 4.0.0 (3 mo before)</a:t>
                      </a:r>
                    </a:p>
                  </a:txBody>
                  <a:tcPr marL="45720" marR="45720" marT="27432" marB="27432">
                    <a:solidFill>
                      <a:srgbClr val="FCFCFB"/>
                    </a:solidFill>
                  </a:tcPr>
                </a:tc>
                <a:tc>
                  <a:txBody>
                    <a:bodyPr/>
                    <a:lstStyle/>
                    <a:p>
                      <a:r>
                        <a:rPr sz="850" b="0">
                          <a:solidFill>
                            <a:srgbClr val="0B0B0B"/>
                          </a:solidFill>
                        </a:rPr>
                        <a:t>PowerDNS Auth 4.0.0 (3 mo before)</a:t>
                      </a:r>
                    </a:p>
                  </a:txBody>
                  <a:tcPr marL="45720" marR="45720" marT="27432" marB="27432">
                    <a:solidFill>
                      <a:srgbClr val="FCFCFB"/>
                    </a:solidFill>
                  </a:tcPr>
                </a:tc>
                <a:tc>
                  <a:txBody>
                    <a:bodyPr/>
                    <a:lstStyle/>
                    <a:p>
                      <a:r>
                        <a:rPr sz="850" b="0">
                          <a:solidFill>
                            <a:srgbClr val="0B0B0B"/>
                          </a:solidFill>
                        </a:rPr>
                        <a:t>-</a:t>
                      </a:r>
                    </a:p>
                  </a:txBody>
                  <a:tcPr marL="45720" marR="45720" marT="27432" marB="27432">
                    <a:solidFill>
                      <a:srgbClr val="FCFCFB"/>
                    </a:solidFill>
                  </a:tcPr>
                </a:tc>
              </a:tr>
              <a:tr h="274320">
                <a:tc>
                  <a:txBody>
                    <a:bodyPr/>
                    <a:lstStyle/>
                    <a:p>
                      <a:r>
                        <a:rPr sz="850" b="0">
                          <a:solidFill>
                            <a:srgbClr val="0B0B0B"/>
                          </a:solidFill>
                        </a:rPr>
                        <a:t>6</a:t>
                      </a:r>
                    </a:p>
                  </a:txBody>
                  <a:tcPr marL="45720" marR="45720" marT="27432" marB="27432">
                    <a:solidFill>
                      <a:srgbClr val="FCFCFB"/>
                    </a:solidFill>
                  </a:tcPr>
                </a:tc>
                <a:tc>
                  <a:txBody>
                    <a:bodyPr/>
                    <a:lstStyle/>
                    <a:p>
                      <a:r>
                        <a:rPr sz="850" b="0">
                          <a:solidFill>
                            <a:srgbClr val="0B0B0B"/>
                          </a:solidFill>
                        </a:rPr>
                        <a:t>OpenINTEL .se</a:t>
                      </a:r>
                    </a:p>
                  </a:txBody>
                  <a:tcPr marL="45720" marR="45720" marT="27432" marB="27432">
                    <a:solidFill>
                      <a:srgbClr val="FCFCFB"/>
                    </a:solidFill>
                  </a:tcPr>
                </a:tc>
                <a:tc>
                  <a:txBody>
                    <a:bodyPr/>
                    <a:lstStyle/>
                    <a:p>
                      <a:r>
                        <a:rPr sz="850" b="0">
                          <a:solidFill>
                            <a:srgbClr val="0B0B0B"/>
                          </a:solidFill>
                        </a:rPr>
                        <a:t>2017-04</a:t>
                      </a:r>
                    </a:p>
                  </a:txBody>
                  <a:tcPr marL="45720" marR="45720" marT="27432" marB="27432">
                    <a:solidFill>
                      <a:srgbClr val="FCFCFB"/>
                    </a:solidFill>
                  </a:tcPr>
                </a:tc>
                <a:tc>
                  <a:txBody>
                    <a:bodyPr/>
                    <a:lstStyle/>
                    <a:p>
                      <a:r>
                        <a:rPr sz="850" b="0">
                          <a:solidFill>
                            <a:srgbClr val="0B0B0B"/>
                          </a:solidFill>
                        </a:rPr>
                        <a:t>+16,925  (2% -&gt; 5%)</a:t>
                      </a:r>
                    </a:p>
                  </a:txBody>
                  <a:tcPr marL="45720" marR="45720" marT="27432" marB="27432">
                    <a:solidFill>
                      <a:srgbClr val="FCFCFB"/>
                    </a:solidFill>
                  </a:tcPr>
                </a:tc>
                <a:tc>
                  <a:txBody>
                    <a:bodyPr/>
                    <a:lstStyle/>
                    <a:p>
                      <a:r>
                        <a:rPr sz="850" b="0">
                          <a:solidFill>
                            <a:srgbClr val="0B0B0B"/>
                          </a:solidFill>
                        </a:rPr>
                        <a:t>new signings</a:t>
                      </a:r>
                    </a:p>
                  </a:txBody>
                  <a:tcPr marL="45720" marR="45720" marT="27432" marB="27432">
                    <a:solidFill>
                      <a:srgbClr val="FCFCFB"/>
                    </a:solidFill>
                  </a:tcPr>
                </a:tc>
                <a:tc>
                  <a:txBody>
                    <a:bodyPr/>
                    <a:lstStyle/>
                    <a:p>
                      <a:r>
                        <a:rPr sz="850" b="0">
                          <a:solidFill>
                            <a:srgbClr val="0B0B0B"/>
                          </a:solidFill>
                        </a:rPr>
                        <a:t>PowerDNS Auth 4.0.0 (9 mo before)</a:t>
                      </a:r>
                    </a:p>
                  </a:txBody>
                  <a:tcPr marL="45720" marR="45720" marT="27432" marB="27432">
                    <a:solidFill>
                      <a:srgbClr val="FCFCFB"/>
                    </a:solidFill>
                  </a:tcPr>
                </a:tc>
                <a:tc>
                  <a:txBody>
                    <a:bodyPr/>
                    <a:lstStyle/>
                    <a:p>
                      <a:r>
                        <a:rPr sz="850" b="0">
                          <a:solidFill>
                            <a:srgbClr val="0B0B0B"/>
                          </a:solidFill>
                        </a:rPr>
                        <a:t>PowerDNS Auth 4.0.0 (9 mo before)</a:t>
                      </a:r>
                    </a:p>
                  </a:txBody>
                  <a:tcPr marL="45720" marR="45720" marT="27432" marB="27432">
                    <a:solidFill>
                      <a:srgbClr val="FCFCFB"/>
                    </a:solidFill>
                  </a:tcPr>
                </a:tc>
                <a:tc>
                  <a:txBody>
                    <a:bodyPr/>
                    <a:lstStyle/>
                    <a:p>
                      <a:r>
                        <a:rPr sz="850" b="0">
                          <a:solidFill>
                            <a:srgbClr val="0B0B0B"/>
                          </a:solidFill>
                        </a:rPr>
                        <a:t>-</a:t>
                      </a:r>
                    </a:p>
                  </a:txBody>
                  <a:tcPr marL="45720" marR="45720" marT="27432" marB="27432">
                    <a:solidFill>
                      <a:srgbClr val="FCFCFB"/>
                    </a:solidFill>
                  </a:tcPr>
                </a:tc>
              </a:tr>
              <a:tr h="274320">
                <a:tc>
                  <a:txBody>
                    <a:bodyPr/>
                    <a:lstStyle/>
                    <a:p>
                      <a:r>
                        <a:rPr sz="850" b="0">
                          <a:solidFill>
                            <a:srgbClr val="0B0B0B"/>
                          </a:solidFill>
                        </a:rPr>
                        <a:t>7</a:t>
                      </a:r>
                    </a:p>
                  </a:txBody>
                  <a:tcPr marL="45720" marR="45720" marT="27432" marB="27432">
                    <a:solidFill>
                      <a:srgbClr val="FCFCFB"/>
                    </a:solidFill>
                  </a:tcPr>
                </a:tc>
                <a:tc>
                  <a:txBody>
                    <a:bodyPr/>
                    <a:lstStyle/>
                    <a:p>
                      <a:r>
                        <a:rPr sz="850" b="0">
                          <a:solidFill>
                            <a:srgbClr val="0B0B0B"/>
                          </a:solidFill>
                        </a:rPr>
                        <a:t>OpenINTEL .nu</a:t>
                      </a:r>
                    </a:p>
                  </a:txBody>
                  <a:tcPr marL="45720" marR="45720" marT="27432" marB="27432">
                    <a:solidFill>
                      <a:srgbClr val="FCFCFB"/>
                    </a:solidFill>
                  </a:tcPr>
                </a:tc>
                <a:tc>
                  <a:txBody>
                    <a:bodyPr/>
                    <a:lstStyle/>
                    <a:p>
                      <a:r>
                        <a:rPr sz="850" b="0">
                          <a:solidFill>
                            <a:srgbClr val="0B0B0B"/>
                          </a:solidFill>
                        </a:rPr>
                        <a:t>2019-11</a:t>
                      </a:r>
                    </a:p>
                  </a:txBody>
                  <a:tcPr marL="45720" marR="45720" marT="27432" marB="27432">
                    <a:solidFill>
                      <a:srgbClr val="FCFCFB"/>
                    </a:solidFill>
                  </a:tcPr>
                </a:tc>
                <a:tc>
                  <a:txBody>
                    <a:bodyPr/>
                    <a:lstStyle/>
                    <a:p>
                      <a:r>
                        <a:rPr sz="850" b="0">
                          <a:solidFill>
                            <a:srgbClr val="0B0B0B"/>
                          </a:solidFill>
                        </a:rPr>
                        <a:t>+9,697  (29% -&gt; 37%)</a:t>
                      </a:r>
                    </a:p>
                  </a:txBody>
                  <a:tcPr marL="45720" marR="45720" marT="27432" marB="27432">
                    <a:solidFill>
                      <a:srgbClr val="FCFCFB"/>
                    </a:solidFill>
                  </a:tcPr>
                </a:tc>
                <a:tc>
                  <a:txBody>
                    <a:bodyPr/>
                    <a:lstStyle/>
                    <a:p>
                      <a:r>
                        <a:rPr sz="850" b="0">
                          <a:solidFill>
                            <a:srgbClr val="0B0B0B"/>
                          </a:solidFill>
                        </a:rPr>
                        <a:t>mixed: &gt;=9,664 rolled</a:t>
                      </a:r>
                    </a:p>
                  </a:txBody>
                  <a:tcPr marL="45720" marR="45720" marT="27432" marB="27432">
                    <a:solidFill>
                      <a:srgbClr val="FCFCFB"/>
                    </a:solidFill>
                  </a:tcPr>
                </a:tc>
                <a:tc>
                  <a:txBody>
                    <a:bodyPr/>
                    <a:lstStyle/>
                    <a:p>
                      <a:r>
                        <a:rPr sz="850" b="0">
                          <a:solidFill>
                            <a:srgbClr val="0B0B0B"/>
                          </a:solidFill>
                        </a:rPr>
                        <a:t>PowerDNS Auth 4.0.0 (40 mo before)</a:t>
                      </a:r>
                    </a:p>
                  </a:txBody>
                  <a:tcPr marL="45720" marR="45720" marT="27432" marB="27432">
                    <a:solidFill>
                      <a:srgbClr val="FCFCFB"/>
                    </a:solidFill>
                  </a:tcPr>
                </a:tc>
                <a:tc>
                  <a:txBody>
                    <a:bodyPr/>
                    <a:lstStyle/>
                    <a:p>
                      <a:r>
                        <a:rPr sz="850" b="0">
                          <a:solidFill>
                            <a:srgbClr val="0B0B0B"/>
                          </a:solidFill>
                        </a:rPr>
                        <a:t>PowerDNS Auth 4.0.0 (40 mo before)</a:t>
                      </a:r>
                    </a:p>
                  </a:txBody>
                  <a:tcPr marL="45720" marR="45720" marT="27432" marB="27432">
                    <a:solidFill>
                      <a:srgbClr val="FCFCFB"/>
                    </a:solidFill>
                  </a:tcPr>
                </a:tc>
                <a:tc>
                  <a:txBody>
                    <a:bodyPr/>
                    <a:lstStyle/>
                    <a:p>
                      <a:r>
                        <a:rPr sz="850" b="0">
                          <a:solidFill>
                            <a:srgbClr val="0B0B0B"/>
                          </a:solidFill>
                        </a:rPr>
                        <a:t>CVE-2017-15094 (PowerDNS Rec) (22 mo before)</a:t>
                      </a:r>
                    </a:p>
                  </a:txBody>
                  <a:tcPr marL="45720" marR="45720" marT="27432" marB="27432">
                    <a:solidFill>
                      <a:srgbClr val="FCFCFB"/>
                    </a:solidFill>
                  </a:tcPr>
                </a:tc>
              </a:tr>
              <a:tr h="274320">
                <a:tc>
                  <a:txBody>
                    <a:bodyPr/>
                    <a:lstStyle/>
                    <a:p>
                      <a:r>
                        <a:rPr sz="850" b="0">
                          <a:solidFill>
                            <a:srgbClr val="0B0B0B"/>
                          </a:solidFill>
                        </a:rPr>
                        <a:t>8</a:t>
                      </a:r>
                    </a:p>
                  </a:txBody>
                  <a:tcPr marL="45720" marR="45720" marT="27432" marB="27432">
                    <a:solidFill>
                      <a:srgbClr val="FCFCFB"/>
                    </a:solidFill>
                  </a:tcPr>
                </a:tc>
                <a:tc>
                  <a:txBody>
                    <a:bodyPr/>
                    <a:lstStyle/>
                    <a:p>
                      <a:r>
                        <a:rPr sz="850" b="0">
                          <a:solidFill>
                            <a:srgbClr val="0B0B0B"/>
                          </a:solidFill>
                        </a:rPr>
                        <a:t>OpenINTEL .li</a:t>
                      </a:r>
                    </a:p>
                  </a:txBody>
                  <a:tcPr marL="45720" marR="45720" marT="27432" marB="27432">
                    <a:solidFill>
                      <a:srgbClr val="FCFCFB"/>
                    </a:solidFill>
                  </a:tcPr>
                </a:tc>
                <a:tc>
                  <a:txBody>
                    <a:bodyPr/>
                    <a:lstStyle/>
                    <a:p>
                      <a:r>
                        <a:rPr sz="850" b="0">
                          <a:solidFill>
                            <a:srgbClr val="0B0B0B"/>
                          </a:solidFill>
                        </a:rPr>
                        <a:t>2021-06..2021-11</a:t>
                      </a:r>
                    </a:p>
                  </a:txBody>
                  <a:tcPr marL="45720" marR="45720" marT="27432" marB="27432">
                    <a:solidFill>
                      <a:srgbClr val="FCFCFB"/>
                    </a:solidFill>
                  </a:tcPr>
                </a:tc>
                <a:tc>
                  <a:txBody>
                    <a:bodyPr/>
                    <a:lstStyle/>
                    <a:p>
                      <a:r>
                        <a:rPr sz="850" b="0">
                          <a:solidFill>
                            <a:srgbClr val="0B0B0B"/>
                          </a:solidFill>
                        </a:rPr>
                        <a:t>+8,047  (50% -&gt; 88%)</a:t>
                      </a:r>
                    </a:p>
                  </a:txBody>
                  <a:tcPr marL="45720" marR="45720" marT="27432" marB="27432">
                    <a:solidFill>
                      <a:srgbClr val="FCFCFB"/>
                    </a:solidFill>
                  </a:tcPr>
                </a:tc>
                <a:tc>
                  <a:txBody>
                    <a:bodyPr/>
                    <a:lstStyle/>
                    <a:p>
                      <a:r>
                        <a:rPr sz="850" b="0">
                          <a:solidFill>
                            <a:srgbClr val="0B0B0B"/>
                          </a:solidFill>
                        </a:rPr>
                        <a:t>new signings</a:t>
                      </a:r>
                    </a:p>
                  </a:txBody>
                  <a:tcPr marL="45720" marR="45720" marT="27432" marB="27432">
                    <a:solidFill>
                      <a:srgbClr val="FCFCFB"/>
                    </a:solidFill>
                  </a:tcPr>
                </a:tc>
                <a:tc>
                  <a:txBody>
                    <a:bodyPr/>
                    <a:lstStyle/>
                    <a:p>
                      <a:r>
                        <a:rPr sz="850" b="0">
                          <a:solidFill>
                            <a:srgbClr val="0B0B0B"/>
                          </a:solidFill>
                        </a:rPr>
                        <a:t>BIND 9 9.16.0 (16 mo before)</a:t>
                      </a:r>
                    </a:p>
                  </a:txBody>
                  <a:tcPr marL="45720" marR="45720" marT="27432" marB="27432">
                    <a:solidFill>
                      <a:srgbClr val="FCFCFB"/>
                    </a:solidFill>
                  </a:tcPr>
                </a:tc>
                <a:tc>
                  <a:txBody>
                    <a:bodyPr/>
                    <a:lstStyle/>
                    <a:p>
                      <a:r>
                        <a:rPr sz="850" b="0">
                          <a:solidFill>
                            <a:srgbClr val="0B0B0B"/>
                          </a:solidFill>
                        </a:rPr>
                        <a:t>BIND 9 9.16.0 (16 mo before)</a:t>
                      </a:r>
                    </a:p>
                  </a:txBody>
                  <a:tcPr marL="45720" marR="45720" marT="27432" marB="27432">
                    <a:solidFill>
                      <a:srgbClr val="FCFCFB"/>
                    </a:solidFill>
                  </a:tcPr>
                </a:tc>
                <a:tc>
                  <a:txBody>
                    <a:bodyPr/>
                    <a:lstStyle/>
                    <a:p>
                      <a:r>
                        <a:rPr sz="850" b="0">
                          <a:solidFill>
                            <a:srgbClr val="0B0B0B"/>
                          </a:solidFill>
                        </a:rPr>
                        <a:t>CVE-2017-15094 (PowerDNS Rec) (41 mo before)</a:t>
                      </a:r>
                    </a:p>
                  </a:txBody>
                  <a:tcPr marL="45720" marR="45720" marT="27432" marB="27432">
                    <a:solidFill>
                      <a:srgbClr val="FCFCFB"/>
                    </a:solidFill>
                  </a:tcPr>
                </a:tc>
              </a:tr>
            </a:tbl>
          </a:graphicData>
        </a:graphic>
      </p:graphicFrame>
      <p:sp>
        <p:nvSpPr>
          <p:cNvPr id="5" name="TextBox 4"/>
          <p:cNvSpPr txBox="1"/>
          <p:nvPr/>
        </p:nvSpPr>
        <p:spPr>
          <a:xfrm>
            <a:off x="566928" y="3831336"/>
            <a:ext cx="11064240" cy="2377440"/>
          </a:xfrm>
          <a:prstGeom prst="rect">
            <a:avLst/>
          </a:prstGeom>
          <a:noFill/>
        </p:spPr>
        <p:txBody>
          <a:bodyPr wrap="square">
            <a:spAutoFit/>
          </a:bodyPr>
          <a:lstStyle/>
          <a:p>
            <a:pPr>
              <a:spcAft>
                <a:spcPts val="500"/>
              </a:spcAft>
            </a:pPr>
            <a:r>
              <a:rPr sz="1050" b="0">
                <a:solidFill>
                  <a:srgbClr val="0B0B0B"/>
                </a:solidFill>
                <a:latin typeface="Segoe UI"/>
              </a:rPr>
              <a:t>The first ECDSA move in the forward corpus is .se 2016-10: +17,193 zones, 3 months after PowerDNS Auth 4.0.0 made ECDSA its default (2016-07), and 10,748 of them were existing zones rolling over -- a deliberate migration by whoever runs them, not an update side-effect.</a:t>
            </a:r>
          </a:p>
          <a:p>
            <a:pPr>
              <a:spcAft>
                <a:spcPts val="500"/>
              </a:spcAft>
            </a:pPr>
            <a:r>
              <a:rPr sz="1050" b="0">
                <a:solidFill>
                  <a:srgbClr val="0B0B0B"/>
                </a:solidFill>
                <a:latin typeface="Segoe UI"/>
              </a:rPr>
              <a:t>In .se the moves that took ECDSA to the majority came much later and were entirely rollovers: 2019-01 +119,500 (30 months after that default) and .se 2019-06 +217,437. The largest of all, .ch 2021-06..2021-11 +591,333, was a signing wave in which the new zones chose ECDSA 99% of the time (that is the flow share of the zones that became signed, not the stock share of ECDSA among all signed .ch zones, which ended at 96%). By 2021 every signer default had been ECDSA for five years. .nu instead crossed 50% on new signings in 2022-01, and .ch and .li were already past it on entry.</a:t>
            </a:r>
          </a:p>
          <a:p>
            <a:pPr>
              <a:spcAft>
                <a:spcPts val="500"/>
              </a:spcAft>
            </a:pPr>
            <a:r>
              <a:rPr sz="1050" b="0">
                <a:solidFill>
                  <a:srgbClr val="0B0B0B"/>
                </a:solidFill>
                <a:latin typeface="Segoe UI"/>
              </a:rPr>
              <a:t>Chance check: 2 of 31 spikes fall within 3 months after a default change; a random forward month does so 9% of the time, so about 2.3 would be expected by luck. CVEs: 2 spikes within 3 months of one, both after CVE-2022-38177 -- a validator memory leak, not a reason to sign with ECDSA.</a:t>
            </a:r>
          </a:p>
          <a:p>
            <a:pPr>
              <a:spcAft>
                <a:spcPts val="500"/>
              </a:spcAft>
            </a:pPr>
            <a:r>
              <a:rPr sz="1050" b="0">
                <a:solidFill>
                  <a:srgbClr val="0B0B0B"/>
                </a:solidFill>
                <a:latin typeface="Segoe UI"/>
              </a:rPr>
              <a:t>Reverse DNS shows operators switching in batches, not diffusing, and the trigger cannot be identified. New signings ignored the Knot 2.1.0 and PowerDNS 4.0.0 defaults on their upstream dates (0.2% -&gt; 0.3% and 0.3% -&gt; 0.2%), then stepped 4 times: 2017Q3, 2019Q1, 2019Q4, 2020Q3. The first is 157 signings of which 155 fall in one month, all but 2 in APNIC, one parent block 40% of it. Each step has a different OS release behind it and 31% of all months follow some OS release within 3 months anyway.</a:t>
            </a:r>
          </a:p>
        </p:txBody>
      </p:sp>
      <p:sp>
        <p:nvSpPr>
          <p:cNvPr id="6" name="TextBox 5"/>
          <p:cNvSpPr txBox="1"/>
          <p:nvPr/>
        </p:nvSpPr>
        <p:spPr>
          <a:xfrm>
            <a:off x="566928" y="6263640"/>
            <a:ext cx="11064240" cy="457200"/>
          </a:xfrm>
          <a:prstGeom prst="rect">
            <a:avLst/>
          </a:prstGeom>
          <a:noFill/>
        </p:spPr>
        <p:txBody>
          <a:bodyPr wrap="square">
            <a:spAutoFit/>
          </a:bodyPr>
          <a:lstStyle/>
          <a:p>
            <a:pPr>
              <a:spcAft>
                <a:spcPts val="600"/>
              </a:spcAft>
            </a:pPr>
            <a:r>
              <a:rPr sz="850" b="0">
                <a:solidFill>
                  <a:srgbClr val="898781"/>
                </a:solidFill>
                <a:latin typeface="Segoe UI"/>
              </a:rPr>
              <a:t>31 spikes (17 OpenINTEL, 14 reverse). Within 3 months after: signer release 2, default change 2, validator cap 0, CVE 2, any DNS release 31. Chance that a random month is within 3 months after a default change: forward 9%, reverse 6%. Full ledger: out/analysis/dns_program_rfc_spikes.csv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THE AUTO-UPDATE TEST  ·  RFC 6605</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200" b="1">
                <a:solidFill>
                  <a:srgbClr val="0B0B0B"/>
                </a:solidFill>
                <a:latin typeface="Segoe UI"/>
              </a:rPr>
              <a:t>Did newly signed reverse delegations pick up the new default?</a:t>
            </a:r>
          </a:p>
        </p:txBody>
      </p:sp>
      <p:pic>
        <p:nvPicPr>
          <p:cNvPr id="4" name="Picture 3" descr="rfc_6605_new_signings.png"/>
          <p:cNvPicPr>
            <a:picLocks noChangeAspect="1"/>
          </p:cNvPicPr>
          <p:nvPr/>
        </p:nvPicPr>
        <p:blipFill>
          <a:blip r:embed="rId2"/>
          <a:stretch>
            <a:fillRect/>
          </a:stretch>
        </p:blipFill>
        <p:spPr>
          <a:xfrm>
            <a:off x="2070499" y="1143000"/>
            <a:ext cx="8050696" cy="2468880"/>
          </a:xfrm>
          <a:prstGeom prst="rect">
            <a:avLst/>
          </a:prstGeom>
        </p:spPr>
      </p:pic>
      <p:graphicFrame>
        <p:nvGraphicFramePr>
          <p:cNvPr id="5" name="Table 4"/>
          <p:cNvGraphicFramePr>
            <a:graphicFrameLocks noGrp="1"/>
          </p:cNvGraphicFramePr>
          <p:nvPr/>
        </p:nvGraphicFramePr>
        <p:xfrm>
          <a:off x="731520" y="3749039"/>
          <a:ext cx="11247120" cy="1920240"/>
        </p:xfrm>
        <a:graphic>
          <a:graphicData uri="http://schemas.openxmlformats.org/drawingml/2006/table">
            <a:tbl>
              <a:tblPr firstRow="1" bandRow="1">
                <a:tableStyleId>{5C22544A-7EE6-4342-B048-85BDC9FD1C3A}</a:tableStyleId>
              </a:tblPr>
              <a:tblGrid>
                <a:gridCol w="3017520"/>
                <a:gridCol w="822960"/>
                <a:gridCol w="822960"/>
                <a:gridCol w="1554480"/>
                <a:gridCol w="1737360"/>
                <a:gridCol w="1554480"/>
                <a:gridCol w="1737360"/>
              </a:tblGrid>
              <a:tr h="274320">
                <a:tc>
                  <a:txBody>
                    <a:bodyPr/>
                    <a:lstStyle/>
                    <a:p>
                      <a:r>
                        <a:rPr sz="900" b="1">
                          <a:solidFill>
                            <a:srgbClr val="52514E"/>
                          </a:solidFill>
                        </a:rPr>
                        <a:t>release</a:t>
                      </a:r>
                    </a:p>
                  </a:txBody>
                  <a:tcPr marL="45720" marR="45720" marT="27432" marB="27432">
                    <a:solidFill>
                      <a:srgbClr val="E1E0D9"/>
                    </a:solidFill>
                  </a:tcPr>
                </a:tc>
                <a:tc>
                  <a:txBody>
                    <a:bodyPr/>
                    <a:lstStyle/>
                    <a:p>
                      <a:r>
                        <a:rPr sz="900" b="1">
                          <a:solidFill>
                            <a:srgbClr val="52514E"/>
                          </a:solidFill>
                        </a:rPr>
                        <a:t>kind</a:t>
                      </a:r>
                    </a:p>
                  </a:txBody>
                  <a:tcPr marL="45720" marR="45720" marT="27432" marB="27432">
                    <a:solidFill>
                      <a:srgbClr val="E1E0D9"/>
                    </a:solidFill>
                  </a:tcPr>
                </a:tc>
                <a:tc>
                  <a:txBody>
                    <a:bodyPr/>
                    <a:lstStyle/>
                    <a:p>
                      <a:r>
                        <a:rPr sz="900" b="1">
                          <a:solidFill>
                            <a:srgbClr val="52514E"/>
                          </a:solidFill>
                        </a:rPr>
                        <a:t>date</a:t>
                      </a:r>
                    </a:p>
                  </a:txBody>
                  <a:tcPr marL="45720" marR="45720" marT="27432" marB="27432">
                    <a:solidFill>
                      <a:srgbClr val="E1E0D9"/>
                    </a:solidFill>
                  </a:tcPr>
                </a:tc>
                <a:tc>
                  <a:txBody>
                    <a:bodyPr/>
                    <a:lstStyle/>
                    <a:p>
                      <a:r>
                        <a:rPr sz="900" b="1">
                          <a:solidFill>
                            <a:srgbClr val="52514E"/>
                          </a:solidFill>
                        </a:rPr>
                        <a:t>new signings, 12 mo before</a:t>
                      </a:r>
                    </a:p>
                  </a:txBody>
                  <a:tcPr marL="45720" marR="45720" marT="27432" marB="27432">
                    <a:solidFill>
                      <a:srgbClr val="E1E0D9"/>
                    </a:solidFill>
                  </a:tcPr>
                </a:tc>
                <a:tc>
                  <a:txBody>
                    <a:bodyPr/>
                    <a:lstStyle/>
                    <a:p>
                      <a:r>
                        <a:rPr sz="900" b="1">
                          <a:solidFill>
                            <a:srgbClr val="52514E"/>
                          </a:solidFill>
                        </a:rPr>
                        <a:t>share choosing it</a:t>
                      </a:r>
                    </a:p>
                  </a:txBody>
                  <a:tcPr marL="45720" marR="45720" marT="27432" marB="27432">
                    <a:solidFill>
                      <a:srgbClr val="E1E0D9"/>
                    </a:solidFill>
                  </a:tcPr>
                </a:tc>
                <a:tc>
                  <a:txBody>
                    <a:bodyPr/>
                    <a:lstStyle/>
                    <a:p>
                      <a:r>
                        <a:rPr sz="900" b="1">
                          <a:solidFill>
                            <a:srgbClr val="52514E"/>
                          </a:solidFill>
                        </a:rPr>
                        <a:t>new signings, 12 mo after</a:t>
                      </a:r>
                    </a:p>
                  </a:txBody>
                  <a:tcPr marL="45720" marR="45720" marT="27432" marB="27432">
                    <a:solidFill>
                      <a:srgbClr val="E1E0D9"/>
                    </a:solidFill>
                  </a:tcPr>
                </a:tc>
                <a:tc>
                  <a:txBody>
                    <a:bodyPr/>
                    <a:lstStyle/>
                    <a:p>
                      <a:r>
                        <a:rPr sz="900" b="1">
                          <a:solidFill>
                            <a:srgbClr val="52514E"/>
                          </a:solidFill>
                        </a:rPr>
                        <a:t>share choosing it</a:t>
                      </a:r>
                    </a:p>
                  </a:txBody>
                  <a:tcPr marL="45720" marR="45720" marT="27432" marB="27432">
                    <a:solidFill>
                      <a:srgbClr val="E1E0D9"/>
                    </a:solidFill>
                  </a:tcPr>
                </a:tc>
              </a:tr>
              <a:tr h="274320">
                <a:tc>
                  <a:txBody>
                    <a:bodyPr/>
                    <a:lstStyle/>
                    <a:p>
                      <a:r>
                        <a:rPr sz="850" b="0">
                          <a:solidFill>
                            <a:srgbClr val="0B0B0B"/>
                          </a:solidFill>
                        </a:rPr>
                        <a:t>Knot DNS 2.1.0</a:t>
                      </a:r>
                    </a:p>
                  </a:txBody>
                  <a:tcPr marL="45720" marR="45720" marT="27432" marB="27432">
                    <a:solidFill>
                      <a:srgbClr val="FCFCFB"/>
                    </a:solidFill>
                  </a:tcPr>
                </a:tc>
                <a:tc>
                  <a:txBody>
                    <a:bodyPr/>
                    <a:lstStyle/>
                    <a:p>
                      <a:r>
                        <a:rPr sz="850" b="0">
                          <a:solidFill>
                            <a:srgbClr val="0B0B0B"/>
                          </a:solidFill>
                        </a:rPr>
                        <a:t>default</a:t>
                      </a:r>
                    </a:p>
                  </a:txBody>
                  <a:tcPr marL="45720" marR="45720" marT="27432" marB="27432">
                    <a:solidFill>
                      <a:srgbClr val="FCFCFB"/>
                    </a:solidFill>
                  </a:tcPr>
                </a:tc>
                <a:tc>
                  <a:txBody>
                    <a:bodyPr/>
                    <a:lstStyle/>
                    <a:p>
                      <a:r>
                        <a:rPr sz="850" b="0">
                          <a:solidFill>
                            <a:srgbClr val="0B0B0B"/>
                          </a:solidFill>
                        </a:rPr>
                        <a:t>2016-01</a:t>
                      </a:r>
                    </a:p>
                  </a:txBody>
                  <a:tcPr marL="45720" marR="45720" marT="27432" marB="27432">
                    <a:solidFill>
                      <a:srgbClr val="FCFCFB"/>
                    </a:solidFill>
                  </a:tcPr>
                </a:tc>
                <a:tc>
                  <a:txBody>
                    <a:bodyPr/>
                    <a:lstStyle/>
                    <a:p>
                      <a:r>
                        <a:rPr sz="850" b="0">
                          <a:solidFill>
                            <a:srgbClr val="0B0B0B"/>
                          </a:solidFill>
                        </a:rPr>
                        <a:t>953</a:t>
                      </a:r>
                    </a:p>
                  </a:txBody>
                  <a:tcPr marL="45720" marR="45720" marT="27432" marB="27432">
                    <a:solidFill>
                      <a:srgbClr val="FCFCFB"/>
                    </a:solidFill>
                  </a:tcPr>
                </a:tc>
                <a:tc>
                  <a:txBody>
                    <a:bodyPr/>
                    <a:lstStyle/>
                    <a:p>
                      <a:r>
                        <a:rPr sz="850" b="0">
                          <a:solidFill>
                            <a:srgbClr val="0B0B0B"/>
                          </a:solidFill>
                        </a:rPr>
                        <a:t>0.2%</a:t>
                      </a:r>
                    </a:p>
                  </a:txBody>
                  <a:tcPr marL="45720" marR="45720" marT="27432" marB="27432">
                    <a:solidFill>
                      <a:srgbClr val="FCFCFB"/>
                    </a:solidFill>
                  </a:tcPr>
                </a:tc>
                <a:tc>
                  <a:txBody>
                    <a:bodyPr/>
                    <a:lstStyle/>
                    <a:p>
                      <a:r>
                        <a:rPr sz="850" b="0">
                          <a:solidFill>
                            <a:srgbClr val="0B0B0B"/>
                          </a:solidFill>
                        </a:rPr>
                        <a:t>1199</a:t>
                      </a:r>
                    </a:p>
                  </a:txBody>
                  <a:tcPr marL="45720" marR="45720" marT="27432" marB="27432">
                    <a:solidFill>
                      <a:srgbClr val="FCFCFB"/>
                    </a:solidFill>
                  </a:tcPr>
                </a:tc>
                <a:tc>
                  <a:txBody>
                    <a:bodyPr/>
                    <a:lstStyle/>
                    <a:p>
                      <a:r>
                        <a:rPr sz="850" b="0">
                          <a:solidFill>
                            <a:srgbClr val="0B0B0B"/>
                          </a:solidFill>
                        </a:rPr>
                        <a:t>0.3%</a:t>
                      </a:r>
                    </a:p>
                  </a:txBody>
                  <a:tcPr marL="45720" marR="45720" marT="27432" marB="27432">
                    <a:solidFill>
                      <a:srgbClr val="FCFCFB"/>
                    </a:solidFill>
                  </a:tcPr>
                </a:tc>
              </a:tr>
              <a:tr h="274320">
                <a:tc>
                  <a:txBody>
                    <a:bodyPr/>
                    <a:lstStyle/>
                    <a:p>
                      <a:r>
                        <a:rPr sz="850" b="0">
                          <a:solidFill>
                            <a:srgbClr val="0B0B0B"/>
                          </a:solidFill>
                        </a:rPr>
                        <a:t>PowerDNS Auth 4.0.0</a:t>
                      </a:r>
                    </a:p>
                  </a:txBody>
                  <a:tcPr marL="45720" marR="45720" marT="27432" marB="27432">
                    <a:solidFill>
                      <a:srgbClr val="FCFCFB"/>
                    </a:solidFill>
                  </a:tcPr>
                </a:tc>
                <a:tc>
                  <a:txBody>
                    <a:bodyPr/>
                    <a:lstStyle/>
                    <a:p>
                      <a:r>
                        <a:rPr sz="850" b="0">
                          <a:solidFill>
                            <a:srgbClr val="0B0B0B"/>
                          </a:solidFill>
                        </a:rPr>
                        <a:t>default</a:t>
                      </a:r>
                    </a:p>
                  </a:txBody>
                  <a:tcPr marL="45720" marR="45720" marT="27432" marB="27432">
                    <a:solidFill>
                      <a:srgbClr val="FCFCFB"/>
                    </a:solidFill>
                  </a:tcPr>
                </a:tc>
                <a:tc>
                  <a:txBody>
                    <a:bodyPr/>
                    <a:lstStyle/>
                    <a:p>
                      <a:r>
                        <a:rPr sz="850" b="0">
                          <a:solidFill>
                            <a:srgbClr val="0B0B0B"/>
                          </a:solidFill>
                        </a:rPr>
                        <a:t>2016-07</a:t>
                      </a:r>
                    </a:p>
                  </a:txBody>
                  <a:tcPr marL="45720" marR="45720" marT="27432" marB="27432">
                    <a:solidFill>
                      <a:srgbClr val="FCFCFB"/>
                    </a:solidFill>
                  </a:tcPr>
                </a:tc>
                <a:tc>
                  <a:txBody>
                    <a:bodyPr/>
                    <a:lstStyle/>
                    <a:p>
                      <a:r>
                        <a:rPr sz="850" b="0">
                          <a:solidFill>
                            <a:srgbClr val="0B0B0B"/>
                          </a:solidFill>
                        </a:rPr>
                        <a:t>640</a:t>
                      </a:r>
                    </a:p>
                  </a:txBody>
                  <a:tcPr marL="45720" marR="45720" marT="27432" marB="27432">
                    <a:solidFill>
                      <a:srgbClr val="FCFCFB"/>
                    </a:solidFill>
                  </a:tcPr>
                </a:tc>
                <a:tc>
                  <a:txBody>
                    <a:bodyPr/>
                    <a:lstStyle/>
                    <a:p>
                      <a:r>
                        <a:rPr sz="850" b="0">
                          <a:solidFill>
                            <a:srgbClr val="0B0B0B"/>
                          </a:solidFill>
                        </a:rPr>
                        <a:t>0.3%</a:t>
                      </a:r>
                    </a:p>
                  </a:txBody>
                  <a:tcPr marL="45720" marR="45720" marT="27432" marB="27432">
                    <a:solidFill>
                      <a:srgbClr val="FCFCFB"/>
                    </a:solidFill>
                  </a:tcPr>
                </a:tc>
                <a:tc>
                  <a:txBody>
                    <a:bodyPr/>
                    <a:lstStyle/>
                    <a:p>
                      <a:r>
                        <a:rPr sz="850" b="0">
                          <a:solidFill>
                            <a:srgbClr val="0B0B0B"/>
                          </a:solidFill>
                        </a:rPr>
                        <a:t>1338</a:t>
                      </a:r>
                    </a:p>
                  </a:txBody>
                  <a:tcPr marL="45720" marR="45720" marT="27432" marB="27432">
                    <a:solidFill>
                      <a:srgbClr val="FCFCFB"/>
                    </a:solidFill>
                  </a:tcPr>
                </a:tc>
                <a:tc>
                  <a:txBody>
                    <a:bodyPr/>
                    <a:lstStyle/>
                    <a:p>
                      <a:r>
                        <a:rPr sz="850" b="0">
                          <a:solidFill>
                            <a:srgbClr val="0B0B0B"/>
                          </a:solidFill>
                        </a:rPr>
                        <a:t>0.2%</a:t>
                      </a:r>
                    </a:p>
                  </a:txBody>
                  <a:tcPr marL="45720" marR="45720" marT="27432" marB="27432">
                    <a:solidFill>
                      <a:srgbClr val="FCFCFB"/>
                    </a:solidFill>
                  </a:tcPr>
                </a:tc>
              </a:tr>
              <a:tr h="274320">
                <a:tc>
                  <a:txBody>
                    <a:bodyPr/>
                    <a:lstStyle/>
                    <a:p>
                      <a:r>
                        <a:rPr sz="850" b="0">
                          <a:solidFill>
                            <a:srgbClr val="0B0B0B"/>
                          </a:solidFill>
                        </a:rPr>
                        <a:t>BIND 9 9.16.0</a:t>
                      </a:r>
                    </a:p>
                  </a:txBody>
                  <a:tcPr marL="45720" marR="45720" marT="27432" marB="27432">
                    <a:solidFill>
                      <a:srgbClr val="FCFCFB"/>
                    </a:solidFill>
                  </a:tcPr>
                </a:tc>
                <a:tc>
                  <a:txBody>
                    <a:bodyPr/>
                    <a:lstStyle/>
                    <a:p>
                      <a:r>
                        <a:rPr sz="850" b="0">
                          <a:solidFill>
                            <a:srgbClr val="0B0B0B"/>
                          </a:solidFill>
                        </a:rPr>
                        <a:t>default</a:t>
                      </a:r>
                    </a:p>
                  </a:txBody>
                  <a:tcPr marL="45720" marR="45720" marT="27432" marB="27432">
                    <a:solidFill>
                      <a:srgbClr val="FCFCFB"/>
                    </a:solidFill>
                  </a:tcPr>
                </a:tc>
                <a:tc>
                  <a:txBody>
                    <a:bodyPr/>
                    <a:lstStyle/>
                    <a:p>
                      <a:r>
                        <a:rPr sz="850" b="0">
                          <a:solidFill>
                            <a:srgbClr val="0B0B0B"/>
                          </a:solidFill>
                        </a:rPr>
                        <a:t>2020-02</a:t>
                      </a:r>
                    </a:p>
                  </a:txBody>
                  <a:tcPr marL="45720" marR="45720" marT="27432" marB="27432">
                    <a:solidFill>
                      <a:srgbClr val="FCFCFB"/>
                    </a:solidFill>
                  </a:tcPr>
                </a:tc>
                <a:tc>
                  <a:txBody>
                    <a:bodyPr/>
                    <a:lstStyle/>
                    <a:p>
                      <a:r>
                        <a:rPr sz="850" b="0">
                          <a:solidFill>
                            <a:srgbClr val="0B0B0B"/>
                          </a:solidFill>
                        </a:rPr>
                        <a:t>2169</a:t>
                      </a:r>
                    </a:p>
                  </a:txBody>
                  <a:tcPr marL="45720" marR="45720" marT="27432" marB="27432">
                    <a:solidFill>
                      <a:srgbClr val="FCFCFB"/>
                    </a:solidFill>
                  </a:tcPr>
                </a:tc>
                <a:tc>
                  <a:txBody>
                    <a:bodyPr/>
                    <a:lstStyle/>
                    <a:p>
                      <a:r>
                        <a:rPr sz="850" b="0">
                          <a:solidFill>
                            <a:srgbClr val="0B0B0B"/>
                          </a:solidFill>
                        </a:rPr>
                        <a:t>22.8%</a:t>
                      </a:r>
                    </a:p>
                  </a:txBody>
                  <a:tcPr marL="45720" marR="45720" marT="27432" marB="27432">
                    <a:solidFill>
                      <a:srgbClr val="FCFCFB"/>
                    </a:solidFill>
                  </a:tcPr>
                </a:tc>
                <a:tc>
                  <a:txBody>
                    <a:bodyPr/>
                    <a:lstStyle/>
                    <a:p>
                      <a:r>
                        <a:rPr sz="850" b="0">
                          <a:solidFill>
                            <a:srgbClr val="0B0B0B"/>
                          </a:solidFill>
                        </a:rPr>
                        <a:t>1030</a:t>
                      </a:r>
                    </a:p>
                  </a:txBody>
                  <a:tcPr marL="45720" marR="45720" marT="27432" marB="27432">
                    <a:solidFill>
                      <a:srgbClr val="FCFCFB"/>
                    </a:solidFill>
                  </a:tcPr>
                </a:tc>
                <a:tc>
                  <a:txBody>
                    <a:bodyPr/>
                    <a:lstStyle/>
                    <a:p>
                      <a:r>
                        <a:rPr sz="850" b="0">
                          <a:solidFill>
                            <a:srgbClr val="0B0B0B"/>
                          </a:solidFill>
                        </a:rPr>
                        <a:t>38.8%</a:t>
                      </a:r>
                    </a:p>
                  </a:txBody>
                  <a:tcPr marL="45720" marR="45720" marT="27432" marB="27432">
                    <a:solidFill>
                      <a:srgbClr val="FCFCFB"/>
                    </a:solidFill>
                  </a:tcPr>
                </a:tc>
              </a:tr>
              <a:tr h="274320">
                <a:tc>
                  <a:txBody>
                    <a:bodyPr/>
                    <a:lstStyle/>
                    <a:p>
                      <a:r>
                        <a:rPr sz="850" b="0">
                          <a:solidFill>
                            <a:srgbClr val="0B0B0B"/>
                          </a:solidFill>
                        </a:rPr>
                        <a:t>Ubuntu 16.04: Knot DNS 2.1.0</a:t>
                      </a:r>
                    </a:p>
                  </a:txBody>
                  <a:tcPr marL="45720" marR="45720" marT="27432" marB="27432">
                    <a:solidFill>
                      <a:srgbClr val="FCFCFB"/>
                    </a:solidFill>
                  </a:tcPr>
                </a:tc>
                <a:tc>
                  <a:txBody>
                    <a:bodyPr/>
                    <a:lstStyle/>
                    <a:p>
                      <a:r>
                        <a:rPr sz="850" b="0">
                          <a:solidFill>
                            <a:srgbClr val="0B0B0B"/>
                          </a:solidFill>
                        </a:rPr>
                        <a:t>OS package</a:t>
                      </a:r>
                    </a:p>
                  </a:txBody>
                  <a:tcPr marL="45720" marR="45720" marT="27432" marB="27432">
                    <a:solidFill>
                      <a:srgbClr val="FCFCFB"/>
                    </a:solidFill>
                  </a:tcPr>
                </a:tc>
                <a:tc>
                  <a:txBody>
                    <a:bodyPr/>
                    <a:lstStyle/>
                    <a:p>
                      <a:r>
                        <a:rPr sz="850" b="0">
                          <a:solidFill>
                            <a:srgbClr val="0B0B0B"/>
                          </a:solidFill>
                        </a:rPr>
                        <a:t>2016-04</a:t>
                      </a:r>
                    </a:p>
                  </a:txBody>
                  <a:tcPr marL="45720" marR="45720" marT="27432" marB="27432">
                    <a:solidFill>
                      <a:srgbClr val="FCFCFB"/>
                    </a:solidFill>
                  </a:tcPr>
                </a:tc>
                <a:tc>
                  <a:txBody>
                    <a:bodyPr/>
                    <a:lstStyle/>
                    <a:p>
                      <a:r>
                        <a:rPr sz="850" b="0">
                          <a:solidFill>
                            <a:srgbClr val="0B0B0B"/>
                          </a:solidFill>
                        </a:rPr>
                        <a:t>924</a:t>
                      </a:r>
                    </a:p>
                  </a:txBody>
                  <a:tcPr marL="45720" marR="45720" marT="27432" marB="27432">
                    <a:solidFill>
                      <a:srgbClr val="FCFCFB"/>
                    </a:solidFill>
                  </a:tcPr>
                </a:tc>
                <a:tc>
                  <a:txBody>
                    <a:bodyPr/>
                    <a:lstStyle/>
                    <a:p>
                      <a:r>
                        <a:rPr sz="850" b="0">
                          <a:solidFill>
                            <a:srgbClr val="0B0B0B"/>
                          </a:solidFill>
                        </a:rPr>
                        <a:t>0.2% (2 blocks)</a:t>
                      </a:r>
                    </a:p>
                  </a:txBody>
                  <a:tcPr marL="45720" marR="45720" marT="27432" marB="27432">
                    <a:solidFill>
                      <a:srgbClr val="FCFCFB"/>
                    </a:solidFill>
                  </a:tcPr>
                </a:tc>
                <a:tc>
                  <a:txBody>
                    <a:bodyPr/>
                    <a:lstStyle/>
                    <a:p>
                      <a:r>
                        <a:rPr sz="850" b="0">
                          <a:solidFill>
                            <a:srgbClr val="0B0B0B"/>
                          </a:solidFill>
                        </a:rPr>
                        <a:t>1237</a:t>
                      </a:r>
                    </a:p>
                  </a:txBody>
                  <a:tcPr marL="45720" marR="45720" marT="27432" marB="27432">
                    <a:solidFill>
                      <a:srgbClr val="FCFCFB"/>
                    </a:solidFill>
                  </a:tcPr>
                </a:tc>
                <a:tc>
                  <a:txBody>
                    <a:bodyPr/>
                    <a:lstStyle/>
                    <a:p>
                      <a:r>
                        <a:rPr sz="850" b="0">
                          <a:solidFill>
                            <a:srgbClr val="0B0B0B"/>
                          </a:solidFill>
                        </a:rPr>
                        <a:t>0.2% (3 blocks)</a:t>
                      </a:r>
                    </a:p>
                  </a:txBody>
                  <a:tcPr marL="45720" marR="45720" marT="27432" marB="27432">
                    <a:solidFill>
                      <a:srgbClr val="FCFCFB"/>
                    </a:solidFill>
                  </a:tcPr>
                </a:tc>
              </a:tr>
              <a:tr h="274320">
                <a:tc>
                  <a:txBody>
                    <a:bodyPr/>
                    <a:lstStyle/>
                    <a:p>
                      <a:r>
                        <a:rPr sz="850" b="0">
                          <a:solidFill>
                            <a:srgbClr val="0B0B0B"/>
                          </a:solidFill>
                        </a:rPr>
                        <a:t>Debian 9: Knot DNS 2.1.0, PowerDNS Auth 4.0.0</a:t>
                      </a:r>
                    </a:p>
                  </a:txBody>
                  <a:tcPr marL="45720" marR="45720" marT="27432" marB="27432">
                    <a:solidFill>
                      <a:srgbClr val="FCFCFB"/>
                    </a:solidFill>
                  </a:tcPr>
                </a:tc>
                <a:tc>
                  <a:txBody>
                    <a:bodyPr/>
                    <a:lstStyle/>
                    <a:p>
                      <a:r>
                        <a:rPr sz="850" b="0">
                          <a:solidFill>
                            <a:srgbClr val="0B0B0B"/>
                          </a:solidFill>
                        </a:rPr>
                        <a:t>OS package</a:t>
                      </a:r>
                    </a:p>
                  </a:txBody>
                  <a:tcPr marL="45720" marR="45720" marT="27432" marB="27432">
                    <a:solidFill>
                      <a:srgbClr val="FCFCFB"/>
                    </a:solidFill>
                  </a:tcPr>
                </a:tc>
                <a:tc>
                  <a:txBody>
                    <a:bodyPr/>
                    <a:lstStyle/>
                    <a:p>
                      <a:r>
                        <a:rPr sz="850" b="0">
                          <a:solidFill>
                            <a:srgbClr val="0B0B0B"/>
                          </a:solidFill>
                        </a:rPr>
                        <a:t>2017-06</a:t>
                      </a:r>
                    </a:p>
                  </a:txBody>
                  <a:tcPr marL="45720" marR="45720" marT="27432" marB="27432">
                    <a:solidFill>
                      <a:srgbClr val="FCFCFB"/>
                    </a:solidFill>
                  </a:tcPr>
                </a:tc>
                <a:tc>
                  <a:txBody>
                    <a:bodyPr/>
                    <a:lstStyle/>
                    <a:p>
                      <a:r>
                        <a:rPr sz="850" b="0">
                          <a:solidFill>
                            <a:srgbClr val="0B0B0B"/>
                          </a:solidFill>
                        </a:rPr>
                        <a:t>1247</a:t>
                      </a:r>
                    </a:p>
                  </a:txBody>
                  <a:tcPr marL="45720" marR="45720" marT="27432" marB="27432">
                    <a:solidFill>
                      <a:srgbClr val="FCFCFB"/>
                    </a:solidFill>
                  </a:tcPr>
                </a:tc>
                <a:tc>
                  <a:txBody>
                    <a:bodyPr/>
                    <a:lstStyle/>
                    <a:p>
                      <a:r>
                        <a:rPr sz="850" b="0">
                          <a:solidFill>
                            <a:srgbClr val="0B0B0B"/>
                          </a:solidFill>
                        </a:rPr>
                        <a:t>0.2% (3 blocks)</a:t>
                      </a:r>
                    </a:p>
                  </a:txBody>
                  <a:tcPr marL="45720" marR="45720" marT="27432" marB="27432">
                    <a:solidFill>
                      <a:srgbClr val="FCFCFB"/>
                    </a:solidFill>
                  </a:tcPr>
                </a:tc>
                <a:tc>
                  <a:txBody>
                    <a:bodyPr/>
                    <a:lstStyle/>
                    <a:p>
                      <a:r>
                        <a:rPr sz="850" b="0">
                          <a:solidFill>
                            <a:srgbClr val="0B0B0B"/>
                          </a:solidFill>
                        </a:rPr>
                        <a:t>597</a:t>
                      </a:r>
                    </a:p>
                  </a:txBody>
                  <a:tcPr marL="45720" marR="45720" marT="27432" marB="27432">
                    <a:solidFill>
                      <a:srgbClr val="FCFCFB"/>
                    </a:solidFill>
                  </a:tcPr>
                </a:tc>
                <a:tc>
                  <a:txBody>
                    <a:bodyPr/>
                    <a:lstStyle/>
                    <a:p>
                      <a:r>
                        <a:rPr sz="850" b="0">
                          <a:solidFill>
                            <a:srgbClr val="0B0B0B"/>
                          </a:solidFill>
                        </a:rPr>
                        <a:t>57.1% (55 blocks)</a:t>
                      </a:r>
                    </a:p>
                  </a:txBody>
                  <a:tcPr marL="45720" marR="45720" marT="27432" marB="27432">
                    <a:solidFill>
                      <a:srgbClr val="FCFCFB"/>
                    </a:solidFill>
                  </a:tcPr>
                </a:tc>
              </a:tr>
              <a:tr h="274320">
                <a:tc>
                  <a:txBody>
                    <a:bodyPr/>
                    <a:lstStyle/>
                    <a:p>
                      <a:r>
                        <a:rPr sz="850" b="0">
                          <a:solidFill>
                            <a:srgbClr val="0B0B0B"/>
                          </a:solidFill>
                        </a:rPr>
                        <a:t>Ubuntu 18.04: PowerDNS Auth 4.0.0</a:t>
                      </a:r>
                    </a:p>
                  </a:txBody>
                  <a:tcPr marL="45720" marR="45720" marT="27432" marB="27432">
                    <a:solidFill>
                      <a:srgbClr val="FCFCFB"/>
                    </a:solidFill>
                  </a:tcPr>
                </a:tc>
                <a:tc>
                  <a:txBody>
                    <a:bodyPr/>
                    <a:lstStyle/>
                    <a:p>
                      <a:r>
                        <a:rPr sz="850" b="0">
                          <a:solidFill>
                            <a:srgbClr val="0B0B0B"/>
                          </a:solidFill>
                        </a:rPr>
                        <a:t>OS package</a:t>
                      </a:r>
                    </a:p>
                  </a:txBody>
                  <a:tcPr marL="45720" marR="45720" marT="27432" marB="27432">
                    <a:solidFill>
                      <a:srgbClr val="FCFCFB"/>
                    </a:solidFill>
                  </a:tcPr>
                </a:tc>
                <a:tc>
                  <a:txBody>
                    <a:bodyPr/>
                    <a:lstStyle/>
                    <a:p>
                      <a:r>
                        <a:rPr sz="850" b="0">
                          <a:solidFill>
                            <a:srgbClr val="0B0B0B"/>
                          </a:solidFill>
                        </a:rPr>
                        <a:t>2018-04</a:t>
                      </a:r>
                    </a:p>
                  </a:txBody>
                  <a:tcPr marL="45720" marR="45720" marT="27432" marB="27432">
                    <a:solidFill>
                      <a:srgbClr val="FCFCFB"/>
                    </a:solidFill>
                  </a:tcPr>
                </a:tc>
                <a:tc>
                  <a:txBody>
                    <a:bodyPr/>
                    <a:lstStyle/>
                    <a:p>
                      <a:r>
                        <a:rPr sz="850" b="0">
                          <a:solidFill>
                            <a:srgbClr val="0B0B0B"/>
                          </a:solidFill>
                        </a:rPr>
                        <a:t>473</a:t>
                      </a:r>
                    </a:p>
                  </a:txBody>
                  <a:tcPr marL="45720" marR="45720" marT="27432" marB="27432">
                    <a:solidFill>
                      <a:srgbClr val="FCFCFB"/>
                    </a:solidFill>
                  </a:tcPr>
                </a:tc>
                <a:tc>
                  <a:txBody>
                    <a:bodyPr/>
                    <a:lstStyle/>
                    <a:p>
                      <a:r>
                        <a:rPr sz="850" b="0">
                          <a:solidFill>
                            <a:srgbClr val="0B0B0B"/>
                          </a:solidFill>
                        </a:rPr>
                        <a:t>42.5% (35 blocks)</a:t>
                      </a:r>
                    </a:p>
                  </a:txBody>
                  <a:tcPr marL="45720" marR="45720" marT="27432" marB="27432">
                    <a:solidFill>
                      <a:srgbClr val="FCFCFB"/>
                    </a:solidFill>
                  </a:tcPr>
                </a:tc>
                <a:tc>
                  <a:txBody>
                    <a:bodyPr/>
                    <a:lstStyle/>
                    <a:p>
                      <a:r>
                        <a:rPr sz="850" b="0">
                          <a:solidFill>
                            <a:srgbClr val="0B0B0B"/>
                          </a:solidFill>
                        </a:rPr>
                        <a:t>1507</a:t>
                      </a:r>
                    </a:p>
                  </a:txBody>
                  <a:tcPr marL="45720" marR="45720" marT="27432" marB="27432">
                    <a:solidFill>
                      <a:srgbClr val="FCFCFB"/>
                    </a:solidFill>
                  </a:tcPr>
                </a:tc>
                <a:tc>
                  <a:txBody>
                    <a:bodyPr/>
                    <a:lstStyle/>
                    <a:p>
                      <a:r>
                        <a:rPr sz="850" b="0">
                          <a:solidFill>
                            <a:srgbClr val="0B0B0B"/>
                          </a:solidFill>
                        </a:rPr>
                        <a:t>36.0% (58 blocks)</a:t>
                      </a:r>
                    </a:p>
                  </a:txBody>
                  <a:tcPr marL="45720" marR="45720" marT="27432" marB="27432">
                    <a:solidFill>
                      <a:srgbClr val="FCFCFB"/>
                    </a:solidFill>
                  </a:tcPr>
                </a:tc>
              </a:tr>
            </a:tbl>
          </a:graphicData>
        </a:graphic>
      </p:graphicFrame>
      <p:sp>
        <p:nvSpPr>
          <p:cNvPr id="6" name="TextBox 5"/>
          <p:cNvSpPr txBox="1"/>
          <p:nvPr/>
        </p:nvSpPr>
        <p:spPr>
          <a:xfrm>
            <a:off x="566928" y="6263640"/>
            <a:ext cx="11064240" cy="457200"/>
          </a:xfrm>
          <a:prstGeom prst="rect">
            <a:avLst/>
          </a:prstGeom>
          <a:noFill/>
        </p:spPr>
        <p:txBody>
          <a:bodyPr wrap="square">
            <a:spAutoFit/>
          </a:bodyPr>
          <a:lstStyle/>
          <a:p>
            <a:pPr>
              <a:spcAft>
                <a:spcPts val="600"/>
              </a:spcAft>
            </a:pPr>
            <a:r>
              <a:rPr sz="850" b="0">
                <a:solidFill>
                  <a:srgbClr val="898781"/>
                </a:solidFill>
                <a:latin typeface="Segoe UI"/>
              </a:rPr>
              <a:t>An update changes what a newly signed zone gets; it never re-signs an existing zone. So this share, not the adoption curve, is where an automatic update would show. Source: out/analysis/delegation_changes.parquet, kind = sign.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THE RFC IN EACH PROGRAM  ·  RFC 5702</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000" b="1">
                <a:solidFill>
                  <a:srgbClr val="0B0B0B"/>
                </a:solidFill>
                <a:latin typeface="Segoe UI"/>
              </a:rPr>
              <a:t>RFC 5702 published 2009-10: what each program did, in months from that date</a:t>
            </a:r>
          </a:p>
        </p:txBody>
      </p:sp>
      <p:sp>
        <p:nvSpPr>
          <p:cNvPr id="4" name="TextBox 3"/>
          <p:cNvSpPr txBox="1"/>
          <p:nvPr/>
        </p:nvSpPr>
        <p:spPr>
          <a:xfrm>
            <a:off x="566928" y="1188720"/>
            <a:ext cx="11064240" cy="5029200"/>
          </a:xfrm>
          <a:prstGeom prst="rect">
            <a:avLst/>
          </a:prstGeom>
          <a:noFill/>
        </p:spPr>
        <p:txBody>
          <a:bodyPr wrap="square">
            <a:spAutoFit/>
          </a:bodyPr>
          <a:lstStyle/>
          <a:p>
            <a:pPr>
              <a:spcAft>
                <a:spcPts val="800"/>
              </a:spcAft>
            </a:pPr>
            <a:r>
              <a:rPr sz="1200" b="0">
                <a:solidFill>
                  <a:srgbClr val="0B0B0B"/>
                </a:solidFill>
                <a:latin typeface="Segoe UI"/>
              </a:rPr>
              <a:t>BIND 9: signs it from 9.7.0, 2010-02 (4 mo after the RFC).</a:t>
            </a:r>
          </a:p>
          <a:p>
            <a:pPr>
              <a:spcAft>
                <a:spcPts val="800"/>
              </a:spcAft>
            </a:pPr>
            <a:r>
              <a:rPr sz="1200" b="0">
                <a:solidFill>
                  <a:srgbClr val="0B0B0B"/>
                </a:solidFill>
                <a:latin typeface="Segoe UI"/>
              </a:rPr>
              <a:t>Knot DNS: default from 2.0.0, 2015-06 (68 mo after the RFC).</a:t>
            </a:r>
          </a:p>
          <a:p>
            <a:pPr>
              <a:spcAft>
                <a:spcPts val="800"/>
              </a:spcAft>
            </a:pPr>
            <a:r>
              <a:rPr sz="1200" b="0">
                <a:solidFill>
                  <a:srgbClr val="0B0B0B"/>
                </a:solidFill>
                <a:latin typeface="Segoe UI"/>
              </a:rPr>
              <a:t>OpenDNSSEC: default from 1.2.0, 2011-03 (17 mo after the RFC).</a:t>
            </a:r>
          </a:p>
          <a:p>
            <a:pPr>
              <a:spcAft>
                <a:spcPts val="800"/>
              </a:spcAft>
            </a:pPr>
            <a:r>
              <a:rPr sz="1200" b="0">
                <a:solidFill>
                  <a:srgbClr val="0B0B0B"/>
                </a:solidFill>
                <a:latin typeface="Segoe UI"/>
              </a:rPr>
              <a:t>Unbound: validates it from 1.1.0, 2008-11 (11 mo before the RFC).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2A78D6"/>
                </a:solidFill>
                <a:latin typeface="Segoe UI"/>
              </a:rPr>
              <a:t>ADOPTED BEFORE THE FORWARD CORPUS BEGINS  ·  RFC 5702</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400" b="1">
                <a:solidFill>
                  <a:srgbClr val="0B0B0B"/>
                </a:solidFill>
                <a:latin typeface="Segoe UI"/>
              </a:rPr>
              <a:t>RSA/SHA-256 (algorithms 8, 10)</a:t>
            </a:r>
          </a:p>
        </p:txBody>
      </p:sp>
      <p:pic>
        <p:nvPicPr>
          <p:cNvPr id="4" name="Picture 3" descr="rfc_5702.png"/>
          <p:cNvPicPr>
            <a:picLocks noChangeAspect="1"/>
          </p:cNvPicPr>
          <p:nvPr/>
        </p:nvPicPr>
        <p:blipFill>
          <a:blip r:embed="rId2"/>
          <a:stretch>
            <a:fillRect/>
          </a:stretch>
        </p:blipFill>
        <p:spPr>
          <a:xfrm>
            <a:off x="2289657" y="1097280"/>
            <a:ext cx="7612380" cy="5074920"/>
          </a:xfrm>
          <a:prstGeom prst="rect">
            <a:avLst/>
          </a:prstGeom>
        </p:spPr>
      </p:pic>
      <p:sp>
        <p:nvSpPr>
          <p:cNvPr id="5" name="TextBox 4"/>
          <p:cNvSpPr txBox="1"/>
          <p:nvPr/>
        </p:nvSpPr>
        <p:spPr>
          <a:xfrm>
            <a:off x="566928" y="6217920"/>
            <a:ext cx="11064240" cy="457200"/>
          </a:xfrm>
          <a:prstGeom prst="rect">
            <a:avLst/>
          </a:prstGeom>
          <a:noFill/>
        </p:spPr>
        <p:txBody>
          <a:bodyPr wrap="square">
            <a:spAutoFit/>
          </a:bodyPr>
          <a:lstStyle/>
          <a:p>
            <a:pPr>
              <a:spcAft>
                <a:spcPts val="600"/>
              </a:spcAft>
            </a:pPr>
            <a:r>
              <a:rPr sz="900" b="0">
                <a:solidFill>
                  <a:srgbClr val="898781"/>
                </a:solidFill>
                <a:latin typeface="Segoe UI"/>
              </a:rPr>
              <a:t>Numbered circles are the largest spikes; the next slide names what preceded each one. Ticks: the first Ubuntu/Debian release carrying that program version (the automatic-update path).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WHAT PRECEDED EACH SPIKE  ·  RFC 5702</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200" b="1">
                <a:solidFill>
                  <a:srgbClr val="0B0B0B"/>
                </a:solidFill>
                <a:latin typeface="Segoe UI"/>
              </a:rPr>
              <a:t>Nearest release, default, cap and CVE before each spike</a:t>
            </a:r>
          </a:p>
        </p:txBody>
      </p:sp>
      <p:graphicFrame>
        <p:nvGraphicFramePr>
          <p:cNvPr id="4" name="Table 3"/>
          <p:cNvGraphicFramePr>
            <a:graphicFrameLocks noGrp="1"/>
          </p:cNvGraphicFramePr>
          <p:nvPr/>
        </p:nvGraphicFramePr>
        <p:xfrm>
          <a:off x="411480" y="1143000"/>
          <a:ext cx="11338560" cy="2468880"/>
        </p:xfrm>
        <a:graphic>
          <a:graphicData uri="http://schemas.openxmlformats.org/drawingml/2006/table">
            <a:tbl>
              <a:tblPr firstRow="1" bandRow="1">
                <a:tableStyleId>{5C22544A-7EE6-4342-B048-85BDC9FD1C3A}</a:tableStyleId>
              </a:tblPr>
              <a:tblGrid>
                <a:gridCol w="274320"/>
                <a:gridCol w="1234440"/>
                <a:gridCol w="1143000"/>
                <a:gridCol w="1600200"/>
                <a:gridCol w="1143000"/>
                <a:gridCol w="2011680"/>
                <a:gridCol w="2011680"/>
                <a:gridCol w="1920240"/>
              </a:tblGrid>
              <a:tr h="274320">
                <a:tc>
                  <a:txBody>
                    <a:bodyPr/>
                    <a:lstStyle/>
                    <a:p>
                      <a:r>
                        <a:rPr sz="900" b="1">
                          <a:solidFill>
                            <a:srgbClr val="52514E"/>
                          </a:solidFill>
                        </a:rPr>
                        <a:t>#</a:t>
                      </a:r>
                    </a:p>
                  </a:txBody>
                  <a:tcPr marL="45720" marR="45720" marT="27432" marB="27432">
                    <a:solidFill>
                      <a:srgbClr val="E1E0D9"/>
                    </a:solidFill>
                  </a:tcPr>
                </a:tc>
                <a:tc>
                  <a:txBody>
                    <a:bodyPr/>
                    <a:lstStyle/>
                    <a:p>
                      <a:r>
                        <a:rPr sz="900" b="1">
                          <a:solidFill>
                            <a:srgbClr val="52514E"/>
                          </a:solidFill>
                        </a:rPr>
                        <a:t>corpus</a:t>
                      </a:r>
                    </a:p>
                  </a:txBody>
                  <a:tcPr marL="45720" marR="45720" marT="27432" marB="27432">
                    <a:solidFill>
                      <a:srgbClr val="E1E0D9"/>
                    </a:solidFill>
                  </a:tcPr>
                </a:tc>
                <a:tc>
                  <a:txBody>
                    <a:bodyPr/>
                    <a:lstStyle/>
                    <a:p>
                      <a:r>
                        <a:rPr sz="900" b="1">
                          <a:solidFill>
                            <a:srgbClr val="52514E"/>
                          </a:solidFill>
                        </a:rPr>
                        <a:t>month(s)</a:t>
                      </a:r>
                    </a:p>
                  </a:txBody>
                  <a:tcPr marL="45720" marR="45720" marT="27432" marB="27432">
                    <a:solidFill>
                      <a:srgbClr val="E1E0D9"/>
                    </a:solidFill>
                  </a:tcPr>
                </a:tc>
                <a:tc>
                  <a:txBody>
                    <a:bodyPr/>
                    <a:lstStyle/>
                    <a:p>
                      <a:r>
                        <a:rPr sz="900" b="1">
                          <a:solidFill>
                            <a:srgbClr val="52514E"/>
                          </a:solidFill>
                        </a:rPr>
                        <a:t>size</a:t>
                      </a:r>
                    </a:p>
                  </a:txBody>
                  <a:tcPr marL="45720" marR="45720" marT="27432" marB="27432">
                    <a:solidFill>
                      <a:srgbClr val="E1E0D9"/>
                    </a:solidFill>
                  </a:tcPr>
                </a:tc>
                <a:tc>
                  <a:txBody>
                    <a:bodyPr/>
                    <a:lstStyle/>
                    <a:p>
                      <a:r>
                        <a:rPr sz="900" b="1">
                          <a:solidFill>
                            <a:srgbClr val="52514E"/>
                          </a:solidFill>
                        </a:rPr>
                        <a:t>made of</a:t>
                      </a:r>
                    </a:p>
                  </a:txBody>
                  <a:tcPr marL="45720" marR="45720" marT="27432" marB="27432">
                    <a:solidFill>
                      <a:srgbClr val="E1E0D9"/>
                    </a:solidFill>
                  </a:tcPr>
                </a:tc>
                <a:tc>
                  <a:txBody>
                    <a:bodyPr/>
                    <a:lstStyle/>
                    <a:p>
                      <a:r>
                        <a:rPr sz="900" b="1">
                          <a:solidFill>
                            <a:srgbClr val="52514E"/>
                          </a:solidFill>
                        </a:rPr>
                        <a:t>nearest signer release</a:t>
                      </a:r>
                    </a:p>
                  </a:txBody>
                  <a:tcPr marL="45720" marR="45720" marT="27432" marB="27432">
                    <a:solidFill>
                      <a:srgbClr val="E1E0D9"/>
                    </a:solidFill>
                  </a:tcPr>
                </a:tc>
                <a:tc>
                  <a:txBody>
                    <a:bodyPr/>
                    <a:lstStyle/>
                    <a:p>
                      <a:r>
                        <a:rPr sz="900" b="1">
                          <a:solidFill>
                            <a:srgbClr val="52514E"/>
                          </a:solidFill>
                        </a:rPr>
                        <a:t>nearest default / cap</a:t>
                      </a:r>
                    </a:p>
                  </a:txBody>
                  <a:tcPr marL="45720" marR="45720" marT="27432" marB="27432">
                    <a:solidFill>
                      <a:srgbClr val="E1E0D9"/>
                    </a:solidFill>
                  </a:tcPr>
                </a:tc>
                <a:tc>
                  <a:txBody>
                    <a:bodyPr/>
                    <a:lstStyle/>
                    <a:p>
                      <a:r>
                        <a:rPr sz="900" b="1">
                          <a:solidFill>
                            <a:srgbClr val="52514E"/>
                          </a:solidFill>
                        </a:rPr>
                        <a:t>nearest CVE</a:t>
                      </a:r>
                    </a:p>
                  </a:txBody>
                  <a:tcPr marL="45720" marR="45720" marT="27432" marB="27432">
                    <a:solidFill>
                      <a:srgbClr val="E1E0D9"/>
                    </a:solidFill>
                  </a:tcPr>
                </a:tc>
              </a:tr>
              <a:tr h="274320">
                <a:tc>
                  <a:txBody>
                    <a:bodyPr/>
                    <a:lstStyle/>
                    <a:p>
                      <a:r>
                        <a:rPr sz="850" b="0">
                          <a:solidFill>
                            <a:srgbClr val="0B0B0B"/>
                          </a:solidFill>
                        </a:rPr>
                        <a:t>1</a:t>
                      </a:r>
                    </a:p>
                  </a:txBody>
                  <a:tcPr marL="45720" marR="45720" marT="27432" marB="27432">
                    <a:solidFill>
                      <a:srgbClr val="FCFCFB"/>
                    </a:solidFill>
                  </a:tcPr>
                </a:tc>
                <a:tc>
                  <a:txBody>
                    <a:bodyPr/>
                    <a:lstStyle/>
                    <a:p>
                      <a:r>
                        <a:rPr sz="850" b="0">
                          <a:solidFill>
                            <a:srgbClr val="0B0B0B"/>
                          </a:solidFill>
                        </a:rPr>
                        <a:t>OpenINTEL .se</a:t>
                      </a:r>
                    </a:p>
                  </a:txBody>
                  <a:tcPr marL="45720" marR="45720" marT="27432" marB="27432">
                    <a:solidFill>
                      <a:srgbClr val="FCFCFB"/>
                    </a:solidFill>
                  </a:tcPr>
                </a:tc>
                <a:tc>
                  <a:txBody>
                    <a:bodyPr/>
                    <a:lstStyle/>
                    <a:p>
                      <a:r>
                        <a:rPr sz="850" b="0">
                          <a:solidFill>
                            <a:srgbClr val="0B0B0B"/>
                          </a:solidFill>
                        </a:rPr>
                        <a:t>2017-11</a:t>
                      </a:r>
                    </a:p>
                  </a:txBody>
                  <a:tcPr marL="45720" marR="45720" marT="27432" marB="27432">
                    <a:solidFill>
                      <a:srgbClr val="FCFCFB"/>
                    </a:solidFill>
                  </a:tcPr>
                </a:tc>
                <a:tc>
                  <a:txBody>
                    <a:bodyPr/>
                    <a:lstStyle/>
                    <a:p>
                      <a:r>
                        <a:rPr sz="850" b="0">
                          <a:solidFill>
                            <a:srgbClr val="0B0B0B"/>
                          </a:solidFill>
                        </a:rPr>
                        <a:t>+123,402  (95% -&gt; 95%)</a:t>
                      </a:r>
                    </a:p>
                  </a:txBody>
                  <a:tcPr marL="45720" marR="45720" marT="27432" marB="27432">
                    <a:solidFill>
                      <a:srgbClr val="FCFCFB"/>
                    </a:solidFill>
                  </a:tcPr>
                </a:tc>
                <a:tc>
                  <a:txBody>
                    <a:bodyPr/>
                    <a:lstStyle/>
                    <a:p>
                      <a:r>
                        <a:rPr sz="850" b="0">
                          <a:solidFill>
                            <a:srgbClr val="0B0B0B"/>
                          </a:solidFill>
                        </a:rPr>
                        <a:t>mixed: &gt;=371 rolled</a:t>
                      </a:r>
                    </a:p>
                  </a:txBody>
                  <a:tcPr marL="45720" marR="45720" marT="27432" marB="27432">
                    <a:solidFill>
                      <a:srgbClr val="FCFCFB"/>
                    </a:solidFill>
                  </a:tcPr>
                </a:tc>
                <a:tc>
                  <a:txBody>
                    <a:bodyPr/>
                    <a:lstStyle/>
                    <a:p>
                      <a:r>
                        <a:rPr sz="850" b="0">
                          <a:solidFill>
                            <a:srgbClr val="0B0B0B"/>
                          </a:solidFill>
                        </a:rPr>
                        <a:t>Knot DNS 2.0.0 (29 mo before)</a:t>
                      </a:r>
                    </a:p>
                  </a:txBody>
                  <a:tcPr marL="45720" marR="45720" marT="27432" marB="27432">
                    <a:solidFill>
                      <a:srgbClr val="FCFCFB"/>
                    </a:solidFill>
                  </a:tcPr>
                </a:tc>
                <a:tc>
                  <a:txBody>
                    <a:bodyPr/>
                    <a:lstStyle/>
                    <a:p>
                      <a:r>
                        <a:rPr sz="850" b="0">
                          <a:solidFill>
                            <a:srgbClr val="0B0B0B"/>
                          </a:solidFill>
                        </a:rPr>
                        <a:t>Knot DNS 2.0.0 (29 mo before)</a:t>
                      </a:r>
                    </a:p>
                  </a:txBody>
                  <a:tcPr marL="45720" marR="45720" marT="27432" marB="27432">
                    <a:solidFill>
                      <a:srgbClr val="FCFCFB"/>
                    </a:solidFill>
                  </a:tcPr>
                </a:tc>
                <a:tc>
                  <a:txBody>
                    <a:bodyPr/>
                    <a:lstStyle/>
                    <a:p>
                      <a:r>
                        <a:rPr sz="850" b="0">
                          <a:solidFill>
                            <a:srgbClr val="0B0B0B"/>
                          </a:solidFill>
                        </a:rPr>
                        <a:t>-</a:t>
                      </a:r>
                    </a:p>
                  </a:txBody>
                  <a:tcPr marL="45720" marR="45720" marT="27432" marB="27432">
                    <a:solidFill>
                      <a:srgbClr val="FCFCFB"/>
                    </a:solidFill>
                  </a:tcPr>
                </a:tc>
              </a:tr>
              <a:tr h="274320">
                <a:tc>
                  <a:txBody>
                    <a:bodyPr/>
                    <a:lstStyle/>
                    <a:p>
                      <a:r>
                        <a:rPr sz="850" b="0">
                          <a:solidFill>
                            <a:srgbClr val="0B0B0B"/>
                          </a:solidFill>
                        </a:rPr>
                        <a:t>2</a:t>
                      </a:r>
                    </a:p>
                  </a:txBody>
                  <a:tcPr marL="45720" marR="45720" marT="27432" marB="27432">
                    <a:solidFill>
                      <a:srgbClr val="FCFCFB"/>
                    </a:solidFill>
                  </a:tcPr>
                </a:tc>
                <a:tc>
                  <a:txBody>
                    <a:bodyPr/>
                    <a:lstStyle/>
                    <a:p>
                      <a:r>
                        <a:rPr sz="850" b="0">
                          <a:solidFill>
                            <a:srgbClr val="0B0B0B"/>
                          </a:solidFill>
                        </a:rPr>
                        <a:t>OpenINTEL .ch</a:t>
                      </a:r>
                    </a:p>
                  </a:txBody>
                  <a:tcPr marL="45720" marR="45720" marT="27432" marB="27432">
                    <a:solidFill>
                      <a:srgbClr val="FCFCFB"/>
                    </a:solidFill>
                  </a:tcPr>
                </a:tc>
                <a:tc>
                  <a:txBody>
                    <a:bodyPr/>
                    <a:lstStyle/>
                    <a:p>
                      <a:r>
                        <a:rPr sz="850" b="0">
                          <a:solidFill>
                            <a:srgbClr val="0B0B0B"/>
                          </a:solidFill>
                        </a:rPr>
                        <a:t>2021-09..2021-12</a:t>
                      </a:r>
                    </a:p>
                  </a:txBody>
                  <a:tcPr marL="45720" marR="45720" marT="27432" marB="27432">
                    <a:solidFill>
                      <a:srgbClr val="FCFCFB"/>
                    </a:solidFill>
                  </a:tcPr>
                </a:tc>
                <a:tc>
                  <a:txBody>
                    <a:bodyPr/>
                    <a:lstStyle/>
                    <a:p>
                      <a:r>
                        <a:rPr sz="850" b="0">
                          <a:solidFill>
                            <a:srgbClr val="0B0B0B"/>
                          </a:solidFill>
                        </a:rPr>
                        <a:t>+73,741  (5% -&gt; 11%)</a:t>
                      </a:r>
                    </a:p>
                  </a:txBody>
                  <a:tcPr marL="45720" marR="45720" marT="27432" marB="27432">
                    <a:solidFill>
                      <a:srgbClr val="FCFCFB"/>
                    </a:solidFill>
                  </a:tcPr>
                </a:tc>
                <a:tc>
                  <a:txBody>
                    <a:bodyPr/>
                    <a:lstStyle/>
                    <a:p>
                      <a:r>
                        <a:rPr sz="850" b="0">
                          <a:solidFill>
                            <a:srgbClr val="0B0B0B"/>
                          </a:solidFill>
                        </a:rPr>
                        <a:t>new signings</a:t>
                      </a:r>
                    </a:p>
                  </a:txBody>
                  <a:tcPr marL="45720" marR="45720" marT="27432" marB="27432">
                    <a:solidFill>
                      <a:srgbClr val="FCFCFB"/>
                    </a:solidFill>
                  </a:tcPr>
                </a:tc>
                <a:tc>
                  <a:txBody>
                    <a:bodyPr/>
                    <a:lstStyle/>
                    <a:p>
                      <a:r>
                        <a:rPr sz="850" b="0">
                          <a:solidFill>
                            <a:srgbClr val="0B0B0B"/>
                          </a:solidFill>
                        </a:rPr>
                        <a:t>Knot DNS 2.0.0 (75 mo before)</a:t>
                      </a:r>
                    </a:p>
                  </a:txBody>
                  <a:tcPr marL="45720" marR="45720" marT="27432" marB="27432">
                    <a:solidFill>
                      <a:srgbClr val="FCFCFB"/>
                    </a:solidFill>
                  </a:tcPr>
                </a:tc>
                <a:tc>
                  <a:txBody>
                    <a:bodyPr/>
                    <a:lstStyle/>
                    <a:p>
                      <a:r>
                        <a:rPr sz="850" b="0">
                          <a:solidFill>
                            <a:srgbClr val="0B0B0B"/>
                          </a:solidFill>
                        </a:rPr>
                        <a:t>Knot DNS 2.0.0 (75 mo before)</a:t>
                      </a:r>
                    </a:p>
                  </a:txBody>
                  <a:tcPr marL="45720" marR="45720" marT="27432" marB="27432">
                    <a:solidFill>
                      <a:srgbClr val="FCFCFB"/>
                    </a:solidFill>
                  </a:tcPr>
                </a:tc>
                <a:tc>
                  <a:txBody>
                    <a:bodyPr/>
                    <a:lstStyle/>
                    <a:p>
                      <a:r>
                        <a:rPr sz="850" b="0">
                          <a:solidFill>
                            <a:srgbClr val="0B0B0B"/>
                          </a:solidFill>
                        </a:rPr>
                        <a:t>-</a:t>
                      </a:r>
                    </a:p>
                  </a:txBody>
                  <a:tcPr marL="45720" marR="45720" marT="27432" marB="27432">
                    <a:solidFill>
                      <a:srgbClr val="FCFCFB"/>
                    </a:solidFill>
                  </a:tcPr>
                </a:tc>
              </a:tr>
              <a:tr h="274320">
                <a:tc>
                  <a:txBody>
                    <a:bodyPr/>
                    <a:lstStyle/>
                    <a:p>
                      <a:r>
                        <a:rPr sz="850" b="0">
                          <a:solidFill>
                            <a:srgbClr val="0B0B0B"/>
                          </a:solidFill>
                        </a:rPr>
                        <a:t>3</a:t>
                      </a:r>
                    </a:p>
                  </a:txBody>
                  <a:tcPr marL="45720" marR="45720" marT="27432" marB="27432">
                    <a:solidFill>
                      <a:srgbClr val="FCFCFB"/>
                    </a:solidFill>
                  </a:tcPr>
                </a:tc>
                <a:tc>
                  <a:txBody>
                    <a:bodyPr/>
                    <a:lstStyle/>
                    <a:p>
                      <a:r>
                        <a:rPr sz="850" b="0">
                          <a:solidFill>
                            <a:srgbClr val="0B0B0B"/>
                          </a:solidFill>
                        </a:rPr>
                        <a:t>OpenINTEL .nu</a:t>
                      </a:r>
                    </a:p>
                  </a:txBody>
                  <a:tcPr marL="45720" marR="45720" marT="27432" marB="27432">
                    <a:solidFill>
                      <a:srgbClr val="FCFCFB"/>
                    </a:solidFill>
                  </a:tcPr>
                </a:tc>
                <a:tc>
                  <a:txBody>
                    <a:bodyPr/>
                    <a:lstStyle/>
                    <a:p>
                      <a:r>
                        <a:rPr sz="850" b="0">
                          <a:solidFill>
                            <a:srgbClr val="0B0B0B"/>
                          </a:solidFill>
                        </a:rPr>
                        <a:t>2017-11</a:t>
                      </a:r>
                    </a:p>
                  </a:txBody>
                  <a:tcPr marL="45720" marR="45720" marT="27432" marB="27432">
                    <a:solidFill>
                      <a:srgbClr val="FCFCFB"/>
                    </a:solidFill>
                  </a:tcPr>
                </a:tc>
                <a:tc>
                  <a:txBody>
                    <a:bodyPr/>
                    <a:lstStyle/>
                    <a:p>
                      <a:r>
                        <a:rPr sz="850" b="0">
                          <a:solidFill>
                            <a:srgbClr val="0B0B0B"/>
                          </a:solidFill>
                        </a:rPr>
                        <a:t>+38,615  (93% -&gt; 95%)</a:t>
                      </a:r>
                    </a:p>
                  </a:txBody>
                  <a:tcPr marL="45720" marR="45720" marT="27432" marB="27432">
                    <a:solidFill>
                      <a:srgbClr val="FCFCFB"/>
                    </a:solidFill>
                  </a:tcPr>
                </a:tc>
                <a:tc>
                  <a:txBody>
                    <a:bodyPr/>
                    <a:lstStyle/>
                    <a:p>
                      <a:r>
                        <a:rPr sz="850" b="0">
                          <a:solidFill>
                            <a:srgbClr val="0B0B0B"/>
                          </a:solidFill>
                        </a:rPr>
                        <a:t>new signings</a:t>
                      </a:r>
                    </a:p>
                  </a:txBody>
                  <a:tcPr marL="45720" marR="45720" marT="27432" marB="27432">
                    <a:solidFill>
                      <a:srgbClr val="FCFCFB"/>
                    </a:solidFill>
                  </a:tcPr>
                </a:tc>
                <a:tc>
                  <a:txBody>
                    <a:bodyPr/>
                    <a:lstStyle/>
                    <a:p>
                      <a:r>
                        <a:rPr sz="850" b="0">
                          <a:solidFill>
                            <a:srgbClr val="0B0B0B"/>
                          </a:solidFill>
                        </a:rPr>
                        <a:t>Knot DNS 2.0.0 (29 mo before)</a:t>
                      </a:r>
                    </a:p>
                  </a:txBody>
                  <a:tcPr marL="45720" marR="45720" marT="27432" marB="27432">
                    <a:solidFill>
                      <a:srgbClr val="FCFCFB"/>
                    </a:solidFill>
                  </a:tcPr>
                </a:tc>
                <a:tc>
                  <a:txBody>
                    <a:bodyPr/>
                    <a:lstStyle/>
                    <a:p>
                      <a:r>
                        <a:rPr sz="850" b="0">
                          <a:solidFill>
                            <a:srgbClr val="0B0B0B"/>
                          </a:solidFill>
                        </a:rPr>
                        <a:t>Knot DNS 2.0.0 (29 mo before)</a:t>
                      </a:r>
                    </a:p>
                  </a:txBody>
                  <a:tcPr marL="45720" marR="45720" marT="27432" marB="27432">
                    <a:solidFill>
                      <a:srgbClr val="FCFCFB"/>
                    </a:solidFill>
                  </a:tcPr>
                </a:tc>
                <a:tc>
                  <a:txBody>
                    <a:bodyPr/>
                    <a:lstStyle/>
                    <a:p>
                      <a:r>
                        <a:rPr sz="850" b="0">
                          <a:solidFill>
                            <a:srgbClr val="0B0B0B"/>
                          </a:solidFill>
                        </a:rPr>
                        <a:t>-</a:t>
                      </a:r>
                    </a:p>
                  </a:txBody>
                  <a:tcPr marL="45720" marR="45720" marT="27432" marB="27432">
                    <a:solidFill>
                      <a:srgbClr val="FCFCFB"/>
                    </a:solidFill>
                  </a:tcPr>
                </a:tc>
              </a:tr>
              <a:tr h="274320">
                <a:tc>
                  <a:txBody>
                    <a:bodyPr/>
                    <a:lstStyle/>
                    <a:p>
                      <a:r>
                        <a:rPr sz="850" b="0">
                          <a:solidFill>
                            <a:srgbClr val="0B0B0B"/>
                          </a:solidFill>
                        </a:rPr>
                        <a:t>4</a:t>
                      </a:r>
                    </a:p>
                  </a:txBody>
                  <a:tcPr marL="45720" marR="45720" marT="27432" marB="27432">
                    <a:solidFill>
                      <a:srgbClr val="FCFCFB"/>
                    </a:solidFill>
                  </a:tcPr>
                </a:tc>
                <a:tc>
                  <a:txBody>
                    <a:bodyPr/>
                    <a:lstStyle/>
                    <a:p>
                      <a:r>
                        <a:rPr sz="850" b="0">
                          <a:solidFill>
                            <a:srgbClr val="0B0B0B"/>
                          </a:solidFill>
                        </a:rPr>
                        <a:t>OpenINTEL .li</a:t>
                      </a:r>
                    </a:p>
                  </a:txBody>
                  <a:tcPr marL="45720" marR="45720" marT="27432" marB="27432">
                    <a:solidFill>
                      <a:srgbClr val="FCFCFB"/>
                    </a:solidFill>
                  </a:tcPr>
                </a:tc>
                <a:tc>
                  <a:txBody>
                    <a:bodyPr/>
                    <a:lstStyle/>
                    <a:p>
                      <a:r>
                        <a:rPr sz="850" b="0">
                          <a:solidFill>
                            <a:srgbClr val="0B0B0B"/>
                          </a:solidFill>
                        </a:rPr>
                        <a:t>2021-12</a:t>
                      </a:r>
                    </a:p>
                  </a:txBody>
                  <a:tcPr marL="45720" marR="45720" marT="27432" marB="27432">
                    <a:solidFill>
                      <a:srgbClr val="FCFCFB"/>
                    </a:solidFill>
                  </a:tcPr>
                </a:tc>
                <a:tc>
                  <a:txBody>
                    <a:bodyPr/>
                    <a:lstStyle/>
                    <a:p>
                      <a:r>
                        <a:rPr sz="850" b="0">
                          <a:solidFill>
                            <a:srgbClr val="0B0B0B"/>
                          </a:solidFill>
                        </a:rPr>
                        <a:t>+1,012  (12% -&gt; 18%)</a:t>
                      </a:r>
                    </a:p>
                  </a:txBody>
                  <a:tcPr marL="45720" marR="45720" marT="27432" marB="27432">
                    <a:solidFill>
                      <a:srgbClr val="FCFCFB"/>
                    </a:solidFill>
                  </a:tcPr>
                </a:tc>
                <a:tc>
                  <a:txBody>
                    <a:bodyPr/>
                    <a:lstStyle/>
                    <a:p>
                      <a:r>
                        <a:rPr sz="850" b="0">
                          <a:solidFill>
                            <a:srgbClr val="0B0B0B"/>
                          </a:solidFill>
                        </a:rPr>
                        <a:t>new signings</a:t>
                      </a:r>
                    </a:p>
                  </a:txBody>
                  <a:tcPr marL="45720" marR="45720" marT="27432" marB="27432">
                    <a:solidFill>
                      <a:srgbClr val="FCFCFB"/>
                    </a:solidFill>
                  </a:tcPr>
                </a:tc>
                <a:tc>
                  <a:txBody>
                    <a:bodyPr/>
                    <a:lstStyle/>
                    <a:p>
                      <a:r>
                        <a:rPr sz="850" b="0">
                          <a:solidFill>
                            <a:srgbClr val="0B0B0B"/>
                          </a:solidFill>
                        </a:rPr>
                        <a:t>Knot DNS 2.0.0 (78 mo before)</a:t>
                      </a:r>
                    </a:p>
                  </a:txBody>
                  <a:tcPr marL="45720" marR="45720" marT="27432" marB="27432">
                    <a:solidFill>
                      <a:srgbClr val="FCFCFB"/>
                    </a:solidFill>
                  </a:tcPr>
                </a:tc>
                <a:tc>
                  <a:txBody>
                    <a:bodyPr/>
                    <a:lstStyle/>
                    <a:p>
                      <a:r>
                        <a:rPr sz="850" b="0">
                          <a:solidFill>
                            <a:srgbClr val="0B0B0B"/>
                          </a:solidFill>
                        </a:rPr>
                        <a:t>Knot DNS 2.0.0 (78 mo before)</a:t>
                      </a:r>
                    </a:p>
                  </a:txBody>
                  <a:tcPr marL="45720" marR="45720" marT="27432" marB="27432">
                    <a:solidFill>
                      <a:srgbClr val="FCFCFB"/>
                    </a:solidFill>
                  </a:tcPr>
                </a:tc>
                <a:tc>
                  <a:txBody>
                    <a:bodyPr/>
                    <a:lstStyle/>
                    <a:p>
                      <a:r>
                        <a:rPr sz="850" b="0">
                          <a:solidFill>
                            <a:srgbClr val="0B0B0B"/>
                          </a:solidFill>
                        </a:rPr>
                        <a:t>-</a:t>
                      </a:r>
                    </a:p>
                  </a:txBody>
                  <a:tcPr marL="45720" marR="45720" marT="27432" marB="27432">
                    <a:solidFill>
                      <a:srgbClr val="FCFCFB"/>
                    </a:solidFill>
                  </a:tcPr>
                </a:tc>
              </a:tr>
              <a:tr h="274320">
                <a:tc>
                  <a:txBody>
                    <a:bodyPr/>
                    <a:lstStyle/>
                    <a:p>
                      <a:r>
                        <a:rPr sz="850" b="0">
                          <a:solidFill>
                            <a:srgbClr val="0B0B0B"/>
                          </a:solidFill>
                        </a:rPr>
                        <a:t>5</a:t>
                      </a:r>
                    </a:p>
                  </a:txBody>
                  <a:tcPr marL="45720" marR="45720" marT="27432" marB="27432">
                    <a:solidFill>
                      <a:srgbClr val="FCFCFB"/>
                    </a:solidFill>
                  </a:tcPr>
                </a:tc>
                <a:tc>
                  <a:txBody>
                    <a:bodyPr/>
                    <a:lstStyle/>
                    <a:p>
                      <a:r>
                        <a:rPr sz="850" b="0">
                          <a:solidFill>
                            <a:srgbClr val="0B0B0B"/>
                          </a:solidFill>
                        </a:rPr>
                        <a:t>reverse APNIC</a:t>
                      </a:r>
                    </a:p>
                  </a:txBody>
                  <a:tcPr marL="45720" marR="45720" marT="27432" marB="27432">
                    <a:solidFill>
                      <a:srgbClr val="FCFCFB"/>
                    </a:solidFill>
                  </a:tcPr>
                </a:tc>
                <a:tc>
                  <a:txBody>
                    <a:bodyPr/>
                    <a:lstStyle/>
                    <a:p>
                      <a:r>
                        <a:rPr sz="850" b="0">
                          <a:solidFill>
                            <a:srgbClr val="0B0B0B"/>
                          </a:solidFill>
                        </a:rPr>
                        <a:t>2016-12..2017-01</a:t>
                      </a:r>
                    </a:p>
                  </a:txBody>
                  <a:tcPr marL="45720" marR="45720" marT="27432" marB="27432">
                    <a:solidFill>
                      <a:srgbClr val="FCFCFB"/>
                    </a:solidFill>
                  </a:tcPr>
                </a:tc>
                <a:tc>
                  <a:txBody>
                    <a:bodyPr/>
                    <a:lstStyle/>
                    <a:p>
                      <a:r>
                        <a:rPr sz="850" b="0">
                          <a:solidFill>
                            <a:srgbClr val="0B0B0B"/>
                          </a:solidFill>
                        </a:rPr>
                        <a:t>+943  (88% -&gt; 95%)</a:t>
                      </a:r>
                    </a:p>
                  </a:txBody>
                  <a:tcPr marL="45720" marR="45720" marT="27432" marB="27432">
                    <a:solidFill>
                      <a:srgbClr val="FCFCFB"/>
                    </a:solidFill>
                  </a:tcPr>
                </a:tc>
                <a:tc>
                  <a:txBody>
                    <a:bodyPr/>
                    <a:lstStyle/>
                    <a:p>
                      <a:r>
                        <a:rPr sz="850" b="0">
                          <a:solidFill>
                            <a:srgbClr val="0B0B0B"/>
                          </a:solidFill>
                        </a:rPr>
                        <a:t>n/a</a:t>
                      </a:r>
                    </a:p>
                  </a:txBody>
                  <a:tcPr marL="45720" marR="45720" marT="27432" marB="27432">
                    <a:solidFill>
                      <a:srgbClr val="FCFCFB"/>
                    </a:solidFill>
                  </a:tcPr>
                </a:tc>
                <a:tc>
                  <a:txBody>
                    <a:bodyPr/>
                    <a:lstStyle/>
                    <a:p>
                      <a:r>
                        <a:rPr sz="850" b="0">
                          <a:solidFill>
                            <a:srgbClr val="0B0B0B"/>
                          </a:solidFill>
                        </a:rPr>
                        <a:t>Knot DNS 2.0.0 (18 mo before)</a:t>
                      </a:r>
                    </a:p>
                  </a:txBody>
                  <a:tcPr marL="45720" marR="45720" marT="27432" marB="27432">
                    <a:solidFill>
                      <a:srgbClr val="FCFCFB"/>
                    </a:solidFill>
                  </a:tcPr>
                </a:tc>
                <a:tc>
                  <a:txBody>
                    <a:bodyPr/>
                    <a:lstStyle/>
                    <a:p>
                      <a:r>
                        <a:rPr sz="850" b="0">
                          <a:solidFill>
                            <a:srgbClr val="0B0B0B"/>
                          </a:solidFill>
                        </a:rPr>
                        <a:t>Knot DNS 2.0.0 (18 mo before)</a:t>
                      </a:r>
                    </a:p>
                  </a:txBody>
                  <a:tcPr marL="45720" marR="45720" marT="27432" marB="27432">
                    <a:solidFill>
                      <a:srgbClr val="FCFCFB"/>
                    </a:solidFill>
                  </a:tcPr>
                </a:tc>
                <a:tc>
                  <a:txBody>
                    <a:bodyPr/>
                    <a:lstStyle/>
                    <a:p>
                      <a:r>
                        <a:rPr sz="850" b="0">
                          <a:solidFill>
                            <a:srgbClr val="0B0B0B"/>
                          </a:solidFill>
                        </a:rPr>
                        <a:t>-</a:t>
                      </a:r>
                    </a:p>
                  </a:txBody>
                  <a:tcPr marL="45720" marR="45720" marT="27432" marB="27432">
                    <a:solidFill>
                      <a:srgbClr val="FCFCFB"/>
                    </a:solidFill>
                  </a:tcPr>
                </a:tc>
              </a:tr>
              <a:tr h="274320">
                <a:tc>
                  <a:txBody>
                    <a:bodyPr/>
                    <a:lstStyle/>
                    <a:p>
                      <a:r>
                        <a:rPr sz="850" b="0">
                          <a:solidFill>
                            <a:srgbClr val="0B0B0B"/>
                          </a:solidFill>
                        </a:rPr>
                        <a:t>6</a:t>
                      </a:r>
                    </a:p>
                  </a:txBody>
                  <a:tcPr marL="45720" marR="45720" marT="27432" marB="27432">
                    <a:solidFill>
                      <a:srgbClr val="FCFCFB"/>
                    </a:solidFill>
                  </a:tcPr>
                </a:tc>
                <a:tc>
                  <a:txBody>
                    <a:bodyPr/>
                    <a:lstStyle/>
                    <a:p>
                      <a:r>
                        <a:rPr sz="850" b="0">
                          <a:solidFill>
                            <a:srgbClr val="0B0B0B"/>
                          </a:solidFill>
                        </a:rPr>
                        <a:t>reverse APNIC</a:t>
                      </a:r>
                    </a:p>
                  </a:txBody>
                  <a:tcPr marL="45720" marR="45720" marT="27432" marB="27432">
                    <a:solidFill>
                      <a:srgbClr val="FCFCFB"/>
                    </a:solidFill>
                  </a:tcPr>
                </a:tc>
                <a:tc>
                  <a:txBody>
                    <a:bodyPr/>
                    <a:lstStyle/>
                    <a:p>
                      <a:r>
                        <a:rPr sz="850" b="0">
                          <a:solidFill>
                            <a:srgbClr val="0B0B0B"/>
                          </a:solidFill>
                        </a:rPr>
                        <a:t>2019-06..2019-07</a:t>
                      </a:r>
                    </a:p>
                  </a:txBody>
                  <a:tcPr marL="45720" marR="45720" marT="27432" marB="27432">
                    <a:solidFill>
                      <a:srgbClr val="FCFCFB"/>
                    </a:solidFill>
                  </a:tcPr>
                </a:tc>
                <a:tc>
                  <a:txBody>
                    <a:bodyPr/>
                    <a:lstStyle/>
                    <a:p>
                      <a:r>
                        <a:rPr sz="850" b="0">
                          <a:solidFill>
                            <a:srgbClr val="0B0B0B"/>
                          </a:solidFill>
                        </a:rPr>
                        <a:t>+547  (80% -&gt; 83%)</a:t>
                      </a:r>
                    </a:p>
                  </a:txBody>
                  <a:tcPr marL="45720" marR="45720" marT="27432" marB="27432">
                    <a:solidFill>
                      <a:srgbClr val="FCFCFB"/>
                    </a:solidFill>
                  </a:tcPr>
                </a:tc>
                <a:tc>
                  <a:txBody>
                    <a:bodyPr/>
                    <a:lstStyle/>
                    <a:p>
                      <a:r>
                        <a:rPr sz="850" b="0">
                          <a:solidFill>
                            <a:srgbClr val="0B0B0B"/>
                          </a:solidFill>
                        </a:rPr>
                        <a:t>n/a</a:t>
                      </a:r>
                    </a:p>
                  </a:txBody>
                  <a:tcPr marL="45720" marR="45720" marT="27432" marB="27432">
                    <a:solidFill>
                      <a:srgbClr val="FCFCFB"/>
                    </a:solidFill>
                  </a:tcPr>
                </a:tc>
                <a:tc>
                  <a:txBody>
                    <a:bodyPr/>
                    <a:lstStyle/>
                    <a:p>
                      <a:r>
                        <a:rPr sz="850" b="0">
                          <a:solidFill>
                            <a:srgbClr val="0B0B0B"/>
                          </a:solidFill>
                        </a:rPr>
                        <a:t>Knot DNS 2.0.0 (48 mo before)</a:t>
                      </a:r>
                    </a:p>
                  </a:txBody>
                  <a:tcPr marL="45720" marR="45720" marT="27432" marB="27432">
                    <a:solidFill>
                      <a:srgbClr val="FCFCFB"/>
                    </a:solidFill>
                  </a:tcPr>
                </a:tc>
                <a:tc>
                  <a:txBody>
                    <a:bodyPr/>
                    <a:lstStyle/>
                    <a:p>
                      <a:r>
                        <a:rPr sz="850" b="0">
                          <a:solidFill>
                            <a:srgbClr val="0B0B0B"/>
                          </a:solidFill>
                        </a:rPr>
                        <a:t>Knot DNS 2.0.0 (48 mo before)</a:t>
                      </a:r>
                    </a:p>
                  </a:txBody>
                  <a:tcPr marL="45720" marR="45720" marT="27432" marB="27432">
                    <a:solidFill>
                      <a:srgbClr val="FCFCFB"/>
                    </a:solidFill>
                  </a:tcPr>
                </a:tc>
                <a:tc>
                  <a:txBody>
                    <a:bodyPr/>
                    <a:lstStyle/>
                    <a:p>
                      <a:r>
                        <a:rPr sz="850" b="0">
                          <a:solidFill>
                            <a:srgbClr val="0B0B0B"/>
                          </a:solidFill>
                        </a:rPr>
                        <a:t>-</a:t>
                      </a:r>
                    </a:p>
                  </a:txBody>
                  <a:tcPr marL="45720" marR="45720" marT="27432" marB="27432">
                    <a:solidFill>
                      <a:srgbClr val="FCFCFB"/>
                    </a:solidFill>
                  </a:tcPr>
                </a:tc>
              </a:tr>
              <a:tr h="274320">
                <a:tc>
                  <a:txBody>
                    <a:bodyPr/>
                    <a:lstStyle/>
                    <a:p>
                      <a:r>
                        <a:rPr sz="850" b="0">
                          <a:solidFill>
                            <a:srgbClr val="0B0B0B"/>
                          </a:solidFill>
                        </a:rPr>
                        <a:t>7</a:t>
                      </a:r>
                    </a:p>
                  </a:txBody>
                  <a:tcPr marL="45720" marR="45720" marT="27432" marB="27432">
                    <a:solidFill>
                      <a:srgbClr val="FCFCFB"/>
                    </a:solidFill>
                  </a:tcPr>
                </a:tc>
                <a:tc>
                  <a:txBody>
                    <a:bodyPr/>
                    <a:lstStyle/>
                    <a:p>
                      <a:r>
                        <a:rPr sz="850" b="0">
                          <a:solidFill>
                            <a:srgbClr val="0B0B0B"/>
                          </a:solidFill>
                        </a:rPr>
                        <a:t>reverse APNIC</a:t>
                      </a:r>
                    </a:p>
                  </a:txBody>
                  <a:tcPr marL="45720" marR="45720" marT="27432" marB="27432">
                    <a:solidFill>
                      <a:srgbClr val="FCFCFB"/>
                    </a:solidFill>
                  </a:tcPr>
                </a:tc>
                <a:tc>
                  <a:txBody>
                    <a:bodyPr/>
                    <a:lstStyle/>
                    <a:p>
                      <a:r>
                        <a:rPr sz="850" b="0">
                          <a:solidFill>
                            <a:srgbClr val="0B0B0B"/>
                          </a:solidFill>
                        </a:rPr>
                        <a:t>2020-01</a:t>
                      </a:r>
                    </a:p>
                  </a:txBody>
                  <a:tcPr marL="45720" marR="45720" marT="27432" marB="27432">
                    <a:solidFill>
                      <a:srgbClr val="FCFCFB"/>
                    </a:solidFill>
                  </a:tcPr>
                </a:tc>
                <a:tc>
                  <a:txBody>
                    <a:bodyPr/>
                    <a:lstStyle/>
                    <a:p>
                      <a:r>
                        <a:rPr sz="850" b="0">
                          <a:solidFill>
                            <a:srgbClr val="0B0B0B"/>
                          </a:solidFill>
                        </a:rPr>
                        <a:t>+353  (83% -&gt; 85%)</a:t>
                      </a:r>
                    </a:p>
                  </a:txBody>
                  <a:tcPr marL="45720" marR="45720" marT="27432" marB="27432">
                    <a:solidFill>
                      <a:srgbClr val="FCFCFB"/>
                    </a:solidFill>
                  </a:tcPr>
                </a:tc>
                <a:tc>
                  <a:txBody>
                    <a:bodyPr/>
                    <a:lstStyle/>
                    <a:p>
                      <a:r>
                        <a:rPr sz="850" b="0">
                          <a:solidFill>
                            <a:srgbClr val="0B0B0B"/>
                          </a:solidFill>
                        </a:rPr>
                        <a:t>n/a</a:t>
                      </a:r>
                    </a:p>
                  </a:txBody>
                  <a:tcPr marL="45720" marR="45720" marT="27432" marB="27432">
                    <a:solidFill>
                      <a:srgbClr val="FCFCFB"/>
                    </a:solidFill>
                  </a:tcPr>
                </a:tc>
                <a:tc>
                  <a:txBody>
                    <a:bodyPr/>
                    <a:lstStyle/>
                    <a:p>
                      <a:r>
                        <a:rPr sz="850" b="0">
                          <a:solidFill>
                            <a:srgbClr val="0B0B0B"/>
                          </a:solidFill>
                        </a:rPr>
                        <a:t>Knot DNS 2.0.0 (55 mo before)</a:t>
                      </a:r>
                    </a:p>
                  </a:txBody>
                  <a:tcPr marL="45720" marR="45720" marT="27432" marB="27432">
                    <a:solidFill>
                      <a:srgbClr val="FCFCFB"/>
                    </a:solidFill>
                  </a:tcPr>
                </a:tc>
                <a:tc>
                  <a:txBody>
                    <a:bodyPr/>
                    <a:lstStyle/>
                    <a:p>
                      <a:r>
                        <a:rPr sz="850" b="0">
                          <a:solidFill>
                            <a:srgbClr val="0B0B0B"/>
                          </a:solidFill>
                        </a:rPr>
                        <a:t>Knot DNS 2.0.0 (55 mo before)</a:t>
                      </a:r>
                    </a:p>
                  </a:txBody>
                  <a:tcPr marL="45720" marR="45720" marT="27432" marB="27432">
                    <a:solidFill>
                      <a:srgbClr val="FCFCFB"/>
                    </a:solidFill>
                  </a:tcPr>
                </a:tc>
                <a:tc>
                  <a:txBody>
                    <a:bodyPr/>
                    <a:lstStyle/>
                    <a:p>
                      <a:r>
                        <a:rPr sz="850" b="0">
                          <a:solidFill>
                            <a:srgbClr val="0B0B0B"/>
                          </a:solidFill>
                        </a:rPr>
                        <a:t>-</a:t>
                      </a:r>
                    </a:p>
                  </a:txBody>
                  <a:tcPr marL="45720" marR="45720" marT="27432" marB="27432">
                    <a:solidFill>
                      <a:srgbClr val="FCFCFB"/>
                    </a:solidFill>
                  </a:tcPr>
                </a:tc>
              </a:tr>
              <a:tr h="274320">
                <a:tc>
                  <a:txBody>
                    <a:bodyPr/>
                    <a:lstStyle/>
                    <a:p>
                      <a:r>
                        <a:rPr sz="850" b="0">
                          <a:solidFill>
                            <a:srgbClr val="0B0B0B"/>
                          </a:solidFill>
                        </a:rPr>
                        <a:t>8</a:t>
                      </a:r>
                    </a:p>
                  </a:txBody>
                  <a:tcPr marL="45720" marR="45720" marT="27432" marB="27432">
                    <a:solidFill>
                      <a:srgbClr val="FCFCFB"/>
                    </a:solidFill>
                  </a:tcPr>
                </a:tc>
                <a:tc>
                  <a:txBody>
                    <a:bodyPr/>
                    <a:lstStyle/>
                    <a:p>
                      <a:r>
                        <a:rPr sz="850" b="0">
                          <a:solidFill>
                            <a:srgbClr val="0B0B0B"/>
                          </a:solidFill>
                        </a:rPr>
                        <a:t>reverse APNIC</a:t>
                      </a:r>
                    </a:p>
                  </a:txBody>
                  <a:tcPr marL="45720" marR="45720" marT="27432" marB="27432">
                    <a:solidFill>
                      <a:srgbClr val="FCFCFB"/>
                    </a:solidFill>
                  </a:tcPr>
                </a:tc>
                <a:tc>
                  <a:txBody>
                    <a:bodyPr/>
                    <a:lstStyle/>
                    <a:p>
                      <a:r>
                        <a:rPr sz="850" b="0">
                          <a:solidFill>
                            <a:srgbClr val="0B0B0B"/>
                          </a:solidFill>
                        </a:rPr>
                        <a:t>2015-12</a:t>
                      </a:r>
                    </a:p>
                  </a:txBody>
                  <a:tcPr marL="45720" marR="45720" marT="27432" marB="27432">
                    <a:solidFill>
                      <a:srgbClr val="FCFCFB"/>
                    </a:solidFill>
                  </a:tcPr>
                </a:tc>
                <a:tc>
                  <a:txBody>
                    <a:bodyPr/>
                    <a:lstStyle/>
                    <a:p>
                      <a:r>
                        <a:rPr sz="850" b="0">
                          <a:solidFill>
                            <a:srgbClr val="0B0B0B"/>
                          </a:solidFill>
                        </a:rPr>
                        <a:t>+338  (74% -&gt; 89%)</a:t>
                      </a:r>
                    </a:p>
                  </a:txBody>
                  <a:tcPr marL="45720" marR="45720" marT="27432" marB="27432">
                    <a:solidFill>
                      <a:srgbClr val="FCFCFB"/>
                    </a:solidFill>
                  </a:tcPr>
                </a:tc>
                <a:tc>
                  <a:txBody>
                    <a:bodyPr/>
                    <a:lstStyle/>
                    <a:p>
                      <a:r>
                        <a:rPr sz="850" b="0">
                          <a:solidFill>
                            <a:srgbClr val="0B0B0B"/>
                          </a:solidFill>
                        </a:rPr>
                        <a:t>n/a</a:t>
                      </a:r>
                    </a:p>
                  </a:txBody>
                  <a:tcPr marL="45720" marR="45720" marT="27432" marB="27432">
                    <a:solidFill>
                      <a:srgbClr val="FCFCFB"/>
                    </a:solidFill>
                  </a:tcPr>
                </a:tc>
                <a:tc>
                  <a:txBody>
                    <a:bodyPr/>
                    <a:lstStyle/>
                    <a:p>
                      <a:r>
                        <a:rPr sz="850" b="0">
                          <a:solidFill>
                            <a:srgbClr val="0B0B0B"/>
                          </a:solidFill>
                        </a:rPr>
                        <a:t>Knot DNS 2.0.0 (6 mo before)</a:t>
                      </a:r>
                    </a:p>
                  </a:txBody>
                  <a:tcPr marL="45720" marR="45720" marT="27432" marB="27432">
                    <a:solidFill>
                      <a:srgbClr val="FCFCFB"/>
                    </a:solidFill>
                  </a:tcPr>
                </a:tc>
                <a:tc>
                  <a:txBody>
                    <a:bodyPr/>
                    <a:lstStyle/>
                    <a:p>
                      <a:r>
                        <a:rPr sz="850" b="0">
                          <a:solidFill>
                            <a:srgbClr val="0B0B0B"/>
                          </a:solidFill>
                        </a:rPr>
                        <a:t>Knot DNS 2.0.0 (6 mo before)</a:t>
                      </a:r>
                    </a:p>
                  </a:txBody>
                  <a:tcPr marL="45720" marR="45720" marT="27432" marB="27432">
                    <a:solidFill>
                      <a:srgbClr val="FCFCFB"/>
                    </a:solidFill>
                  </a:tcPr>
                </a:tc>
                <a:tc>
                  <a:txBody>
                    <a:bodyPr/>
                    <a:lstStyle/>
                    <a:p>
                      <a:r>
                        <a:rPr sz="850" b="0">
                          <a:solidFill>
                            <a:srgbClr val="0B0B0B"/>
                          </a:solidFill>
                        </a:rPr>
                        <a:t>-</a:t>
                      </a:r>
                    </a:p>
                  </a:txBody>
                  <a:tcPr marL="45720" marR="45720" marT="27432" marB="27432">
                    <a:solidFill>
                      <a:srgbClr val="FCFCFB"/>
                    </a:solidFill>
                  </a:tcPr>
                </a:tc>
              </a:tr>
            </a:tbl>
          </a:graphicData>
        </a:graphic>
      </p:graphicFrame>
      <p:sp>
        <p:nvSpPr>
          <p:cNvPr id="5" name="TextBox 4"/>
          <p:cNvSpPr txBox="1"/>
          <p:nvPr/>
        </p:nvSpPr>
        <p:spPr>
          <a:xfrm>
            <a:off x="566928" y="3831336"/>
            <a:ext cx="11064240" cy="2377440"/>
          </a:xfrm>
          <a:prstGeom prst="rect">
            <a:avLst/>
          </a:prstGeom>
          <a:noFill/>
        </p:spPr>
        <p:txBody>
          <a:bodyPr wrap="square">
            <a:spAutoFit/>
          </a:bodyPr>
          <a:lstStyle/>
          <a:p>
            <a:pPr>
              <a:spcAft>
                <a:spcPts val="500"/>
              </a:spcAft>
            </a:pPr>
            <a:r>
              <a:rPr sz="1050" b="0">
                <a:solidFill>
                  <a:srgbClr val="0B0B0B"/>
                </a:solidFill>
                <a:latin typeface="Segoe UI"/>
              </a:rPr>
              <a:t>The forward corpus starts in 2016-06 with RSA/SHA-256 already at 99% of signed .se zones, so the OpenINTEL side cannot witness its adoption at all. Its forward spikes are signing waves that happened to use it: .se 2017-11 +123,402 zones, 123,031 of them newly signed, 29 months after the nearest default change (Knot 2.0.0).</a:t>
            </a:r>
          </a:p>
          <a:p>
            <a:pPr>
              <a:spcAft>
                <a:spcPts val="500"/>
              </a:spcAft>
            </a:pPr>
            <a:r>
              <a:rPr sz="1050" b="0">
                <a:solidFill>
                  <a:srgbClr val="0B0B0B"/>
                </a:solidFill>
                <a:latin typeface="Segoe UI"/>
              </a:rPr>
              <a:t>Reverse DNS does witness it, and shows the same batching as ECDSA. New signings choosing RSASHA256 go from 0% in 2010Q4 to 20% in 2011Q2 and 81% in 2012Q2, and the step detector puts the step at 2012Q2 -- 15 months after OpenDNSSEC 1.2.0 made RSASHA256 its default and 27 after BIND 9.7.0 shipped it. The 2011 rise is 88 signings across three RIRs with one parent block a third of them, so it is a few operators, not a population.</a:t>
            </a:r>
          </a:p>
          <a:p>
            <a:pPr>
              <a:spcAft>
                <a:spcPts val="500"/>
              </a:spcAft>
            </a:pPr>
            <a:r>
              <a:rPr sz="1050" b="0">
                <a:solidFill>
                  <a:srgbClr val="0B0B0B"/>
                </a:solidFill>
                <a:latin typeface="Segoe UI"/>
              </a:rPr>
              <a:t>Spikes vs releases: 1 of 24 spikes fall within 3 months of a default change (expected by chance about 0.6); the median lag from a spike to the nearest signer release is 40 months. No CVE names this algorithm.</a:t>
            </a:r>
          </a:p>
        </p:txBody>
      </p:sp>
      <p:sp>
        <p:nvSpPr>
          <p:cNvPr id="6" name="TextBox 5"/>
          <p:cNvSpPr txBox="1"/>
          <p:nvPr/>
        </p:nvSpPr>
        <p:spPr>
          <a:xfrm>
            <a:off x="566928" y="6263640"/>
            <a:ext cx="11064240" cy="457200"/>
          </a:xfrm>
          <a:prstGeom prst="rect">
            <a:avLst/>
          </a:prstGeom>
          <a:noFill/>
        </p:spPr>
        <p:txBody>
          <a:bodyPr wrap="square">
            <a:spAutoFit/>
          </a:bodyPr>
          <a:lstStyle/>
          <a:p>
            <a:pPr>
              <a:spcAft>
                <a:spcPts val="600"/>
              </a:spcAft>
            </a:pPr>
            <a:r>
              <a:rPr sz="850" b="0">
                <a:solidFill>
                  <a:srgbClr val="898781"/>
                </a:solidFill>
                <a:latin typeface="Segoe UI"/>
              </a:rPr>
              <a:t>24 spikes (4 OpenINTEL, 20 reverse). Within 3 months after: signer release 1, default change 1, validator cap 0, CVE 0, any DNS release 24. Chance that a random month is within 3 months after a default change: forward 0%, reverse 3%. Full ledger: out/analysis/dns_program_rfc_spikes.csv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THE AUTO-UPDATE TEST  ·  RFC 5702</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200" b="1">
                <a:solidFill>
                  <a:srgbClr val="0B0B0B"/>
                </a:solidFill>
                <a:latin typeface="Segoe UI"/>
              </a:rPr>
              <a:t>Did newly signed reverse delegations pick up the new default?</a:t>
            </a:r>
          </a:p>
        </p:txBody>
      </p:sp>
      <p:pic>
        <p:nvPicPr>
          <p:cNvPr id="4" name="Picture 3" descr="rfc_5702_new_signings.png"/>
          <p:cNvPicPr>
            <a:picLocks noChangeAspect="1"/>
          </p:cNvPicPr>
          <p:nvPr/>
        </p:nvPicPr>
        <p:blipFill>
          <a:blip r:embed="rId2"/>
          <a:stretch>
            <a:fillRect/>
          </a:stretch>
        </p:blipFill>
        <p:spPr>
          <a:xfrm>
            <a:off x="2070499" y="1143000"/>
            <a:ext cx="8050696" cy="2468880"/>
          </a:xfrm>
          <a:prstGeom prst="rect">
            <a:avLst/>
          </a:prstGeom>
        </p:spPr>
      </p:pic>
      <p:graphicFrame>
        <p:nvGraphicFramePr>
          <p:cNvPr id="5" name="Table 4"/>
          <p:cNvGraphicFramePr>
            <a:graphicFrameLocks noGrp="1"/>
          </p:cNvGraphicFramePr>
          <p:nvPr/>
        </p:nvGraphicFramePr>
        <p:xfrm>
          <a:off x="731520" y="3749039"/>
          <a:ext cx="11247120" cy="1371600"/>
        </p:xfrm>
        <a:graphic>
          <a:graphicData uri="http://schemas.openxmlformats.org/drawingml/2006/table">
            <a:tbl>
              <a:tblPr firstRow="1" bandRow="1">
                <a:tableStyleId>{5C22544A-7EE6-4342-B048-85BDC9FD1C3A}</a:tableStyleId>
              </a:tblPr>
              <a:tblGrid>
                <a:gridCol w="3017520"/>
                <a:gridCol w="822960"/>
                <a:gridCol w="822960"/>
                <a:gridCol w="1554480"/>
                <a:gridCol w="1737360"/>
                <a:gridCol w="1554480"/>
                <a:gridCol w="1737360"/>
              </a:tblGrid>
              <a:tr h="274320">
                <a:tc>
                  <a:txBody>
                    <a:bodyPr/>
                    <a:lstStyle/>
                    <a:p>
                      <a:r>
                        <a:rPr sz="900" b="1">
                          <a:solidFill>
                            <a:srgbClr val="52514E"/>
                          </a:solidFill>
                        </a:rPr>
                        <a:t>release</a:t>
                      </a:r>
                    </a:p>
                  </a:txBody>
                  <a:tcPr marL="45720" marR="45720" marT="27432" marB="27432">
                    <a:solidFill>
                      <a:srgbClr val="E1E0D9"/>
                    </a:solidFill>
                  </a:tcPr>
                </a:tc>
                <a:tc>
                  <a:txBody>
                    <a:bodyPr/>
                    <a:lstStyle/>
                    <a:p>
                      <a:r>
                        <a:rPr sz="900" b="1">
                          <a:solidFill>
                            <a:srgbClr val="52514E"/>
                          </a:solidFill>
                        </a:rPr>
                        <a:t>kind</a:t>
                      </a:r>
                    </a:p>
                  </a:txBody>
                  <a:tcPr marL="45720" marR="45720" marT="27432" marB="27432">
                    <a:solidFill>
                      <a:srgbClr val="E1E0D9"/>
                    </a:solidFill>
                  </a:tcPr>
                </a:tc>
                <a:tc>
                  <a:txBody>
                    <a:bodyPr/>
                    <a:lstStyle/>
                    <a:p>
                      <a:r>
                        <a:rPr sz="900" b="1">
                          <a:solidFill>
                            <a:srgbClr val="52514E"/>
                          </a:solidFill>
                        </a:rPr>
                        <a:t>date</a:t>
                      </a:r>
                    </a:p>
                  </a:txBody>
                  <a:tcPr marL="45720" marR="45720" marT="27432" marB="27432">
                    <a:solidFill>
                      <a:srgbClr val="E1E0D9"/>
                    </a:solidFill>
                  </a:tcPr>
                </a:tc>
                <a:tc>
                  <a:txBody>
                    <a:bodyPr/>
                    <a:lstStyle/>
                    <a:p>
                      <a:r>
                        <a:rPr sz="900" b="1">
                          <a:solidFill>
                            <a:srgbClr val="52514E"/>
                          </a:solidFill>
                        </a:rPr>
                        <a:t>new signings, 12 mo before</a:t>
                      </a:r>
                    </a:p>
                  </a:txBody>
                  <a:tcPr marL="45720" marR="45720" marT="27432" marB="27432">
                    <a:solidFill>
                      <a:srgbClr val="E1E0D9"/>
                    </a:solidFill>
                  </a:tcPr>
                </a:tc>
                <a:tc>
                  <a:txBody>
                    <a:bodyPr/>
                    <a:lstStyle/>
                    <a:p>
                      <a:r>
                        <a:rPr sz="900" b="1">
                          <a:solidFill>
                            <a:srgbClr val="52514E"/>
                          </a:solidFill>
                        </a:rPr>
                        <a:t>share choosing it</a:t>
                      </a:r>
                    </a:p>
                  </a:txBody>
                  <a:tcPr marL="45720" marR="45720" marT="27432" marB="27432">
                    <a:solidFill>
                      <a:srgbClr val="E1E0D9"/>
                    </a:solidFill>
                  </a:tcPr>
                </a:tc>
                <a:tc>
                  <a:txBody>
                    <a:bodyPr/>
                    <a:lstStyle/>
                    <a:p>
                      <a:r>
                        <a:rPr sz="900" b="1">
                          <a:solidFill>
                            <a:srgbClr val="52514E"/>
                          </a:solidFill>
                        </a:rPr>
                        <a:t>new signings, 12 mo after</a:t>
                      </a:r>
                    </a:p>
                  </a:txBody>
                  <a:tcPr marL="45720" marR="45720" marT="27432" marB="27432">
                    <a:solidFill>
                      <a:srgbClr val="E1E0D9"/>
                    </a:solidFill>
                  </a:tcPr>
                </a:tc>
                <a:tc>
                  <a:txBody>
                    <a:bodyPr/>
                    <a:lstStyle/>
                    <a:p>
                      <a:r>
                        <a:rPr sz="900" b="1">
                          <a:solidFill>
                            <a:srgbClr val="52514E"/>
                          </a:solidFill>
                        </a:rPr>
                        <a:t>share choosing it</a:t>
                      </a:r>
                    </a:p>
                  </a:txBody>
                  <a:tcPr marL="45720" marR="45720" marT="27432" marB="27432">
                    <a:solidFill>
                      <a:srgbClr val="E1E0D9"/>
                    </a:solidFill>
                  </a:tcPr>
                </a:tc>
              </a:tr>
              <a:tr h="274320">
                <a:tc>
                  <a:txBody>
                    <a:bodyPr/>
                    <a:lstStyle/>
                    <a:p>
                      <a:r>
                        <a:rPr sz="850" b="0">
                          <a:solidFill>
                            <a:srgbClr val="0B0B0B"/>
                          </a:solidFill>
                        </a:rPr>
                        <a:t>OpenDNSSEC 1.2.0</a:t>
                      </a:r>
                    </a:p>
                  </a:txBody>
                  <a:tcPr marL="45720" marR="45720" marT="27432" marB="27432">
                    <a:solidFill>
                      <a:srgbClr val="FCFCFB"/>
                    </a:solidFill>
                  </a:tcPr>
                </a:tc>
                <a:tc>
                  <a:txBody>
                    <a:bodyPr/>
                    <a:lstStyle/>
                    <a:p>
                      <a:r>
                        <a:rPr sz="850" b="0">
                          <a:solidFill>
                            <a:srgbClr val="0B0B0B"/>
                          </a:solidFill>
                        </a:rPr>
                        <a:t>default</a:t>
                      </a:r>
                    </a:p>
                  </a:txBody>
                  <a:tcPr marL="45720" marR="45720" marT="27432" marB="27432">
                    <a:solidFill>
                      <a:srgbClr val="FCFCFB"/>
                    </a:solidFill>
                  </a:tcPr>
                </a:tc>
                <a:tc>
                  <a:txBody>
                    <a:bodyPr/>
                    <a:lstStyle/>
                    <a:p>
                      <a:r>
                        <a:rPr sz="850" b="0">
                          <a:solidFill>
                            <a:srgbClr val="0B0B0B"/>
                          </a:solidFill>
                        </a:rPr>
                        <a:t>2011-03</a:t>
                      </a:r>
                    </a:p>
                  </a:txBody>
                  <a:tcPr marL="45720" marR="45720" marT="27432" marB="27432">
                    <a:solidFill>
                      <a:srgbClr val="FCFCFB"/>
                    </a:solidFill>
                  </a:tcPr>
                </a:tc>
                <a:tc>
                  <a:txBody>
                    <a:bodyPr/>
                    <a:lstStyle/>
                    <a:p>
                      <a:r>
                        <a:rPr sz="850" b="0">
                          <a:solidFill>
                            <a:srgbClr val="0B0B0B"/>
                          </a:solidFill>
                        </a:rPr>
                        <a:t>212</a:t>
                      </a:r>
                    </a:p>
                  </a:txBody>
                  <a:tcPr marL="45720" marR="45720" marT="27432" marB="27432">
                    <a:solidFill>
                      <a:srgbClr val="FCFCFB"/>
                    </a:solidFill>
                  </a:tcPr>
                </a:tc>
                <a:tc>
                  <a:txBody>
                    <a:bodyPr/>
                    <a:lstStyle/>
                    <a:p>
                      <a:r>
                        <a:rPr sz="850" b="0">
                          <a:solidFill>
                            <a:srgbClr val="0B0B0B"/>
                          </a:solidFill>
                        </a:rPr>
                        <a:t>0.9%</a:t>
                      </a:r>
                    </a:p>
                  </a:txBody>
                  <a:tcPr marL="45720" marR="45720" marT="27432" marB="27432">
                    <a:solidFill>
                      <a:srgbClr val="FCFCFB"/>
                    </a:solidFill>
                  </a:tcPr>
                </a:tc>
                <a:tc>
                  <a:txBody>
                    <a:bodyPr/>
                    <a:lstStyle/>
                    <a:p>
                      <a:r>
                        <a:rPr sz="850" b="0">
                          <a:solidFill>
                            <a:srgbClr val="0B0B0B"/>
                          </a:solidFill>
                        </a:rPr>
                        <a:t>459</a:t>
                      </a:r>
                    </a:p>
                  </a:txBody>
                  <a:tcPr marL="45720" marR="45720" marT="27432" marB="27432">
                    <a:solidFill>
                      <a:srgbClr val="FCFCFB"/>
                    </a:solidFill>
                  </a:tcPr>
                </a:tc>
                <a:tc>
                  <a:txBody>
                    <a:bodyPr/>
                    <a:lstStyle/>
                    <a:p>
                      <a:r>
                        <a:rPr sz="850" b="0">
                          <a:solidFill>
                            <a:srgbClr val="0B0B0B"/>
                          </a:solidFill>
                        </a:rPr>
                        <a:t>20.0%</a:t>
                      </a:r>
                    </a:p>
                  </a:txBody>
                  <a:tcPr marL="45720" marR="45720" marT="27432" marB="27432">
                    <a:solidFill>
                      <a:srgbClr val="FCFCFB"/>
                    </a:solidFill>
                  </a:tcPr>
                </a:tc>
              </a:tr>
              <a:tr h="274320">
                <a:tc>
                  <a:txBody>
                    <a:bodyPr/>
                    <a:lstStyle/>
                    <a:p>
                      <a:r>
                        <a:rPr sz="850" b="0">
                          <a:solidFill>
                            <a:srgbClr val="0B0B0B"/>
                          </a:solidFill>
                        </a:rPr>
                        <a:t>Knot DNS 2.0.0</a:t>
                      </a:r>
                    </a:p>
                  </a:txBody>
                  <a:tcPr marL="45720" marR="45720" marT="27432" marB="27432">
                    <a:solidFill>
                      <a:srgbClr val="FCFCFB"/>
                    </a:solidFill>
                  </a:tcPr>
                </a:tc>
                <a:tc>
                  <a:txBody>
                    <a:bodyPr/>
                    <a:lstStyle/>
                    <a:p>
                      <a:r>
                        <a:rPr sz="850" b="0">
                          <a:solidFill>
                            <a:srgbClr val="0B0B0B"/>
                          </a:solidFill>
                        </a:rPr>
                        <a:t>default</a:t>
                      </a:r>
                    </a:p>
                  </a:txBody>
                  <a:tcPr marL="45720" marR="45720" marT="27432" marB="27432">
                    <a:solidFill>
                      <a:srgbClr val="FCFCFB"/>
                    </a:solidFill>
                  </a:tcPr>
                </a:tc>
                <a:tc>
                  <a:txBody>
                    <a:bodyPr/>
                    <a:lstStyle/>
                    <a:p>
                      <a:r>
                        <a:rPr sz="850" b="0">
                          <a:solidFill>
                            <a:srgbClr val="0B0B0B"/>
                          </a:solidFill>
                        </a:rPr>
                        <a:t>2015-06</a:t>
                      </a:r>
                    </a:p>
                  </a:txBody>
                  <a:tcPr marL="45720" marR="45720" marT="27432" marB="27432">
                    <a:solidFill>
                      <a:srgbClr val="FCFCFB"/>
                    </a:solidFill>
                  </a:tcPr>
                </a:tc>
                <a:tc>
                  <a:txBody>
                    <a:bodyPr/>
                    <a:lstStyle/>
                    <a:p>
                      <a:r>
                        <a:rPr sz="850" b="0">
                          <a:solidFill>
                            <a:srgbClr val="0B0B0B"/>
                          </a:solidFill>
                        </a:rPr>
                        <a:t>1093</a:t>
                      </a:r>
                    </a:p>
                  </a:txBody>
                  <a:tcPr marL="45720" marR="45720" marT="27432" marB="27432">
                    <a:solidFill>
                      <a:srgbClr val="FCFCFB"/>
                    </a:solidFill>
                  </a:tcPr>
                </a:tc>
                <a:tc>
                  <a:txBody>
                    <a:bodyPr/>
                    <a:lstStyle/>
                    <a:p>
                      <a:r>
                        <a:rPr sz="850" b="0">
                          <a:solidFill>
                            <a:srgbClr val="0B0B0B"/>
                          </a:solidFill>
                        </a:rPr>
                        <a:t>78.0%</a:t>
                      </a:r>
                    </a:p>
                  </a:txBody>
                  <a:tcPr marL="45720" marR="45720" marT="27432" marB="27432">
                    <a:solidFill>
                      <a:srgbClr val="FCFCFB"/>
                    </a:solidFill>
                  </a:tcPr>
                </a:tc>
                <a:tc>
                  <a:txBody>
                    <a:bodyPr/>
                    <a:lstStyle/>
                    <a:p>
                      <a:r>
                        <a:rPr sz="850" b="0">
                          <a:solidFill>
                            <a:srgbClr val="0B0B0B"/>
                          </a:solidFill>
                        </a:rPr>
                        <a:t>777</a:t>
                      </a:r>
                    </a:p>
                  </a:txBody>
                  <a:tcPr marL="45720" marR="45720" marT="27432" marB="27432">
                    <a:solidFill>
                      <a:srgbClr val="FCFCFB"/>
                    </a:solidFill>
                  </a:tcPr>
                </a:tc>
                <a:tc>
                  <a:txBody>
                    <a:bodyPr/>
                    <a:lstStyle/>
                    <a:p>
                      <a:r>
                        <a:rPr sz="850" b="0">
                          <a:solidFill>
                            <a:srgbClr val="0B0B0B"/>
                          </a:solidFill>
                        </a:rPr>
                        <a:t>69.6%</a:t>
                      </a:r>
                    </a:p>
                  </a:txBody>
                  <a:tcPr marL="45720" marR="45720" marT="27432" marB="27432">
                    <a:solidFill>
                      <a:srgbClr val="FCFCFB"/>
                    </a:solidFill>
                  </a:tcPr>
                </a:tc>
              </a:tr>
              <a:tr h="274320">
                <a:tc>
                  <a:txBody>
                    <a:bodyPr/>
                    <a:lstStyle/>
                    <a:p>
                      <a:r>
                        <a:rPr sz="850" b="0">
                          <a:solidFill>
                            <a:srgbClr val="0B0B0B"/>
                          </a:solidFill>
                        </a:rPr>
                        <a:t>Ubuntu 16.04: Knot DNS 2.0.0</a:t>
                      </a:r>
                    </a:p>
                  </a:txBody>
                  <a:tcPr marL="45720" marR="45720" marT="27432" marB="27432">
                    <a:solidFill>
                      <a:srgbClr val="FCFCFB"/>
                    </a:solidFill>
                  </a:tcPr>
                </a:tc>
                <a:tc>
                  <a:txBody>
                    <a:bodyPr/>
                    <a:lstStyle/>
                    <a:p>
                      <a:r>
                        <a:rPr sz="850" b="0">
                          <a:solidFill>
                            <a:srgbClr val="0B0B0B"/>
                          </a:solidFill>
                        </a:rPr>
                        <a:t>OS package</a:t>
                      </a:r>
                    </a:p>
                  </a:txBody>
                  <a:tcPr marL="45720" marR="45720" marT="27432" marB="27432">
                    <a:solidFill>
                      <a:srgbClr val="FCFCFB"/>
                    </a:solidFill>
                  </a:tcPr>
                </a:tc>
                <a:tc>
                  <a:txBody>
                    <a:bodyPr/>
                    <a:lstStyle/>
                    <a:p>
                      <a:r>
                        <a:rPr sz="850" b="0">
                          <a:solidFill>
                            <a:srgbClr val="0B0B0B"/>
                          </a:solidFill>
                        </a:rPr>
                        <a:t>2016-04</a:t>
                      </a:r>
                    </a:p>
                  </a:txBody>
                  <a:tcPr marL="45720" marR="45720" marT="27432" marB="27432">
                    <a:solidFill>
                      <a:srgbClr val="FCFCFB"/>
                    </a:solidFill>
                  </a:tcPr>
                </a:tc>
                <a:tc>
                  <a:txBody>
                    <a:bodyPr/>
                    <a:lstStyle/>
                    <a:p>
                      <a:r>
                        <a:rPr sz="850" b="0">
                          <a:solidFill>
                            <a:srgbClr val="0B0B0B"/>
                          </a:solidFill>
                        </a:rPr>
                        <a:t>924</a:t>
                      </a:r>
                    </a:p>
                  </a:txBody>
                  <a:tcPr marL="45720" marR="45720" marT="27432" marB="27432">
                    <a:solidFill>
                      <a:srgbClr val="FCFCFB"/>
                    </a:solidFill>
                  </a:tcPr>
                </a:tc>
                <a:tc>
                  <a:txBody>
                    <a:bodyPr/>
                    <a:lstStyle/>
                    <a:p>
                      <a:r>
                        <a:rPr sz="850" b="0">
                          <a:solidFill>
                            <a:srgbClr val="0B0B0B"/>
                          </a:solidFill>
                        </a:rPr>
                        <a:t>70.3% (96 blocks)</a:t>
                      </a:r>
                    </a:p>
                  </a:txBody>
                  <a:tcPr marL="45720" marR="45720" marT="27432" marB="27432">
                    <a:solidFill>
                      <a:srgbClr val="FCFCFB"/>
                    </a:solidFill>
                  </a:tcPr>
                </a:tc>
                <a:tc>
                  <a:txBody>
                    <a:bodyPr/>
                    <a:lstStyle/>
                    <a:p>
                      <a:r>
                        <a:rPr sz="850" b="0">
                          <a:solidFill>
                            <a:srgbClr val="0B0B0B"/>
                          </a:solidFill>
                        </a:rPr>
                        <a:t>1237</a:t>
                      </a:r>
                    </a:p>
                  </a:txBody>
                  <a:tcPr marL="45720" marR="45720" marT="27432" marB="27432">
                    <a:solidFill>
                      <a:srgbClr val="FCFCFB"/>
                    </a:solidFill>
                  </a:tcPr>
                </a:tc>
                <a:tc>
                  <a:txBody>
                    <a:bodyPr/>
                    <a:lstStyle/>
                    <a:p>
                      <a:r>
                        <a:rPr sz="850" b="0">
                          <a:solidFill>
                            <a:srgbClr val="0B0B0B"/>
                          </a:solidFill>
                        </a:rPr>
                        <a:t>96.8% (94 blocks)</a:t>
                      </a:r>
                    </a:p>
                  </a:txBody>
                  <a:tcPr marL="45720" marR="45720" marT="27432" marB="27432">
                    <a:solidFill>
                      <a:srgbClr val="FCFCFB"/>
                    </a:solidFill>
                  </a:tcPr>
                </a:tc>
              </a:tr>
              <a:tr h="274320">
                <a:tc>
                  <a:txBody>
                    <a:bodyPr/>
                    <a:lstStyle/>
                    <a:p>
                      <a:r>
                        <a:rPr sz="850" b="0">
                          <a:solidFill>
                            <a:srgbClr val="0B0B0B"/>
                          </a:solidFill>
                        </a:rPr>
                        <a:t>Debian 9: Knot DNS 2.0.0</a:t>
                      </a:r>
                    </a:p>
                  </a:txBody>
                  <a:tcPr marL="45720" marR="45720" marT="27432" marB="27432">
                    <a:solidFill>
                      <a:srgbClr val="FCFCFB"/>
                    </a:solidFill>
                  </a:tcPr>
                </a:tc>
                <a:tc>
                  <a:txBody>
                    <a:bodyPr/>
                    <a:lstStyle/>
                    <a:p>
                      <a:r>
                        <a:rPr sz="850" b="0">
                          <a:solidFill>
                            <a:srgbClr val="0B0B0B"/>
                          </a:solidFill>
                        </a:rPr>
                        <a:t>OS package</a:t>
                      </a:r>
                    </a:p>
                  </a:txBody>
                  <a:tcPr marL="45720" marR="45720" marT="27432" marB="27432">
                    <a:solidFill>
                      <a:srgbClr val="FCFCFB"/>
                    </a:solidFill>
                  </a:tcPr>
                </a:tc>
                <a:tc>
                  <a:txBody>
                    <a:bodyPr/>
                    <a:lstStyle/>
                    <a:p>
                      <a:r>
                        <a:rPr sz="850" b="0">
                          <a:solidFill>
                            <a:srgbClr val="0B0B0B"/>
                          </a:solidFill>
                        </a:rPr>
                        <a:t>2017-06</a:t>
                      </a:r>
                    </a:p>
                  </a:txBody>
                  <a:tcPr marL="45720" marR="45720" marT="27432" marB="27432">
                    <a:solidFill>
                      <a:srgbClr val="FCFCFB"/>
                    </a:solidFill>
                  </a:tcPr>
                </a:tc>
                <a:tc>
                  <a:txBody>
                    <a:bodyPr/>
                    <a:lstStyle/>
                    <a:p>
                      <a:r>
                        <a:rPr sz="850" b="0">
                          <a:solidFill>
                            <a:srgbClr val="0B0B0B"/>
                          </a:solidFill>
                        </a:rPr>
                        <a:t>1247</a:t>
                      </a:r>
                    </a:p>
                  </a:txBody>
                  <a:tcPr marL="45720" marR="45720" marT="27432" marB="27432">
                    <a:solidFill>
                      <a:srgbClr val="FCFCFB"/>
                    </a:solidFill>
                  </a:tcPr>
                </a:tc>
                <a:tc>
                  <a:txBody>
                    <a:bodyPr/>
                    <a:lstStyle/>
                    <a:p>
                      <a:r>
                        <a:rPr sz="850" b="0">
                          <a:solidFill>
                            <a:srgbClr val="0B0B0B"/>
                          </a:solidFill>
                        </a:rPr>
                        <a:t>97.6% (96 blocks)</a:t>
                      </a:r>
                    </a:p>
                  </a:txBody>
                  <a:tcPr marL="45720" marR="45720" marT="27432" marB="27432">
                    <a:solidFill>
                      <a:srgbClr val="FCFCFB"/>
                    </a:solidFill>
                  </a:tcPr>
                </a:tc>
                <a:tc>
                  <a:txBody>
                    <a:bodyPr/>
                    <a:lstStyle/>
                    <a:p>
                      <a:r>
                        <a:rPr sz="850" b="0">
                          <a:solidFill>
                            <a:srgbClr val="0B0B0B"/>
                          </a:solidFill>
                        </a:rPr>
                        <a:t>597</a:t>
                      </a:r>
                    </a:p>
                  </a:txBody>
                  <a:tcPr marL="45720" marR="45720" marT="27432" marB="27432">
                    <a:solidFill>
                      <a:srgbClr val="FCFCFB"/>
                    </a:solidFill>
                  </a:tcPr>
                </a:tc>
                <a:tc>
                  <a:txBody>
                    <a:bodyPr/>
                    <a:lstStyle/>
                    <a:p>
                      <a:r>
                        <a:rPr sz="850" b="0">
                          <a:solidFill>
                            <a:srgbClr val="0B0B0B"/>
                          </a:solidFill>
                        </a:rPr>
                        <a:t>18.4% (43 blocks)</a:t>
                      </a:r>
                    </a:p>
                  </a:txBody>
                  <a:tcPr marL="45720" marR="45720" marT="27432" marB="27432">
                    <a:solidFill>
                      <a:srgbClr val="FCFCFB"/>
                    </a:solidFill>
                  </a:tcPr>
                </a:tc>
              </a:tr>
            </a:tbl>
          </a:graphicData>
        </a:graphic>
      </p:graphicFrame>
      <p:sp>
        <p:nvSpPr>
          <p:cNvPr id="6" name="TextBox 5"/>
          <p:cNvSpPr txBox="1"/>
          <p:nvPr/>
        </p:nvSpPr>
        <p:spPr>
          <a:xfrm>
            <a:off x="566928" y="6263640"/>
            <a:ext cx="11064240" cy="457200"/>
          </a:xfrm>
          <a:prstGeom prst="rect">
            <a:avLst/>
          </a:prstGeom>
          <a:noFill/>
        </p:spPr>
        <p:txBody>
          <a:bodyPr wrap="square">
            <a:spAutoFit/>
          </a:bodyPr>
          <a:lstStyle/>
          <a:p>
            <a:pPr>
              <a:spcAft>
                <a:spcPts val="600"/>
              </a:spcAft>
            </a:pPr>
            <a:r>
              <a:rPr sz="850" b="0">
                <a:solidFill>
                  <a:srgbClr val="898781"/>
                </a:solidFill>
                <a:latin typeface="Segoe UI"/>
              </a:rPr>
              <a:t>An update changes what a newly signed zone gets; it never re-signs an existing zone. So this share, not the adoption curve, is where an automatic update would show. Source: out/analysis/delegation_changes.parquet, kind = 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THE RFC IN EACH PROGRAM  ·  RFC 8080</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000" b="1">
                <a:solidFill>
                  <a:srgbClr val="0B0B0B"/>
                </a:solidFill>
                <a:latin typeface="Segoe UI"/>
              </a:rPr>
              <a:t>RFC 8080 published 2017-02: what each program did, in months from that date</a:t>
            </a:r>
          </a:p>
        </p:txBody>
      </p:sp>
      <p:sp>
        <p:nvSpPr>
          <p:cNvPr id="4" name="TextBox 3"/>
          <p:cNvSpPr txBox="1"/>
          <p:nvPr/>
        </p:nvSpPr>
        <p:spPr>
          <a:xfrm>
            <a:off x="566928" y="1188720"/>
            <a:ext cx="11064240" cy="5029200"/>
          </a:xfrm>
          <a:prstGeom prst="rect">
            <a:avLst/>
          </a:prstGeom>
          <a:noFill/>
        </p:spPr>
        <p:txBody>
          <a:bodyPr wrap="square">
            <a:spAutoFit/>
          </a:bodyPr>
          <a:lstStyle/>
          <a:p>
            <a:pPr>
              <a:spcAft>
                <a:spcPts val="800"/>
              </a:spcAft>
            </a:pPr>
            <a:r>
              <a:rPr sz="1200" b="0">
                <a:solidFill>
                  <a:srgbClr val="0B0B0B"/>
                </a:solidFill>
                <a:latin typeface="Segoe UI"/>
              </a:rPr>
              <a:t>BIND 9: signs it from 9.12.0, 2018-01 (11 mo after the RFC); CVE-2022-38178 2022-09.</a:t>
            </a:r>
          </a:p>
          <a:p>
            <a:pPr>
              <a:spcAft>
                <a:spcPts val="800"/>
              </a:spcAft>
            </a:pPr>
            <a:r>
              <a:rPr sz="1200" b="0">
                <a:solidFill>
                  <a:srgbClr val="0B0B0B"/>
                </a:solidFill>
                <a:latin typeface="Segoe UI"/>
              </a:rPr>
              <a:t>Knot DNS: algorithm-awares it from 2.4.0, 2017-01 (1 mo before the RFC); signs it from 2.6.0, 2017-09 (7 mo after the RFC).</a:t>
            </a:r>
          </a:p>
          <a:p>
            <a:pPr>
              <a:spcAft>
                <a:spcPts val="800"/>
              </a:spcAft>
            </a:pPr>
            <a:r>
              <a:rPr sz="1200" b="0">
                <a:solidFill>
                  <a:srgbClr val="0B0B0B"/>
                </a:solidFill>
                <a:latin typeface="Segoe UI"/>
              </a:rPr>
              <a:t>OpenDNSSEC: signs it from 2.1.7, 2020-10 (44 mo after the RFC).</a:t>
            </a:r>
          </a:p>
          <a:p>
            <a:pPr>
              <a:spcAft>
                <a:spcPts val="800"/>
              </a:spcAft>
            </a:pPr>
            <a:r>
              <a:rPr sz="1200" b="0">
                <a:solidFill>
                  <a:srgbClr val="0B0B0B"/>
                </a:solidFill>
                <a:latin typeface="Segoe UI"/>
              </a:rPr>
              <a:t>Unbound: validates it from 1.6.4, 2017-06 (4 mo after the RFC); validates it from 1.7.1, 2018-04 (14 mo after the RFC).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D03B3B"/>
                </a:solidFill>
                <a:latin typeface="Segoe UI"/>
              </a:rPr>
              <a:t>NO DEFAULT, NO ADOPTION  ·  RFC 8080</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400" b="1">
                <a:solidFill>
                  <a:srgbClr val="0B0B0B"/>
                </a:solidFill>
                <a:latin typeface="Segoe UI"/>
              </a:rPr>
              <a:t>EdDSA (algorithms 15, 16)</a:t>
            </a:r>
          </a:p>
        </p:txBody>
      </p:sp>
      <p:pic>
        <p:nvPicPr>
          <p:cNvPr id="4" name="Picture 3" descr="rfc_8080.png"/>
          <p:cNvPicPr>
            <a:picLocks noChangeAspect="1"/>
          </p:cNvPicPr>
          <p:nvPr/>
        </p:nvPicPr>
        <p:blipFill>
          <a:blip r:embed="rId2"/>
          <a:stretch>
            <a:fillRect/>
          </a:stretch>
        </p:blipFill>
        <p:spPr>
          <a:xfrm>
            <a:off x="658433" y="1097280"/>
            <a:ext cx="10874829" cy="5074920"/>
          </a:xfrm>
          <a:prstGeom prst="rect">
            <a:avLst/>
          </a:prstGeom>
        </p:spPr>
      </p:pic>
      <p:sp>
        <p:nvSpPr>
          <p:cNvPr id="5" name="TextBox 4"/>
          <p:cNvSpPr txBox="1"/>
          <p:nvPr/>
        </p:nvSpPr>
        <p:spPr>
          <a:xfrm>
            <a:off x="566928" y="6217920"/>
            <a:ext cx="11064240" cy="457200"/>
          </a:xfrm>
          <a:prstGeom prst="rect">
            <a:avLst/>
          </a:prstGeom>
          <a:noFill/>
        </p:spPr>
        <p:txBody>
          <a:bodyPr wrap="square">
            <a:spAutoFit/>
          </a:bodyPr>
          <a:lstStyle/>
          <a:p>
            <a:pPr>
              <a:spcAft>
                <a:spcPts val="600"/>
              </a:spcAft>
            </a:pPr>
            <a:r>
              <a:rPr sz="900" b="0">
                <a:solidFill>
                  <a:srgbClr val="898781"/>
                </a:solidFill>
                <a:latin typeface="Segoe UI"/>
              </a:rPr>
              <a:t>Numbered circles are the largest spikes; the next slide names what preceded each one. Ticks: the first Ubuntu/Debian release carrying that program version (the automatic-update path).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WHAT PRECEDED EACH SPIKE  ·  RFC 8080</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200" b="1">
                <a:solidFill>
                  <a:srgbClr val="0B0B0B"/>
                </a:solidFill>
                <a:latin typeface="Segoe UI"/>
              </a:rPr>
              <a:t>Nearest release, default, cap and CVE before each spike</a:t>
            </a:r>
          </a:p>
        </p:txBody>
      </p:sp>
      <p:graphicFrame>
        <p:nvGraphicFramePr>
          <p:cNvPr id="4" name="Table 3"/>
          <p:cNvGraphicFramePr>
            <a:graphicFrameLocks noGrp="1"/>
          </p:cNvGraphicFramePr>
          <p:nvPr/>
        </p:nvGraphicFramePr>
        <p:xfrm>
          <a:off x="411480" y="1143000"/>
          <a:ext cx="11338560" cy="1645920"/>
        </p:xfrm>
        <a:graphic>
          <a:graphicData uri="http://schemas.openxmlformats.org/drawingml/2006/table">
            <a:tbl>
              <a:tblPr firstRow="1" bandRow="1">
                <a:tableStyleId>{5C22544A-7EE6-4342-B048-85BDC9FD1C3A}</a:tableStyleId>
              </a:tblPr>
              <a:tblGrid>
                <a:gridCol w="274320"/>
                <a:gridCol w="1234440"/>
                <a:gridCol w="1143000"/>
                <a:gridCol w="1600200"/>
                <a:gridCol w="1143000"/>
                <a:gridCol w="2011680"/>
                <a:gridCol w="2011680"/>
                <a:gridCol w="1920240"/>
              </a:tblGrid>
              <a:tr h="274320">
                <a:tc>
                  <a:txBody>
                    <a:bodyPr/>
                    <a:lstStyle/>
                    <a:p>
                      <a:r>
                        <a:rPr sz="900" b="1">
                          <a:solidFill>
                            <a:srgbClr val="52514E"/>
                          </a:solidFill>
                        </a:rPr>
                        <a:t>#</a:t>
                      </a:r>
                    </a:p>
                  </a:txBody>
                  <a:tcPr marL="45720" marR="45720" marT="27432" marB="27432">
                    <a:solidFill>
                      <a:srgbClr val="E1E0D9"/>
                    </a:solidFill>
                  </a:tcPr>
                </a:tc>
                <a:tc>
                  <a:txBody>
                    <a:bodyPr/>
                    <a:lstStyle/>
                    <a:p>
                      <a:r>
                        <a:rPr sz="900" b="1">
                          <a:solidFill>
                            <a:srgbClr val="52514E"/>
                          </a:solidFill>
                        </a:rPr>
                        <a:t>corpus</a:t>
                      </a:r>
                    </a:p>
                  </a:txBody>
                  <a:tcPr marL="45720" marR="45720" marT="27432" marB="27432">
                    <a:solidFill>
                      <a:srgbClr val="E1E0D9"/>
                    </a:solidFill>
                  </a:tcPr>
                </a:tc>
                <a:tc>
                  <a:txBody>
                    <a:bodyPr/>
                    <a:lstStyle/>
                    <a:p>
                      <a:r>
                        <a:rPr sz="900" b="1">
                          <a:solidFill>
                            <a:srgbClr val="52514E"/>
                          </a:solidFill>
                        </a:rPr>
                        <a:t>month(s)</a:t>
                      </a:r>
                    </a:p>
                  </a:txBody>
                  <a:tcPr marL="45720" marR="45720" marT="27432" marB="27432">
                    <a:solidFill>
                      <a:srgbClr val="E1E0D9"/>
                    </a:solidFill>
                  </a:tcPr>
                </a:tc>
                <a:tc>
                  <a:txBody>
                    <a:bodyPr/>
                    <a:lstStyle/>
                    <a:p>
                      <a:r>
                        <a:rPr sz="900" b="1">
                          <a:solidFill>
                            <a:srgbClr val="52514E"/>
                          </a:solidFill>
                        </a:rPr>
                        <a:t>size</a:t>
                      </a:r>
                    </a:p>
                  </a:txBody>
                  <a:tcPr marL="45720" marR="45720" marT="27432" marB="27432">
                    <a:solidFill>
                      <a:srgbClr val="E1E0D9"/>
                    </a:solidFill>
                  </a:tcPr>
                </a:tc>
                <a:tc>
                  <a:txBody>
                    <a:bodyPr/>
                    <a:lstStyle/>
                    <a:p>
                      <a:r>
                        <a:rPr sz="900" b="1">
                          <a:solidFill>
                            <a:srgbClr val="52514E"/>
                          </a:solidFill>
                        </a:rPr>
                        <a:t>made of</a:t>
                      </a:r>
                    </a:p>
                  </a:txBody>
                  <a:tcPr marL="45720" marR="45720" marT="27432" marB="27432">
                    <a:solidFill>
                      <a:srgbClr val="E1E0D9"/>
                    </a:solidFill>
                  </a:tcPr>
                </a:tc>
                <a:tc>
                  <a:txBody>
                    <a:bodyPr/>
                    <a:lstStyle/>
                    <a:p>
                      <a:r>
                        <a:rPr sz="900" b="1">
                          <a:solidFill>
                            <a:srgbClr val="52514E"/>
                          </a:solidFill>
                        </a:rPr>
                        <a:t>nearest signer release</a:t>
                      </a:r>
                    </a:p>
                  </a:txBody>
                  <a:tcPr marL="45720" marR="45720" marT="27432" marB="27432">
                    <a:solidFill>
                      <a:srgbClr val="E1E0D9"/>
                    </a:solidFill>
                  </a:tcPr>
                </a:tc>
                <a:tc>
                  <a:txBody>
                    <a:bodyPr/>
                    <a:lstStyle/>
                    <a:p>
                      <a:r>
                        <a:rPr sz="900" b="1">
                          <a:solidFill>
                            <a:srgbClr val="52514E"/>
                          </a:solidFill>
                        </a:rPr>
                        <a:t>nearest default / cap</a:t>
                      </a:r>
                    </a:p>
                  </a:txBody>
                  <a:tcPr marL="45720" marR="45720" marT="27432" marB="27432">
                    <a:solidFill>
                      <a:srgbClr val="E1E0D9"/>
                    </a:solidFill>
                  </a:tcPr>
                </a:tc>
                <a:tc>
                  <a:txBody>
                    <a:bodyPr/>
                    <a:lstStyle/>
                    <a:p>
                      <a:r>
                        <a:rPr sz="900" b="1">
                          <a:solidFill>
                            <a:srgbClr val="52514E"/>
                          </a:solidFill>
                        </a:rPr>
                        <a:t>nearest CVE</a:t>
                      </a:r>
                    </a:p>
                  </a:txBody>
                  <a:tcPr marL="45720" marR="45720" marT="27432" marB="27432">
                    <a:solidFill>
                      <a:srgbClr val="E1E0D9"/>
                    </a:solidFill>
                  </a:tcPr>
                </a:tc>
              </a:tr>
              <a:tr h="274320">
                <a:tc>
                  <a:txBody>
                    <a:bodyPr/>
                    <a:lstStyle/>
                    <a:p>
                      <a:r>
                        <a:rPr sz="850" b="0">
                          <a:solidFill>
                            <a:srgbClr val="0B0B0B"/>
                          </a:solidFill>
                        </a:rPr>
                        <a:t>1</a:t>
                      </a:r>
                    </a:p>
                  </a:txBody>
                  <a:tcPr marL="45720" marR="45720" marT="27432" marB="27432">
                    <a:solidFill>
                      <a:srgbClr val="FCFCFB"/>
                    </a:solidFill>
                  </a:tcPr>
                </a:tc>
                <a:tc>
                  <a:txBody>
                    <a:bodyPr/>
                    <a:lstStyle/>
                    <a:p>
                      <a:r>
                        <a:rPr sz="850" b="0">
                          <a:solidFill>
                            <a:srgbClr val="0B0B0B"/>
                          </a:solidFill>
                        </a:rPr>
                        <a:t>OpenINTEL .se</a:t>
                      </a:r>
                    </a:p>
                  </a:txBody>
                  <a:tcPr marL="45720" marR="45720" marT="27432" marB="27432">
                    <a:solidFill>
                      <a:srgbClr val="FCFCFB"/>
                    </a:solidFill>
                  </a:tcPr>
                </a:tc>
                <a:tc>
                  <a:txBody>
                    <a:bodyPr/>
                    <a:lstStyle/>
                    <a:p>
                      <a:r>
                        <a:rPr sz="850" b="0">
                          <a:solidFill>
                            <a:srgbClr val="0B0B0B"/>
                          </a:solidFill>
                        </a:rPr>
                        <a:t>2020-04..2020-06</a:t>
                      </a:r>
                    </a:p>
                  </a:txBody>
                  <a:tcPr marL="45720" marR="45720" marT="27432" marB="27432">
                    <a:solidFill>
                      <a:srgbClr val="FCFCFB"/>
                    </a:solidFill>
                  </a:tcPr>
                </a:tc>
                <a:tc>
                  <a:txBody>
                    <a:bodyPr/>
                    <a:lstStyle/>
                    <a:p>
                      <a:r>
                        <a:rPr sz="850" b="0">
                          <a:solidFill>
                            <a:srgbClr val="0B0B0B"/>
                          </a:solidFill>
                        </a:rPr>
                        <a:t>+18,746  (0% -&gt; 2%)</a:t>
                      </a:r>
                    </a:p>
                  </a:txBody>
                  <a:tcPr marL="45720" marR="45720" marT="27432" marB="27432">
                    <a:solidFill>
                      <a:srgbClr val="FCFCFB"/>
                    </a:solidFill>
                  </a:tcPr>
                </a:tc>
                <a:tc>
                  <a:txBody>
                    <a:bodyPr/>
                    <a:lstStyle/>
                    <a:p>
                      <a:r>
                        <a:rPr sz="850" b="0">
                          <a:solidFill>
                            <a:srgbClr val="0B0B0B"/>
                          </a:solidFill>
                        </a:rPr>
                        <a:t>mixed: &gt;=11,718 rolled</a:t>
                      </a:r>
                    </a:p>
                  </a:txBody>
                  <a:tcPr marL="45720" marR="45720" marT="27432" marB="27432">
                    <a:solidFill>
                      <a:srgbClr val="FCFCFB"/>
                    </a:solidFill>
                  </a:tcPr>
                </a:tc>
                <a:tc>
                  <a:txBody>
                    <a:bodyPr/>
                    <a:lstStyle/>
                    <a:p>
                      <a:r>
                        <a:rPr sz="850" b="0">
                          <a:solidFill>
                            <a:srgbClr val="0B0B0B"/>
                          </a:solidFill>
                        </a:rPr>
                        <a:t>BIND 9 9.12.0 (27 mo before)</a:t>
                      </a:r>
                    </a:p>
                  </a:txBody>
                  <a:tcPr marL="45720" marR="45720" marT="27432" marB="27432">
                    <a:solidFill>
                      <a:srgbClr val="FCFCFB"/>
                    </a:solidFill>
                  </a:tcPr>
                </a:tc>
                <a:tc>
                  <a:txBody>
                    <a:bodyPr/>
                    <a:lstStyle/>
                    <a:p>
                      <a:r>
                        <a:rPr sz="850" b="0">
                          <a:solidFill>
                            <a:srgbClr val="0B0B0B"/>
                          </a:solidFill>
                        </a:rPr>
                        <a:t>-</a:t>
                      </a:r>
                    </a:p>
                  </a:txBody>
                  <a:tcPr marL="45720" marR="45720" marT="27432" marB="27432">
                    <a:solidFill>
                      <a:srgbClr val="FCFCFB"/>
                    </a:solidFill>
                  </a:tcPr>
                </a:tc>
                <a:tc>
                  <a:txBody>
                    <a:bodyPr/>
                    <a:lstStyle/>
                    <a:p>
                      <a:r>
                        <a:rPr sz="850" b="0">
                          <a:solidFill>
                            <a:srgbClr val="0B0B0B"/>
                          </a:solidFill>
                        </a:rPr>
                        <a:t>-</a:t>
                      </a:r>
                    </a:p>
                  </a:txBody>
                  <a:tcPr marL="45720" marR="45720" marT="27432" marB="27432">
                    <a:solidFill>
                      <a:srgbClr val="FCFCFB"/>
                    </a:solidFill>
                  </a:tcPr>
                </a:tc>
              </a:tr>
              <a:tr h="274320">
                <a:tc>
                  <a:txBody>
                    <a:bodyPr/>
                    <a:lstStyle/>
                    <a:p>
                      <a:r>
                        <a:rPr sz="850" b="0">
                          <a:solidFill>
                            <a:srgbClr val="0B0B0B"/>
                          </a:solidFill>
                        </a:rPr>
                        <a:t>2</a:t>
                      </a:r>
                    </a:p>
                  </a:txBody>
                  <a:tcPr marL="45720" marR="45720" marT="27432" marB="27432">
                    <a:solidFill>
                      <a:srgbClr val="FCFCFB"/>
                    </a:solidFill>
                  </a:tcPr>
                </a:tc>
                <a:tc>
                  <a:txBody>
                    <a:bodyPr/>
                    <a:lstStyle/>
                    <a:p>
                      <a:r>
                        <a:rPr sz="850" b="0">
                          <a:solidFill>
                            <a:srgbClr val="0B0B0B"/>
                          </a:solidFill>
                        </a:rPr>
                        <a:t>OpenINTEL .se</a:t>
                      </a:r>
                    </a:p>
                  </a:txBody>
                  <a:tcPr marL="45720" marR="45720" marT="27432" marB="27432">
                    <a:solidFill>
                      <a:srgbClr val="FCFCFB"/>
                    </a:solidFill>
                  </a:tcPr>
                </a:tc>
                <a:tc>
                  <a:txBody>
                    <a:bodyPr/>
                    <a:lstStyle/>
                    <a:p>
                      <a:r>
                        <a:rPr sz="850" b="0">
                          <a:solidFill>
                            <a:srgbClr val="0B0B0B"/>
                          </a:solidFill>
                        </a:rPr>
                        <a:t>2023-01..2023-02</a:t>
                      </a:r>
                    </a:p>
                  </a:txBody>
                  <a:tcPr marL="45720" marR="45720" marT="27432" marB="27432">
                    <a:solidFill>
                      <a:srgbClr val="FCFCFB"/>
                    </a:solidFill>
                  </a:tcPr>
                </a:tc>
                <a:tc>
                  <a:txBody>
                    <a:bodyPr/>
                    <a:lstStyle/>
                    <a:p>
                      <a:r>
                        <a:rPr sz="850" b="0">
                          <a:solidFill>
                            <a:srgbClr val="0B0B0B"/>
                          </a:solidFill>
                        </a:rPr>
                        <a:t>+13,257  (0% -&gt; 2%)</a:t>
                      </a:r>
                    </a:p>
                  </a:txBody>
                  <a:tcPr marL="45720" marR="45720" marT="27432" marB="27432">
                    <a:solidFill>
                      <a:srgbClr val="FCFCFB"/>
                    </a:solidFill>
                  </a:tcPr>
                </a:tc>
                <a:tc>
                  <a:txBody>
                    <a:bodyPr/>
                    <a:lstStyle/>
                    <a:p>
                      <a:r>
                        <a:rPr sz="850" b="0">
                          <a:solidFill>
                            <a:srgbClr val="0B0B0B"/>
                          </a:solidFill>
                        </a:rPr>
                        <a:t>mixed: &gt;=12,748 rolled</a:t>
                      </a:r>
                    </a:p>
                  </a:txBody>
                  <a:tcPr marL="45720" marR="45720" marT="27432" marB="27432">
                    <a:solidFill>
                      <a:srgbClr val="FCFCFB"/>
                    </a:solidFill>
                  </a:tcPr>
                </a:tc>
                <a:tc>
                  <a:txBody>
                    <a:bodyPr/>
                    <a:lstStyle/>
                    <a:p>
                      <a:r>
                        <a:rPr sz="850" b="0">
                          <a:solidFill>
                            <a:srgbClr val="0B0B0B"/>
                          </a:solidFill>
                        </a:rPr>
                        <a:t>OpenDNSSEC 2.1.7 (27 mo before)</a:t>
                      </a:r>
                    </a:p>
                  </a:txBody>
                  <a:tcPr marL="45720" marR="45720" marT="27432" marB="27432">
                    <a:solidFill>
                      <a:srgbClr val="FCFCFB"/>
                    </a:solidFill>
                  </a:tcPr>
                </a:tc>
                <a:tc>
                  <a:txBody>
                    <a:bodyPr/>
                    <a:lstStyle/>
                    <a:p>
                      <a:r>
                        <a:rPr sz="850" b="0">
                          <a:solidFill>
                            <a:srgbClr val="0B0B0B"/>
                          </a:solidFill>
                        </a:rPr>
                        <a:t>-</a:t>
                      </a:r>
                    </a:p>
                  </a:txBody>
                  <a:tcPr marL="45720" marR="45720" marT="27432" marB="27432">
                    <a:solidFill>
                      <a:srgbClr val="FCFCFB"/>
                    </a:solidFill>
                  </a:tcPr>
                </a:tc>
                <a:tc>
                  <a:txBody>
                    <a:bodyPr/>
                    <a:lstStyle/>
                    <a:p>
                      <a:r>
                        <a:rPr sz="850" b="0">
                          <a:solidFill>
                            <a:srgbClr val="0B0B0B"/>
                          </a:solidFill>
                        </a:rPr>
                        <a:t>CVE-2022-38178 (BIND 9) (4 mo before)</a:t>
                      </a:r>
                    </a:p>
                  </a:txBody>
                  <a:tcPr marL="45720" marR="45720" marT="27432" marB="27432">
                    <a:solidFill>
                      <a:srgbClr val="FCFCFB"/>
                    </a:solidFill>
                  </a:tcPr>
                </a:tc>
              </a:tr>
              <a:tr h="274320">
                <a:tc>
                  <a:txBody>
                    <a:bodyPr/>
                    <a:lstStyle/>
                    <a:p>
                      <a:r>
                        <a:rPr sz="850" b="0">
                          <a:solidFill>
                            <a:srgbClr val="0B0B0B"/>
                          </a:solidFill>
                        </a:rPr>
                        <a:t>3</a:t>
                      </a:r>
                    </a:p>
                  </a:txBody>
                  <a:tcPr marL="45720" marR="45720" marT="27432" marB="27432">
                    <a:solidFill>
                      <a:srgbClr val="FCFCFB"/>
                    </a:solidFill>
                  </a:tcPr>
                </a:tc>
                <a:tc>
                  <a:txBody>
                    <a:bodyPr/>
                    <a:lstStyle/>
                    <a:p>
                      <a:r>
                        <a:rPr sz="850" b="0">
                          <a:solidFill>
                            <a:srgbClr val="0B0B0B"/>
                          </a:solidFill>
                        </a:rPr>
                        <a:t>OpenINTEL .nu</a:t>
                      </a:r>
                    </a:p>
                  </a:txBody>
                  <a:tcPr marL="45720" marR="45720" marT="27432" marB="27432">
                    <a:solidFill>
                      <a:srgbClr val="FCFCFB"/>
                    </a:solidFill>
                  </a:tcPr>
                </a:tc>
                <a:tc>
                  <a:txBody>
                    <a:bodyPr/>
                    <a:lstStyle/>
                    <a:p>
                      <a:r>
                        <a:rPr sz="850" b="0">
                          <a:solidFill>
                            <a:srgbClr val="0B0B0B"/>
                          </a:solidFill>
                        </a:rPr>
                        <a:t>2020-04..2020-06</a:t>
                      </a:r>
                    </a:p>
                  </a:txBody>
                  <a:tcPr marL="45720" marR="45720" marT="27432" marB="27432">
                    <a:solidFill>
                      <a:srgbClr val="FCFCFB"/>
                    </a:solidFill>
                  </a:tcPr>
                </a:tc>
                <a:tc>
                  <a:txBody>
                    <a:bodyPr/>
                    <a:lstStyle/>
                    <a:p>
                      <a:r>
                        <a:rPr sz="850" b="0">
                          <a:solidFill>
                            <a:srgbClr val="0B0B0B"/>
                          </a:solidFill>
                        </a:rPr>
                        <a:t>+1,125  (0% -&gt; 1%)</a:t>
                      </a:r>
                    </a:p>
                  </a:txBody>
                  <a:tcPr marL="45720" marR="45720" marT="27432" marB="27432">
                    <a:solidFill>
                      <a:srgbClr val="FCFCFB"/>
                    </a:solidFill>
                  </a:tcPr>
                </a:tc>
                <a:tc>
                  <a:txBody>
                    <a:bodyPr/>
                    <a:lstStyle/>
                    <a:p>
                      <a:r>
                        <a:rPr sz="850" b="0">
                          <a:solidFill>
                            <a:srgbClr val="0B0B0B"/>
                          </a:solidFill>
                        </a:rPr>
                        <a:t>new signings</a:t>
                      </a:r>
                    </a:p>
                  </a:txBody>
                  <a:tcPr marL="45720" marR="45720" marT="27432" marB="27432">
                    <a:solidFill>
                      <a:srgbClr val="FCFCFB"/>
                    </a:solidFill>
                  </a:tcPr>
                </a:tc>
                <a:tc>
                  <a:txBody>
                    <a:bodyPr/>
                    <a:lstStyle/>
                    <a:p>
                      <a:r>
                        <a:rPr sz="850" b="0">
                          <a:solidFill>
                            <a:srgbClr val="0B0B0B"/>
                          </a:solidFill>
                        </a:rPr>
                        <a:t>BIND 9 9.12.0 (27 mo before)</a:t>
                      </a:r>
                    </a:p>
                  </a:txBody>
                  <a:tcPr marL="45720" marR="45720" marT="27432" marB="27432">
                    <a:solidFill>
                      <a:srgbClr val="FCFCFB"/>
                    </a:solidFill>
                  </a:tcPr>
                </a:tc>
                <a:tc>
                  <a:txBody>
                    <a:bodyPr/>
                    <a:lstStyle/>
                    <a:p>
                      <a:r>
                        <a:rPr sz="850" b="0">
                          <a:solidFill>
                            <a:srgbClr val="0B0B0B"/>
                          </a:solidFill>
                        </a:rPr>
                        <a:t>-</a:t>
                      </a:r>
                    </a:p>
                  </a:txBody>
                  <a:tcPr marL="45720" marR="45720" marT="27432" marB="27432">
                    <a:solidFill>
                      <a:srgbClr val="FCFCFB"/>
                    </a:solidFill>
                  </a:tcPr>
                </a:tc>
                <a:tc>
                  <a:txBody>
                    <a:bodyPr/>
                    <a:lstStyle/>
                    <a:p>
                      <a:r>
                        <a:rPr sz="850" b="0">
                          <a:solidFill>
                            <a:srgbClr val="0B0B0B"/>
                          </a:solidFill>
                        </a:rPr>
                        <a:t>-</a:t>
                      </a:r>
                    </a:p>
                  </a:txBody>
                  <a:tcPr marL="45720" marR="45720" marT="27432" marB="27432">
                    <a:solidFill>
                      <a:srgbClr val="FCFCFB"/>
                    </a:solidFill>
                  </a:tcPr>
                </a:tc>
              </a:tr>
              <a:tr h="274320">
                <a:tc>
                  <a:txBody>
                    <a:bodyPr/>
                    <a:lstStyle/>
                    <a:p>
                      <a:r>
                        <a:rPr sz="850" b="0">
                          <a:solidFill>
                            <a:srgbClr val="0B0B0B"/>
                          </a:solidFill>
                        </a:rPr>
                        <a:t>4</a:t>
                      </a:r>
                    </a:p>
                  </a:txBody>
                  <a:tcPr marL="45720" marR="45720" marT="27432" marB="27432">
                    <a:solidFill>
                      <a:srgbClr val="FCFCFB"/>
                    </a:solidFill>
                  </a:tcPr>
                </a:tc>
                <a:tc>
                  <a:txBody>
                    <a:bodyPr/>
                    <a:lstStyle/>
                    <a:p>
                      <a:r>
                        <a:rPr sz="850" b="0">
                          <a:solidFill>
                            <a:srgbClr val="0B0B0B"/>
                          </a:solidFill>
                        </a:rPr>
                        <a:t>OpenINTEL .nu</a:t>
                      </a:r>
                    </a:p>
                  </a:txBody>
                  <a:tcPr marL="45720" marR="45720" marT="27432" marB="27432">
                    <a:solidFill>
                      <a:srgbClr val="FCFCFB"/>
                    </a:solidFill>
                  </a:tcPr>
                </a:tc>
                <a:tc>
                  <a:txBody>
                    <a:bodyPr/>
                    <a:lstStyle/>
                    <a:p>
                      <a:r>
                        <a:rPr sz="850" b="0">
                          <a:solidFill>
                            <a:srgbClr val="0B0B0B"/>
                          </a:solidFill>
                        </a:rPr>
                        <a:t>2023-01</a:t>
                      </a:r>
                    </a:p>
                  </a:txBody>
                  <a:tcPr marL="45720" marR="45720" marT="27432" marB="27432">
                    <a:solidFill>
                      <a:srgbClr val="FCFCFB"/>
                    </a:solidFill>
                  </a:tcPr>
                </a:tc>
                <a:tc>
                  <a:txBody>
                    <a:bodyPr/>
                    <a:lstStyle/>
                    <a:p>
                      <a:r>
                        <a:rPr sz="850" b="0">
                          <a:solidFill>
                            <a:srgbClr val="0B0B0B"/>
                          </a:solidFill>
                        </a:rPr>
                        <a:t>+735  (0% -&gt; 1%)</a:t>
                      </a:r>
                    </a:p>
                  </a:txBody>
                  <a:tcPr marL="45720" marR="45720" marT="27432" marB="27432">
                    <a:solidFill>
                      <a:srgbClr val="FCFCFB"/>
                    </a:solidFill>
                  </a:tcPr>
                </a:tc>
                <a:tc>
                  <a:txBody>
                    <a:bodyPr/>
                    <a:lstStyle/>
                    <a:p>
                      <a:r>
                        <a:rPr sz="850" b="0">
                          <a:solidFill>
                            <a:srgbClr val="0B0B0B"/>
                          </a:solidFill>
                        </a:rPr>
                        <a:t>rollovers</a:t>
                      </a:r>
                    </a:p>
                  </a:txBody>
                  <a:tcPr marL="45720" marR="45720" marT="27432" marB="27432">
                    <a:solidFill>
                      <a:srgbClr val="FCFCFB"/>
                    </a:solidFill>
                  </a:tcPr>
                </a:tc>
                <a:tc>
                  <a:txBody>
                    <a:bodyPr/>
                    <a:lstStyle/>
                    <a:p>
                      <a:r>
                        <a:rPr sz="850" b="0">
                          <a:solidFill>
                            <a:srgbClr val="0B0B0B"/>
                          </a:solidFill>
                        </a:rPr>
                        <a:t>OpenDNSSEC 2.1.7 (27 mo before)</a:t>
                      </a:r>
                    </a:p>
                  </a:txBody>
                  <a:tcPr marL="45720" marR="45720" marT="27432" marB="27432">
                    <a:solidFill>
                      <a:srgbClr val="FCFCFB"/>
                    </a:solidFill>
                  </a:tcPr>
                </a:tc>
                <a:tc>
                  <a:txBody>
                    <a:bodyPr/>
                    <a:lstStyle/>
                    <a:p>
                      <a:r>
                        <a:rPr sz="850" b="0">
                          <a:solidFill>
                            <a:srgbClr val="0B0B0B"/>
                          </a:solidFill>
                        </a:rPr>
                        <a:t>-</a:t>
                      </a:r>
                    </a:p>
                  </a:txBody>
                  <a:tcPr marL="45720" marR="45720" marT="27432" marB="27432">
                    <a:solidFill>
                      <a:srgbClr val="FCFCFB"/>
                    </a:solidFill>
                  </a:tcPr>
                </a:tc>
                <a:tc>
                  <a:txBody>
                    <a:bodyPr/>
                    <a:lstStyle/>
                    <a:p>
                      <a:r>
                        <a:rPr sz="850" b="0">
                          <a:solidFill>
                            <a:srgbClr val="0B0B0B"/>
                          </a:solidFill>
                        </a:rPr>
                        <a:t>CVE-2022-38178 (BIND 9) (4 mo before)</a:t>
                      </a:r>
                    </a:p>
                  </a:txBody>
                  <a:tcPr marL="45720" marR="45720" marT="27432" marB="27432">
                    <a:solidFill>
                      <a:srgbClr val="FCFCFB"/>
                    </a:solidFill>
                  </a:tcPr>
                </a:tc>
              </a:tr>
              <a:tr h="274320">
                <a:tc>
                  <a:txBody>
                    <a:bodyPr/>
                    <a:lstStyle/>
                    <a:p>
                      <a:r>
                        <a:rPr sz="850" b="0">
                          <a:solidFill>
                            <a:srgbClr val="0B0B0B"/>
                          </a:solidFill>
                        </a:rPr>
                        <a:t>5</a:t>
                      </a:r>
                    </a:p>
                  </a:txBody>
                  <a:tcPr marL="45720" marR="45720" marT="27432" marB="27432">
                    <a:solidFill>
                      <a:srgbClr val="FCFCFB"/>
                    </a:solidFill>
                  </a:tcPr>
                </a:tc>
                <a:tc>
                  <a:txBody>
                    <a:bodyPr/>
                    <a:lstStyle/>
                    <a:p>
                      <a:r>
                        <a:rPr sz="850" b="0">
                          <a:solidFill>
                            <a:srgbClr val="0B0B0B"/>
                          </a:solidFill>
                        </a:rPr>
                        <a:t>OpenINTEL .ch</a:t>
                      </a:r>
                    </a:p>
                  </a:txBody>
                  <a:tcPr marL="45720" marR="45720" marT="27432" marB="27432">
                    <a:solidFill>
                      <a:srgbClr val="FCFCFB"/>
                    </a:solidFill>
                  </a:tcPr>
                </a:tc>
                <a:tc>
                  <a:txBody>
                    <a:bodyPr/>
                    <a:lstStyle/>
                    <a:p>
                      <a:r>
                        <a:rPr sz="850" b="0">
                          <a:solidFill>
                            <a:srgbClr val="0B0B0B"/>
                          </a:solidFill>
                        </a:rPr>
                        <a:t>2023-01</a:t>
                      </a:r>
                    </a:p>
                  </a:txBody>
                  <a:tcPr marL="45720" marR="45720" marT="27432" marB="27432">
                    <a:solidFill>
                      <a:srgbClr val="FCFCFB"/>
                    </a:solidFill>
                  </a:tcPr>
                </a:tc>
                <a:tc>
                  <a:txBody>
                    <a:bodyPr/>
                    <a:lstStyle/>
                    <a:p>
                      <a:r>
                        <a:rPr sz="850" b="0">
                          <a:solidFill>
                            <a:srgbClr val="0B0B0B"/>
                          </a:solidFill>
                        </a:rPr>
                        <a:t>+490  (0% -&gt; 0%)</a:t>
                      </a:r>
                    </a:p>
                  </a:txBody>
                  <a:tcPr marL="45720" marR="45720" marT="27432" marB="27432">
                    <a:solidFill>
                      <a:srgbClr val="FCFCFB"/>
                    </a:solidFill>
                  </a:tcPr>
                </a:tc>
                <a:tc>
                  <a:txBody>
                    <a:bodyPr/>
                    <a:lstStyle/>
                    <a:p>
                      <a:r>
                        <a:rPr sz="850" b="0">
                          <a:solidFill>
                            <a:srgbClr val="0B0B0B"/>
                          </a:solidFill>
                        </a:rPr>
                        <a:t>new signings</a:t>
                      </a:r>
                    </a:p>
                  </a:txBody>
                  <a:tcPr marL="45720" marR="45720" marT="27432" marB="27432">
                    <a:solidFill>
                      <a:srgbClr val="FCFCFB"/>
                    </a:solidFill>
                  </a:tcPr>
                </a:tc>
                <a:tc>
                  <a:txBody>
                    <a:bodyPr/>
                    <a:lstStyle/>
                    <a:p>
                      <a:r>
                        <a:rPr sz="850" b="0">
                          <a:solidFill>
                            <a:srgbClr val="0B0B0B"/>
                          </a:solidFill>
                        </a:rPr>
                        <a:t>OpenDNSSEC 2.1.7 (27 mo before)</a:t>
                      </a:r>
                    </a:p>
                  </a:txBody>
                  <a:tcPr marL="45720" marR="45720" marT="27432" marB="27432">
                    <a:solidFill>
                      <a:srgbClr val="FCFCFB"/>
                    </a:solidFill>
                  </a:tcPr>
                </a:tc>
                <a:tc>
                  <a:txBody>
                    <a:bodyPr/>
                    <a:lstStyle/>
                    <a:p>
                      <a:r>
                        <a:rPr sz="850" b="0">
                          <a:solidFill>
                            <a:srgbClr val="0B0B0B"/>
                          </a:solidFill>
                        </a:rPr>
                        <a:t>-</a:t>
                      </a:r>
                    </a:p>
                  </a:txBody>
                  <a:tcPr marL="45720" marR="45720" marT="27432" marB="27432">
                    <a:solidFill>
                      <a:srgbClr val="FCFCFB"/>
                    </a:solidFill>
                  </a:tcPr>
                </a:tc>
                <a:tc>
                  <a:txBody>
                    <a:bodyPr/>
                    <a:lstStyle/>
                    <a:p>
                      <a:r>
                        <a:rPr sz="850" b="0">
                          <a:solidFill>
                            <a:srgbClr val="0B0B0B"/>
                          </a:solidFill>
                        </a:rPr>
                        <a:t>CVE-2022-38178 (BIND 9) (4 mo before)</a:t>
                      </a:r>
                    </a:p>
                  </a:txBody>
                  <a:tcPr marL="45720" marR="45720" marT="27432" marB="27432">
                    <a:solidFill>
                      <a:srgbClr val="FCFCFB"/>
                    </a:solidFill>
                  </a:tcPr>
                </a:tc>
              </a:tr>
            </a:tbl>
          </a:graphicData>
        </a:graphic>
      </p:graphicFrame>
      <p:sp>
        <p:nvSpPr>
          <p:cNvPr id="5" name="TextBox 4"/>
          <p:cNvSpPr txBox="1"/>
          <p:nvPr/>
        </p:nvSpPr>
        <p:spPr>
          <a:xfrm>
            <a:off x="566928" y="2980944"/>
            <a:ext cx="11064240" cy="2377440"/>
          </a:xfrm>
          <a:prstGeom prst="rect">
            <a:avLst/>
          </a:prstGeom>
          <a:noFill/>
        </p:spPr>
        <p:txBody>
          <a:bodyPr wrap="square">
            <a:spAutoFit/>
          </a:bodyPr>
          <a:lstStyle/>
          <a:p>
            <a:pPr>
              <a:spcAft>
                <a:spcPts val="500"/>
              </a:spcAft>
            </a:pPr>
            <a:r>
              <a:rPr sz="1050" b="0">
                <a:solidFill>
                  <a:srgbClr val="0B0B0B"/>
                </a:solidFill>
                <a:latin typeface="Segoe UI"/>
              </a:rPr>
              <a:t>No program ever made EdDSA a default, and no OS package carried a default for it. The forward corpus shows two experiments, both in .se/.nu and both withdrawn: 2020-04..2020-06 +18,746 zones (11,718 rolled from another algorithm) and 2023-01..2023-02 +13,257 (12,748 rolled). The share returns to zero within a year each time.</a:t>
            </a:r>
          </a:p>
          <a:p>
            <a:pPr>
              <a:spcAft>
                <a:spcPts val="500"/>
              </a:spcAft>
            </a:pPr>
            <a:r>
              <a:rPr sz="1050" b="0">
                <a:solidFill>
                  <a:srgbClr val="0B0B0B"/>
                </a:solidFill>
                <a:latin typeface="Segoe UI"/>
              </a:rPr>
              <a:t>Each episode sits 27 months after the nearest signer release, and a random forward month is within 3 months of one 18% of the time -- no spike is. The second episode came 4 months after CVE-2022-38178, a BIND memory leak on malformed EdDSA signatures; a validator bug is not a reason to sign with EdDSA, and one such coincidence among 5 spikes is expected.</a:t>
            </a:r>
          </a:p>
          <a:p>
            <a:pPr>
              <a:spcAft>
                <a:spcPts val="500"/>
              </a:spcAft>
            </a:pPr>
            <a:r>
              <a:rPr sz="1050" b="0">
                <a:solidFill>
                  <a:srgbClr val="0B0B0B"/>
                </a:solidFill>
                <a:latin typeface="Segoe UI"/>
              </a:rPr>
              <a:t>Reverse DNS: no spike, and 14 rollovers to EdDSA in the whole ledger. The mechanism that moved ECDSA (a signer default that new zones inherit) never existed for EdDSA.</a:t>
            </a:r>
          </a:p>
        </p:txBody>
      </p:sp>
      <p:sp>
        <p:nvSpPr>
          <p:cNvPr id="6" name="TextBox 5"/>
          <p:cNvSpPr txBox="1"/>
          <p:nvPr/>
        </p:nvSpPr>
        <p:spPr>
          <a:xfrm>
            <a:off x="566928" y="6263640"/>
            <a:ext cx="11064240" cy="457200"/>
          </a:xfrm>
          <a:prstGeom prst="rect">
            <a:avLst/>
          </a:prstGeom>
          <a:noFill/>
        </p:spPr>
        <p:txBody>
          <a:bodyPr wrap="square">
            <a:spAutoFit/>
          </a:bodyPr>
          <a:lstStyle/>
          <a:p>
            <a:pPr>
              <a:spcAft>
                <a:spcPts val="600"/>
              </a:spcAft>
            </a:pPr>
            <a:r>
              <a:rPr sz="850" b="0">
                <a:solidFill>
                  <a:srgbClr val="898781"/>
                </a:solidFill>
                <a:latin typeface="Segoe UI"/>
              </a:rPr>
              <a:t>5 spikes (5 OpenINTEL, 0 reverse). Within 3 months after: signer release 0, default change 0, validator cap 0, CVE 0, any DNS release 5. Chance that a random month is within 3 months after a default change: forward n/a, reverse n/a. Full ledger: out/analysis/dns_program_rfc_spikes.csv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THE AUTO-UPDATE TEST  ·  RFC 8080</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200" b="1">
                <a:solidFill>
                  <a:srgbClr val="0B0B0B"/>
                </a:solidFill>
                <a:latin typeface="Segoe UI"/>
              </a:rPr>
              <a:t>Did newly signed reverse delegations pick up the new default?</a:t>
            </a:r>
          </a:p>
        </p:txBody>
      </p:sp>
      <p:pic>
        <p:nvPicPr>
          <p:cNvPr id="4" name="Picture 3" descr="rfc_8080_new_signings.png"/>
          <p:cNvPicPr>
            <a:picLocks noChangeAspect="1"/>
          </p:cNvPicPr>
          <p:nvPr/>
        </p:nvPicPr>
        <p:blipFill>
          <a:blip r:embed="rId2"/>
          <a:stretch>
            <a:fillRect/>
          </a:stretch>
        </p:blipFill>
        <p:spPr>
          <a:xfrm>
            <a:off x="2070499" y="1143000"/>
            <a:ext cx="8050696" cy="2468880"/>
          </a:xfrm>
          <a:prstGeom prst="rect">
            <a:avLst/>
          </a:prstGeom>
        </p:spPr>
      </p:pic>
      <p:graphicFrame>
        <p:nvGraphicFramePr>
          <p:cNvPr id="5" name="Table 4"/>
          <p:cNvGraphicFramePr>
            <a:graphicFrameLocks noGrp="1"/>
          </p:cNvGraphicFramePr>
          <p:nvPr/>
        </p:nvGraphicFramePr>
        <p:xfrm>
          <a:off x="731520" y="3749039"/>
          <a:ext cx="11247120" cy="1371600"/>
        </p:xfrm>
        <a:graphic>
          <a:graphicData uri="http://schemas.openxmlformats.org/drawingml/2006/table">
            <a:tbl>
              <a:tblPr firstRow="1" bandRow="1">
                <a:tableStyleId>{5C22544A-7EE6-4342-B048-85BDC9FD1C3A}</a:tableStyleId>
              </a:tblPr>
              <a:tblGrid>
                <a:gridCol w="3017520"/>
                <a:gridCol w="822960"/>
                <a:gridCol w="822960"/>
                <a:gridCol w="1554480"/>
                <a:gridCol w="1737360"/>
                <a:gridCol w="1554480"/>
                <a:gridCol w="1737360"/>
              </a:tblGrid>
              <a:tr h="274320">
                <a:tc>
                  <a:txBody>
                    <a:bodyPr/>
                    <a:lstStyle/>
                    <a:p>
                      <a:r>
                        <a:rPr sz="900" b="1">
                          <a:solidFill>
                            <a:srgbClr val="52514E"/>
                          </a:solidFill>
                        </a:rPr>
                        <a:t>release</a:t>
                      </a:r>
                    </a:p>
                  </a:txBody>
                  <a:tcPr marL="45720" marR="45720" marT="27432" marB="27432">
                    <a:solidFill>
                      <a:srgbClr val="E1E0D9"/>
                    </a:solidFill>
                  </a:tcPr>
                </a:tc>
                <a:tc>
                  <a:txBody>
                    <a:bodyPr/>
                    <a:lstStyle/>
                    <a:p>
                      <a:r>
                        <a:rPr sz="900" b="1">
                          <a:solidFill>
                            <a:srgbClr val="52514E"/>
                          </a:solidFill>
                        </a:rPr>
                        <a:t>kind</a:t>
                      </a:r>
                    </a:p>
                  </a:txBody>
                  <a:tcPr marL="45720" marR="45720" marT="27432" marB="27432">
                    <a:solidFill>
                      <a:srgbClr val="E1E0D9"/>
                    </a:solidFill>
                  </a:tcPr>
                </a:tc>
                <a:tc>
                  <a:txBody>
                    <a:bodyPr/>
                    <a:lstStyle/>
                    <a:p>
                      <a:r>
                        <a:rPr sz="900" b="1">
                          <a:solidFill>
                            <a:srgbClr val="52514E"/>
                          </a:solidFill>
                        </a:rPr>
                        <a:t>date</a:t>
                      </a:r>
                    </a:p>
                  </a:txBody>
                  <a:tcPr marL="45720" marR="45720" marT="27432" marB="27432">
                    <a:solidFill>
                      <a:srgbClr val="E1E0D9"/>
                    </a:solidFill>
                  </a:tcPr>
                </a:tc>
                <a:tc>
                  <a:txBody>
                    <a:bodyPr/>
                    <a:lstStyle/>
                    <a:p>
                      <a:r>
                        <a:rPr sz="900" b="1">
                          <a:solidFill>
                            <a:srgbClr val="52514E"/>
                          </a:solidFill>
                        </a:rPr>
                        <a:t>new signings, 12 mo before</a:t>
                      </a:r>
                    </a:p>
                  </a:txBody>
                  <a:tcPr marL="45720" marR="45720" marT="27432" marB="27432">
                    <a:solidFill>
                      <a:srgbClr val="E1E0D9"/>
                    </a:solidFill>
                  </a:tcPr>
                </a:tc>
                <a:tc>
                  <a:txBody>
                    <a:bodyPr/>
                    <a:lstStyle/>
                    <a:p>
                      <a:r>
                        <a:rPr sz="900" b="1">
                          <a:solidFill>
                            <a:srgbClr val="52514E"/>
                          </a:solidFill>
                        </a:rPr>
                        <a:t>share choosing it</a:t>
                      </a:r>
                    </a:p>
                  </a:txBody>
                  <a:tcPr marL="45720" marR="45720" marT="27432" marB="27432">
                    <a:solidFill>
                      <a:srgbClr val="E1E0D9"/>
                    </a:solidFill>
                  </a:tcPr>
                </a:tc>
                <a:tc>
                  <a:txBody>
                    <a:bodyPr/>
                    <a:lstStyle/>
                    <a:p>
                      <a:r>
                        <a:rPr sz="900" b="1">
                          <a:solidFill>
                            <a:srgbClr val="52514E"/>
                          </a:solidFill>
                        </a:rPr>
                        <a:t>new signings, 12 mo after</a:t>
                      </a:r>
                    </a:p>
                  </a:txBody>
                  <a:tcPr marL="45720" marR="45720" marT="27432" marB="27432">
                    <a:solidFill>
                      <a:srgbClr val="E1E0D9"/>
                    </a:solidFill>
                  </a:tcPr>
                </a:tc>
                <a:tc>
                  <a:txBody>
                    <a:bodyPr/>
                    <a:lstStyle/>
                    <a:p>
                      <a:r>
                        <a:rPr sz="900" b="1">
                          <a:solidFill>
                            <a:srgbClr val="52514E"/>
                          </a:solidFill>
                        </a:rPr>
                        <a:t>share choosing it</a:t>
                      </a:r>
                    </a:p>
                  </a:txBody>
                  <a:tcPr marL="45720" marR="45720" marT="27432" marB="27432">
                    <a:solidFill>
                      <a:srgbClr val="E1E0D9"/>
                    </a:solidFill>
                  </a:tcPr>
                </a:tc>
              </a:tr>
              <a:tr h="274320">
                <a:tc>
                  <a:txBody>
                    <a:bodyPr/>
                    <a:lstStyle/>
                    <a:p>
                      <a:r>
                        <a:rPr sz="850" b="0">
                          <a:solidFill>
                            <a:srgbClr val="0B0B0B"/>
                          </a:solidFill>
                        </a:rPr>
                        <a:t>Knot DNS 2.4.0</a:t>
                      </a:r>
                    </a:p>
                  </a:txBody>
                  <a:tcPr marL="45720" marR="45720" marT="27432" marB="27432">
                    <a:solidFill>
                      <a:srgbClr val="FCFCFB"/>
                    </a:solidFill>
                  </a:tcPr>
                </a:tc>
                <a:tc>
                  <a:txBody>
                    <a:bodyPr/>
                    <a:lstStyle/>
                    <a:p>
                      <a:r>
                        <a:rPr sz="850" b="0">
                          <a:solidFill>
                            <a:srgbClr val="0B0B0B"/>
                          </a:solidFill>
                        </a:rPr>
                        <a:t>support</a:t>
                      </a:r>
                    </a:p>
                  </a:txBody>
                  <a:tcPr marL="45720" marR="45720" marT="27432" marB="27432">
                    <a:solidFill>
                      <a:srgbClr val="FCFCFB"/>
                    </a:solidFill>
                  </a:tcPr>
                </a:tc>
                <a:tc>
                  <a:txBody>
                    <a:bodyPr/>
                    <a:lstStyle/>
                    <a:p>
                      <a:r>
                        <a:rPr sz="850" b="0">
                          <a:solidFill>
                            <a:srgbClr val="0B0B0B"/>
                          </a:solidFill>
                        </a:rPr>
                        <a:t>2017-01</a:t>
                      </a:r>
                    </a:p>
                  </a:txBody>
                  <a:tcPr marL="45720" marR="45720" marT="27432" marB="27432">
                    <a:solidFill>
                      <a:srgbClr val="FCFCFB"/>
                    </a:solidFill>
                  </a:tcPr>
                </a:tc>
                <a:tc>
                  <a:txBody>
                    <a:bodyPr/>
                    <a:lstStyle/>
                    <a:p>
                      <a:r>
                        <a:rPr sz="850" b="0">
                          <a:solidFill>
                            <a:srgbClr val="0B0B0B"/>
                          </a:solidFill>
                        </a:rPr>
                        <a:t>879</a:t>
                      </a:r>
                    </a:p>
                  </a:txBody>
                  <a:tcPr marL="45720" marR="45720" marT="27432" marB="27432">
                    <a:solidFill>
                      <a:srgbClr val="FCFCFB"/>
                    </a:solidFill>
                  </a:tcPr>
                </a:tc>
                <a:tc>
                  <a:txBody>
                    <a:bodyPr/>
                    <a:lstStyle/>
                    <a:p>
                      <a:r>
                        <a:rPr sz="850" b="0">
                          <a:solidFill>
                            <a:srgbClr val="0B0B0B"/>
                          </a:solidFill>
                        </a:rPr>
                        <a:t>0.0%</a:t>
                      </a:r>
                    </a:p>
                  </a:txBody>
                  <a:tcPr marL="45720" marR="45720" marT="27432" marB="27432">
                    <a:solidFill>
                      <a:srgbClr val="FCFCFB"/>
                    </a:solidFill>
                  </a:tcPr>
                </a:tc>
                <a:tc>
                  <a:txBody>
                    <a:bodyPr/>
                    <a:lstStyle/>
                    <a:p>
                      <a:r>
                        <a:rPr sz="850" b="0">
                          <a:solidFill>
                            <a:srgbClr val="0B0B0B"/>
                          </a:solidFill>
                        </a:rPr>
                        <a:t>783</a:t>
                      </a:r>
                    </a:p>
                  </a:txBody>
                  <a:tcPr marL="45720" marR="45720" marT="27432" marB="27432">
                    <a:solidFill>
                      <a:srgbClr val="FCFCFB"/>
                    </a:solidFill>
                  </a:tcPr>
                </a:tc>
                <a:tc>
                  <a:txBody>
                    <a:bodyPr/>
                    <a:lstStyle/>
                    <a:p>
                      <a:r>
                        <a:rPr sz="850" b="0">
                          <a:solidFill>
                            <a:srgbClr val="0B0B0B"/>
                          </a:solidFill>
                        </a:rPr>
                        <a:t>0.0%</a:t>
                      </a:r>
                    </a:p>
                  </a:txBody>
                  <a:tcPr marL="45720" marR="45720" marT="27432" marB="27432">
                    <a:solidFill>
                      <a:srgbClr val="FCFCFB"/>
                    </a:solidFill>
                  </a:tcPr>
                </a:tc>
              </a:tr>
              <a:tr h="274320">
                <a:tc>
                  <a:txBody>
                    <a:bodyPr/>
                    <a:lstStyle/>
                    <a:p>
                      <a:r>
                        <a:rPr sz="850" b="0">
                          <a:solidFill>
                            <a:srgbClr val="0B0B0B"/>
                          </a:solidFill>
                        </a:rPr>
                        <a:t>Knot DNS 2.6.0</a:t>
                      </a:r>
                    </a:p>
                  </a:txBody>
                  <a:tcPr marL="45720" marR="45720" marT="27432" marB="27432">
                    <a:solidFill>
                      <a:srgbClr val="FCFCFB"/>
                    </a:solidFill>
                  </a:tcPr>
                </a:tc>
                <a:tc>
                  <a:txBody>
                    <a:bodyPr/>
                    <a:lstStyle/>
                    <a:p>
                      <a:r>
                        <a:rPr sz="850" b="0">
                          <a:solidFill>
                            <a:srgbClr val="0B0B0B"/>
                          </a:solidFill>
                        </a:rPr>
                        <a:t>support</a:t>
                      </a:r>
                    </a:p>
                  </a:txBody>
                  <a:tcPr marL="45720" marR="45720" marT="27432" marB="27432">
                    <a:solidFill>
                      <a:srgbClr val="FCFCFB"/>
                    </a:solidFill>
                  </a:tcPr>
                </a:tc>
                <a:tc>
                  <a:txBody>
                    <a:bodyPr/>
                    <a:lstStyle/>
                    <a:p>
                      <a:r>
                        <a:rPr sz="850" b="0">
                          <a:solidFill>
                            <a:srgbClr val="0B0B0B"/>
                          </a:solidFill>
                        </a:rPr>
                        <a:t>2017-09</a:t>
                      </a:r>
                    </a:p>
                  </a:txBody>
                  <a:tcPr marL="45720" marR="45720" marT="27432" marB="27432">
                    <a:solidFill>
                      <a:srgbClr val="FCFCFB"/>
                    </a:solidFill>
                  </a:tcPr>
                </a:tc>
                <a:tc>
                  <a:txBody>
                    <a:bodyPr/>
                    <a:lstStyle/>
                    <a:p>
                      <a:r>
                        <a:rPr sz="850" b="0">
                          <a:solidFill>
                            <a:srgbClr val="0B0B0B"/>
                          </a:solidFill>
                        </a:rPr>
                        <a:t>1342</a:t>
                      </a:r>
                    </a:p>
                  </a:txBody>
                  <a:tcPr marL="45720" marR="45720" marT="27432" marB="27432">
                    <a:solidFill>
                      <a:srgbClr val="FCFCFB"/>
                    </a:solidFill>
                  </a:tcPr>
                </a:tc>
                <a:tc>
                  <a:txBody>
                    <a:bodyPr/>
                    <a:lstStyle/>
                    <a:p>
                      <a:r>
                        <a:rPr sz="850" b="0">
                          <a:solidFill>
                            <a:srgbClr val="0B0B0B"/>
                          </a:solidFill>
                        </a:rPr>
                        <a:t>0.0%</a:t>
                      </a:r>
                    </a:p>
                  </a:txBody>
                  <a:tcPr marL="45720" marR="45720" marT="27432" marB="27432">
                    <a:solidFill>
                      <a:srgbClr val="FCFCFB"/>
                    </a:solidFill>
                  </a:tcPr>
                </a:tc>
                <a:tc>
                  <a:txBody>
                    <a:bodyPr/>
                    <a:lstStyle/>
                    <a:p>
                      <a:r>
                        <a:rPr sz="850" b="0">
                          <a:solidFill>
                            <a:srgbClr val="0B0B0B"/>
                          </a:solidFill>
                        </a:rPr>
                        <a:t>603</a:t>
                      </a:r>
                    </a:p>
                  </a:txBody>
                  <a:tcPr marL="45720" marR="45720" marT="27432" marB="27432">
                    <a:solidFill>
                      <a:srgbClr val="FCFCFB"/>
                    </a:solidFill>
                  </a:tcPr>
                </a:tc>
                <a:tc>
                  <a:txBody>
                    <a:bodyPr/>
                    <a:lstStyle/>
                    <a:p>
                      <a:r>
                        <a:rPr sz="850" b="0">
                          <a:solidFill>
                            <a:srgbClr val="0B0B0B"/>
                          </a:solidFill>
                        </a:rPr>
                        <a:t>0.0%</a:t>
                      </a:r>
                    </a:p>
                  </a:txBody>
                  <a:tcPr marL="45720" marR="45720" marT="27432" marB="27432">
                    <a:solidFill>
                      <a:srgbClr val="FCFCFB"/>
                    </a:solidFill>
                  </a:tcPr>
                </a:tc>
              </a:tr>
              <a:tr h="274320">
                <a:tc>
                  <a:txBody>
                    <a:bodyPr/>
                    <a:lstStyle/>
                    <a:p>
                      <a:r>
                        <a:rPr sz="850" b="0">
                          <a:solidFill>
                            <a:srgbClr val="0B0B0B"/>
                          </a:solidFill>
                        </a:rPr>
                        <a:t>BIND 9 9.12.0</a:t>
                      </a:r>
                    </a:p>
                  </a:txBody>
                  <a:tcPr marL="45720" marR="45720" marT="27432" marB="27432">
                    <a:solidFill>
                      <a:srgbClr val="FCFCFB"/>
                    </a:solidFill>
                  </a:tcPr>
                </a:tc>
                <a:tc>
                  <a:txBody>
                    <a:bodyPr/>
                    <a:lstStyle/>
                    <a:p>
                      <a:r>
                        <a:rPr sz="850" b="0">
                          <a:solidFill>
                            <a:srgbClr val="0B0B0B"/>
                          </a:solidFill>
                        </a:rPr>
                        <a:t>support</a:t>
                      </a:r>
                    </a:p>
                  </a:txBody>
                  <a:tcPr marL="45720" marR="45720" marT="27432" marB="27432">
                    <a:solidFill>
                      <a:srgbClr val="FCFCFB"/>
                    </a:solidFill>
                  </a:tcPr>
                </a:tc>
                <a:tc>
                  <a:txBody>
                    <a:bodyPr/>
                    <a:lstStyle/>
                    <a:p>
                      <a:r>
                        <a:rPr sz="850" b="0">
                          <a:solidFill>
                            <a:srgbClr val="0B0B0B"/>
                          </a:solidFill>
                        </a:rPr>
                        <a:t>2018-01</a:t>
                      </a:r>
                    </a:p>
                  </a:txBody>
                  <a:tcPr marL="45720" marR="45720" marT="27432" marB="27432">
                    <a:solidFill>
                      <a:srgbClr val="FCFCFB"/>
                    </a:solidFill>
                  </a:tcPr>
                </a:tc>
                <a:tc>
                  <a:txBody>
                    <a:bodyPr/>
                    <a:lstStyle/>
                    <a:p>
                      <a:r>
                        <a:rPr sz="850" b="0">
                          <a:solidFill>
                            <a:srgbClr val="0B0B0B"/>
                          </a:solidFill>
                        </a:rPr>
                        <a:t>767</a:t>
                      </a:r>
                    </a:p>
                  </a:txBody>
                  <a:tcPr marL="45720" marR="45720" marT="27432" marB="27432">
                    <a:solidFill>
                      <a:srgbClr val="FCFCFB"/>
                    </a:solidFill>
                  </a:tcPr>
                </a:tc>
                <a:tc>
                  <a:txBody>
                    <a:bodyPr/>
                    <a:lstStyle/>
                    <a:p>
                      <a:r>
                        <a:rPr sz="850" b="0">
                          <a:solidFill>
                            <a:srgbClr val="0B0B0B"/>
                          </a:solidFill>
                        </a:rPr>
                        <a:t>0.0%</a:t>
                      </a:r>
                    </a:p>
                  </a:txBody>
                  <a:tcPr marL="45720" marR="45720" marT="27432" marB="27432">
                    <a:solidFill>
                      <a:srgbClr val="FCFCFB"/>
                    </a:solidFill>
                  </a:tcPr>
                </a:tc>
                <a:tc>
                  <a:txBody>
                    <a:bodyPr/>
                    <a:lstStyle/>
                    <a:p>
                      <a:r>
                        <a:rPr sz="850" b="0">
                          <a:solidFill>
                            <a:srgbClr val="0B0B0B"/>
                          </a:solidFill>
                        </a:rPr>
                        <a:t>1134</a:t>
                      </a:r>
                    </a:p>
                  </a:txBody>
                  <a:tcPr marL="45720" marR="45720" marT="27432" marB="27432">
                    <a:solidFill>
                      <a:srgbClr val="FCFCFB"/>
                    </a:solidFill>
                  </a:tcPr>
                </a:tc>
                <a:tc>
                  <a:txBody>
                    <a:bodyPr/>
                    <a:lstStyle/>
                    <a:p>
                      <a:r>
                        <a:rPr sz="850" b="0">
                          <a:solidFill>
                            <a:srgbClr val="0B0B0B"/>
                          </a:solidFill>
                        </a:rPr>
                        <a:t>0.0%</a:t>
                      </a:r>
                    </a:p>
                  </a:txBody>
                  <a:tcPr marL="45720" marR="45720" marT="27432" marB="27432">
                    <a:solidFill>
                      <a:srgbClr val="FCFCFB"/>
                    </a:solidFill>
                  </a:tcPr>
                </a:tc>
              </a:tr>
              <a:tr h="274320">
                <a:tc>
                  <a:txBody>
                    <a:bodyPr/>
                    <a:lstStyle/>
                    <a:p>
                      <a:r>
                        <a:rPr sz="850" b="0">
                          <a:solidFill>
                            <a:srgbClr val="0B0B0B"/>
                          </a:solidFill>
                        </a:rPr>
                        <a:t>OpenDNSSEC 2.1.7</a:t>
                      </a:r>
                    </a:p>
                  </a:txBody>
                  <a:tcPr marL="45720" marR="45720" marT="27432" marB="27432">
                    <a:solidFill>
                      <a:srgbClr val="FCFCFB"/>
                    </a:solidFill>
                  </a:tcPr>
                </a:tc>
                <a:tc>
                  <a:txBody>
                    <a:bodyPr/>
                    <a:lstStyle/>
                    <a:p>
                      <a:r>
                        <a:rPr sz="850" b="0">
                          <a:solidFill>
                            <a:srgbClr val="0B0B0B"/>
                          </a:solidFill>
                        </a:rPr>
                        <a:t>support</a:t>
                      </a:r>
                    </a:p>
                  </a:txBody>
                  <a:tcPr marL="45720" marR="45720" marT="27432" marB="27432">
                    <a:solidFill>
                      <a:srgbClr val="FCFCFB"/>
                    </a:solidFill>
                  </a:tcPr>
                </a:tc>
                <a:tc>
                  <a:txBody>
                    <a:bodyPr/>
                    <a:lstStyle/>
                    <a:p>
                      <a:r>
                        <a:rPr sz="850" b="0">
                          <a:solidFill>
                            <a:srgbClr val="0B0B0B"/>
                          </a:solidFill>
                        </a:rPr>
                        <a:t>2020-10</a:t>
                      </a:r>
                    </a:p>
                  </a:txBody>
                  <a:tcPr marL="45720" marR="45720" marT="27432" marB="27432">
                    <a:solidFill>
                      <a:srgbClr val="FCFCFB"/>
                    </a:solidFill>
                  </a:tcPr>
                </a:tc>
                <a:tc>
                  <a:txBody>
                    <a:bodyPr/>
                    <a:lstStyle/>
                    <a:p>
                      <a:r>
                        <a:rPr sz="850" b="0">
                          <a:solidFill>
                            <a:srgbClr val="0B0B0B"/>
                          </a:solidFill>
                        </a:rPr>
                        <a:t>1110</a:t>
                      </a:r>
                    </a:p>
                  </a:txBody>
                  <a:tcPr marL="45720" marR="45720" marT="27432" marB="27432">
                    <a:solidFill>
                      <a:srgbClr val="FCFCFB"/>
                    </a:solidFill>
                  </a:tcPr>
                </a:tc>
                <a:tc>
                  <a:txBody>
                    <a:bodyPr/>
                    <a:lstStyle/>
                    <a:p>
                      <a:r>
                        <a:rPr sz="850" b="0">
                          <a:solidFill>
                            <a:srgbClr val="0B0B0B"/>
                          </a:solidFill>
                        </a:rPr>
                        <a:t>0.0%</a:t>
                      </a:r>
                    </a:p>
                  </a:txBody>
                  <a:tcPr marL="45720" marR="45720" marT="27432" marB="27432">
                    <a:solidFill>
                      <a:srgbClr val="FCFCFB"/>
                    </a:solidFill>
                  </a:tcPr>
                </a:tc>
                <a:tc>
                  <a:txBody>
                    <a:bodyPr/>
                    <a:lstStyle/>
                    <a:p>
                      <a:r>
                        <a:rPr sz="850" b="0">
                          <a:solidFill>
                            <a:srgbClr val="0B0B0B"/>
                          </a:solidFill>
                        </a:rPr>
                        <a:t>1244</a:t>
                      </a:r>
                    </a:p>
                  </a:txBody>
                  <a:tcPr marL="45720" marR="45720" marT="27432" marB="27432">
                    <a:solidFill>
                      <a:srgbClr val="FCFCFB"/>
                    </a:solidFill>
                  </a:tcPr>
                </a:tc>
                <a:tc>
                  <a:txBody>
                    <a:bodyPr/>
                    <a:lstStyle/>
                    <a:p>
                      <a:r>
                        <a:rPr sz="850" b="0">
                          <a:solidFill>
                            <a:srgbClr val="0B0B0B"/>
                          </a:solidFill>
                        </a:rPr>
                        <a:t>0.0%</a:t>
                      </a:r>
                    </a:p>
                  </a:txBody>
                  <a:tcPr marL="45720" marR="45720" marT="27432" marB="27432">
                    <a:solidFill>
                      <a:srgbClr val="FCFCFB"/>
                    </a:solidFill>
                  </a:tcPr>
                </a:tc>
              </a:tr>
            </a:tbl>
          </a:graphicData>
        </a:graphic>
      </p:graphicFrame>
      <p:sp>
        <p:nvSpPr>
          <p:cNvPr id="6" name="TextBox 5"/>
          <p:cNvSpPr txBox="1"/>
          <p:nvPr/>
        </p:nvSpPr>
        <p:spPr>
          <a:xfrm>
            <a:off x="566928" y="6263640"/>
            <a:ext cx="11064240" cy="457200"/>
          </a:xfrm>
          <a:prstGeom prst="rect">
            <a:avLst/>
          </a:prstGeom>
          <a:noFill/>
        </p:spPr>
        <p:txBody>
          <a:bodyPr wrap="square">
            <a:spAutoFit/>
          </a:bodyPr>
          <a:lstStyle/>
          <a:p>
            <a:pPr>
              <a:spcAft>
                <a:spcPts val="600"/>
              </a:spcAft>
            </a:pPr>
            <a:r>
              <a:rPr sz="850" b="0">
                <a:solidFill>
                  <a:srgbClr val="898781"/>
                </a:solidFill>
                <a:latin typeface="Segoe UI"/>
              </a:rPr>
              <a:t>An update changes what a newly signed zone gets; it never re-signs an existing zone. So this share, not the adoption curve, is where an automatic update would show. Source: out/analysis/delegation_changes.parquet, kind = 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THE RFC IN EACH PROGRAM  ·  RFC 5155</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000" b="1">
                <a:solidFill>
                  <a:srgbClr val="0B0B0B"/>
                </a:solidFill>
                <a:latin typeface="Segoe UI"/>
              </a:rPr>
              <a:t>RFC 5155 published 2008-03: what each program did, in months from that date</a:t>
            </a:r>
          </a:p>
        </p:txBody>
      </p:sp>
      <p:sp>
        <p:nvSpPr>
          <p:cNvPr id="4" name="TextBox 3"/>
          <p:cNvSpPr txBox="1"/>
          <p:nvPr/>
        </p:nvSpPr>
        <p:spPr>
          <a:xfrm>
            <a:off x="566928" y="1188720"/>
            <a:ext cx="11064240" cy="5029200"/>
          </a:xfrm>
          <a:prstGeom prst="rect">
            <a:avLst/>
          </a:prstGeom>
          <a:noFill/>
        </p:spPr>
        <p:txBody>
          <a:bodyPr wrap="square">
            <a:spAutoFit/>
          </a:bodyPr>
          <a:lstStyle/>
          <a:p>
            <a:pPr>
              <a:spcAft>
                <a:spcPts val="800"/>
              </a:spcAft>
            </a:pPr>
            <a:r>
              <a:rPr sz="1200" b="0">
                <a:solidFill>
                  <a:srgbClr val="0B0B0B"/>
                </a:solidFill>
                <a:latin typeface="Segoe UI"/>
              </a:rPr>
              <a:t>BIND 9: signs it from 9.6.0, 2008-12 (9 mo after the RFC); CVE-2010-0097 2010-01; default from 9.7.0, 2010-02 (23 mo after the RFC); CVE-2014-0591 2014-01.</a:t>
            </a:r>
          </a:p>
          <a:p>
            <a:pPr>
              <a:spcAft>
                <a:spcPts val="800"/>
              </a:spcAft>
            </a:pPr>
            <a:r>
              <a:rPr sz="1200" b="0">
                <a:solidFill>
                  <a:srgbClr val="0B0B0B"/>
                </a:solidFill>
                <a:latin typeface="Segoe UI"/>
              </a:rPr>
              <a:t>Knot DNS: caps it from 3.1.5, 2021-12 (165 mo after the RFC).</a:t>
            </a:r>
          </a:p>
          <a:p>
            <a:pPr>
              <a:spcAft>
                <a:spcPts val="800"/>
              </a:spcAft>
            </a:pPr>
            <a:r>
              <a:rPr sz="1200" b="0">
                <a:solidFill>
                  <a:srgbClr val="0B0B0B"/>
                </a:solidFill>
                <a:latin typeface="Segoe UI"/>
              </a:rPr>
              <a:t>PowerDNS Auth: caps it from 4.5.0, 2021-07 (160 mo after the RFC).</a:t>
            </a:r>
          </a:p>
          <a:p>
            <a:pPr>
              <a:spcAft>
                <a:spcPts val="800"/>
              </a:spcAft>
            </a:pPr>
            <a:r>
              <a:rPr sz="1200" b="0">
                <a:solidFill>
                  <a:srgbClr val="0B0B0B"/>
                </a:solidFill>
                <a:latin typeface="Segoe UI"/>
              </a:rPr>
              <a:t>Unbound: validates it from 0.7.1, 2007-11 (4 mo before the RFC); CVE-2009-3602 2009-10; caps it from 1.13.2, 2021-08 (161 mo after the RFC).</a:t>
            </a:r>
          </a:p>
          <a:p>
            <a:pPr>
              <a:spcAft>
                <a:spcPts val="800"/>
              </a:spcAft>
            </a:pPr>
            <a:r>
              <a:rPr sz="1200" b="0">
                <a:solidFill>
                  <a:srgbClr val="0B0B0B"/>
                </a:solidFill>
                <a:latin typeface="Segoe UI"/>
              </a:rPr>
              <a:t>PowerDNS Rec: caps it from 4.1.0, 2017-12 (117 mo after the RFC).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2A78D6"/>
                </a:solidFill>
                <a:latin typeface="Segoe UI"/>
              </a:rPr>
              <a:t>SHIPPED BEFORE THE RFC; SPIKES ARE SIGNING WAVES  ·  RFC 5155</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400" b="1">
                <a:solidFill>
                  <a:srgbClr val="0B0B0B"/>
                </a:solidFill>
                <a:latin typeface="Segoe UI"/>
              </a:rPr>
              <a:t>NSEC3 authenticated denial</a:t>
            </a:r>
          </a:p>
        </p:txBody>
      </p:sp>
      <p:pic>
        <p:nvPicPr>
          <p:cNvPr id="4" name="Picture 3" descr="rfc_5155.png"/>
          <p:cNvPicPr>
            <a:picLocks noChangeAspect="1"/>
          </p:cNvPicPr>
          <p:nvPr/>
        </p:nvPicPr>
        <p:blipFill>
          <a:blip r:embed="rId2"/>
          <a:stretch>
            <a:fillRect/>
          </a:stretch>
        </p:blipFill>
        <p:spPr>
          <a:xfrm>
            <a:off x="2666847" y="1097280"/>
            <a:ext cx="6858000" cy="5074920"/>
          </a:xfrm>
          <a:prstGeom prst="rect">
            <a:avLst/>
          </a:prstGeom>
        </p:spPr>
      </p:pic>
      <p:sp>
        <p:nvSpPr>
          <p:cNvPr id="5" name="TextBox 4"/>
          <p:cNvSpPr txBox="1"/>
          <p:nvPr/>
        </p:nvSpPr>
        <p:spPr>
          <a:xfrm>
            <a:off x="566928" y="6217920"/>
            <a:ext cx="11064240" cy="457200"/>
          </a:xfrm>
          <a:prstGeom prst="rect">
            <a:avLst/>
          </a:prstGeom>
          <a:noFill/>
        </p:spPr>
        <p:txBody>
          <a:bodyPr wrap="square">
            <a:spAutoFit/>
          </a:bodyPr>
          <a:lstStyle/>
          <a:p>
            <a:pPr>
              <a:spcAft>
                <a:spcPts val="600"/>
              </a:spcAft>
            </a:pPr>
            <a:r>
              <a:rPr sz="900" b="0">
                <a:solidFill>
                  <a:srgbClr val="898781"/>
                </a:solidFill>
                <a:latin typeface="Segoe UI"/>
              </a:rPr>
              <a:t>Numbered circles are the largest spikes; the next slide names what preceded each one. Ticks: the first Ubuntu/Debian release carrying that program version (the automatic-update path).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WHAT PRECEDED EACH SPIKE  ·  RFC 5155</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200" b="1">
                <a:solidFill>
                  <a:srgbClr val="0B0B0B"/>
                </a:solidFill>
                <a:latin typeface="Segoe UI"/>
              </a:rPr>
              <a:t>Nearest release, default, cap and CVE before each spike</a:t>
            </a:r>
          </a:p>
        </p:txBody>
      </p:sp>
      <p:graphicFrame>
        <p:nvGraphicFramePr>
          <p:cNvPr id="4" name="Table 3"/>
          <p:cNvGraphicFramePr>
            <a:graphicFrameLocks noGrp="1"/>
          </p:cNvGraphicFramePr>
          <p:nvPr/>
        </p:nvGraphicFramePr>
        <p:xfrm>
          <a:off x="411480" y="1143000"/>
          <a:ext cx="11338560" cy="2468880"/>
        </p:xfrm>
        <a:graphic>
          <a:graphicData uri="http://schemas.openxmlformats.org/drawingml/2006/table">
            <a:tbl>
              <a:tblPr firstRow="1" bandRow="1">
                <a:tableStyleId>{5C22544A-7EE6-4342-B048-85BDC9FD1C3A}</a:tableStyleId>
              </a:tblPr>
              <a:tblGrid>
                <a:gridCol w="274320"/>
                <a:gridCol w="1234440"/>
                <a:gridCol w="1143000"/>
                <a:gridCol w="1600200"/>
                <a:gridCol w="1143000"/>
                <a:gridCol w="2011680"/>
                <a:gridCol w="2011680"/>
                <a:gridCol w="1920240"/>
              </a:tblGrid>
              <a:tr h="274320">
                <a:tc>
                  <a:txBody>
                    <a:bodyPr/>
                    <a:lstStyle/>
                    <a:p>
                      <a:r>
                        <a:rPr sz="900" b="1">
                          <a:solidFill>
                            <a:srgbClr val="52514E"/>
                          </a:solidFill>
                        </a:rPr>
                        <a:t>#</a:t>
                      </a:r>
                    </a:p>
                  </a:txBody>
                  <a:tcPr marL="45720" marR="45720" marT="27432" marB="27432">
                    <a:solidFill>
                      <a:srgbClr val="E1E0D9"/>
                    </a:solidFill>
                  </a:tcPr>
                </a:tc>
                <a:tc>
                  <a:txBody>
                    <a:bodyPr/>
                    <a:lstStyle/>
                    <a:p>
                      <a:r>
                        <a:rPr sz="900" b="1">
                          <a:solidFill>
                            <a:srgbClr val="52514E"/>
                          </a:solidFill>
                        </a:rPr>
                        <a:t>corpus</a:t>
                      </a:r>
                    </a:p>
                  </a:txBody>
                  <a:tcPr marL="45720" marR="45720" marT="27432" marB="27432">
                    <a:solidFill>
                      <a:srgbClr val="E1E0D9"/>
                    </a:solidFill>
                  </a:tcPr>
                </a:tc>
                <a:tc>
                  <a:txBody>
                    <a:bodyPr/>
                    <a:lstStyle/>
                    <a:p>
                      <a:r>
                        <a:rPr sz="900" b="1">
                          <a:solidFill>
                            <a:srgbClr val="52514E"/>
                          </a:solidFill>
                        </a:rPr>
                        <a:t>month(s)</a:t>
                      </a:r>
                    </a:p>
                  </a:txBody>
                  <a:tcPr marL="45720" marR="45720" marT="27432" marB="27432">
                    <a:solidFill>
                      <a:srgbClr val="E1E0D9"/>
                    </a:solidFill>
                  </a:tcPr>
                </a:tc>
                <a:tc>
                  <a:txBody>
                    <a:bodyPr/>
                    <a:lstStyle/>
                    <a:p>
                      <a:r>
                        <a:rPr sz="900" b="1">
                          <a:solidFill>
                            <a:srgbClr val="52514E"/>
                          </a:solidFill>
                        </a:rPr>
                        <a:t>size</a:t>
                      </a:r>
                    </a:p>
                  </a:txBody>
                  <a:tcPr marL="45720" marR="45720" marT="27432" marB="27432">
                    <a:solidFill>
                      <a:srgbClr val="E1E0D9"/>
                    </a:solidFill>
                  </a:tcPr>
                </a:tc>
                <a:tc>
                  <a:txBody>
                    <a:bodyPr/>
                    <a:lstStyle/>
                    <a:p>
                      <a:r>
                        <a:rPr sz="900" b="1">
                          <a:solidFill>
                            <a:srgbClr val="52514E"/>
                          </a:solidFill>
                        </a:rPr>
                        <a:t>made of</a:t>
                      </a:r>
                    </a:p>
                  </a:txBody>
                  <a:tcPr marL="45720" marR="45720" marT="27432" marB="27432">
                    <a:solidFill>
                      <a:srgbClr val="E1E0D9"/>
                    </a:solidFill>
                  </a:tcPr>
                </a:tc>
                <a:tc>
                  <a:txBody>
                    <a:bodyPr/>
                    <a:lstStyle/>
                    <a:p>
                      <a:r>
                        <a:rPr sz="900" b="1">
                          <a:solidFill>
                            <a:srgbClr val="52514E"/>
                          </a:solidFill>
                        </a:rPr>
                        <a:t>nearest signer release</a:t>
                      </a:r>
                    </a:p>
                  </a:txBody>
                  <a:tcPr marL="45720" marR="45720" marT="27432" marB="27432">
                    <a:solidFill>
                      <a:srgbClr val="E1E0D9"/>
                    </a:solidFill>
                  </a:tcPr>
                </a:tc>
                <a:tc>
                  <a:txBody>
                    <a:bodyPr/>
                    <a:lstStyle/>
                    <a:p>
                      <a:r>
                        <a:rPr sz="900" b="1">
                          <a:solidFill>
                            <a:srgbClr val="52514E"/>
                          </a:solidFill>
                        </a:rPr>
                        <a:t>nearest default / cap</a:t>
                      </a:r>
                    </a:p>
                  </a:txBody>
                  <a:tcPr marL="45720" marR="45720" marT="27432" marB="27432">
                    <a:solidFill>
                      <a:srgbClr val="E1E0D9"/>
                    </a:solidFill>
                  </a:tcPr>
                </a:tc>
                <a:tc>
                  <a:txBody>
                    <a:bodyPr/>
                    <a:lstStyle/>
                    <a:p>
                      <a:r>
                        <a:rPr sz="900" b="1">
                          <a:solidFill>
                            <a:srgbClr val="52514E"/>
                          </a:solidFill>
                        </a:rPr>
                        <a:t>nearest CVE</a:t>
                      </a:r>
                    </a:p>
                  </a:txBody>
                  <a:tcPr marL="45720" marR="45720" marT="27432" marB="27432">
                    <a:solidFill>
                      <a:srgbClr val="E1E0D9"/>
                    </a:solidFill>
                  </a:tcPr>
                </a:tc>
              </a:tr>
              <a:tr h="274320">
                <a:tc>
                  <a:txBody>
                    <a:bodyPr/>
                    <a:lstStyle/>
                    <a:p>
                      <a:r>
                        <a:rPr sz="850" b="0">
                          <a:solidFill>
                            <a:srgbClr val="0B0B0B"/>
                          </a:solidFill>
                        </a:rPr>
                        <a:t>1</a:t>
                      </a:r>
                    </a:p>
                  </a:txBody>
                  <a:tcPr marL="45720" marR="45720" marT="27432" marB="27432">
                    <a:solidFill>
                      <a:srgbClr val="FCFCFB"/>
                    </a:solidFill>
                  </a:tcPr>
                </a:tc>
                <a:tc>
                  <a:txBody>
                    <a:bodyPr/>
                    <a:lstStyle/>
                    <a:p>
                      <a:r>
                        <a:rPr sz="850" b="0">
                          <a:solidFill>
                            <a:srgbClr val="0B0B0B"/>
                          </a:solidFill>
                        </a:rPr>
                        <a:t>OpenINTEL .ch</a:t>
                      </a:r>
                    </a:p>
                  </a:txBody>
                  <a:tcPr marL="45720" marR="45720" marT="27432" marB="27432">
                    <a:solidFill>
                      <a:srgbClr val="FCFCFB"/>
                    </a:solidFill>
                  </a:tcPr>
                </a:tc>
                <a:tc>
                  <a:txBody>
                    <a:bodyPr/>
                    <a:lstStyle/>
                    <a:p>
                      <a:r>
                        <a:rPr sz="850" b="0">
                          <a:solidFill>
                            <a:srgbClr val="0B0B0B"/>
                          </a:solidFill>
                        </a:rPr>
                        <a:t>2021-07..2021-10</a:t>
                      </a:r>
                    </a:p>
                  </a:txBody>
                  <a:tcPr marL="45720" marR="45720" marT="27432" marB="27432">
                    <a:solidFill>
                      <a:srgbClr val="FCFCFB"/>
                    </a:solidFill>
                  </a:tcPr>
                </a:tc>
                <a:tc>
                  <a:txBody>
                    <a:bodyPr/>
                    <a:lstStyle/>
                    <a:p>
                      <a:r>
                        <a:rPr sz="850" b="0">
                          <a:solidFill>
                            <a:srgbClr val="0B0B0B"/>
                          </a:solidFill>
                        </a:rPr>
                        <a:t>+296,470  (15% -&gt; 51%)</a:t>
                      </a:r>
                    </a:p>
                  </a:txBody>
                  <a:tcPr marL="45720" marR="45720" marT="27432" marB="27432">
                    <a:solidFill>
                      <a:srgbClr val="FCFCFB"/>
                    </a:solidFill>
                  </a:tcPr>
                </a:tc>
                <a:tc>
                  <a:txBody>
                    <a:bodyPr/>
                    <a:lstStyle/>
                    <a:p>
                      <a:r>
                        <a:rPr sz="850" b="0">
                          <a:solidFill>
                            <a:srgbClr val="0B0B0B"/>
                          </a:solidFill>
                        </a:rPr>
                        <a:t>new signings</a:t>
                      </a:r>
                    </a:p>
                  </a:txBody>
                  <a:tcPr marL="45720" marR="45720" marT="27432" marB="27432">
                    <a:solidFill>
                      <a:srgbClr val="FCFCFB"/>
                    </a:solidFill>
                  </a:tcPr>
                </a:tc>
                <a:tc>
                  <a:txBody>
                    <a:bodyPr/>
                    <a:lstStyle/>
                    <a:p>
                      <a:r>
                        <a:rPr sz="850" b="0">
                          <a:solidFill>
                            <a:srgbClr val="0B0B0B"/>
                          </a:solidFill>
                        </a:rPr>
                        <a:t>BIND 9 9.7.0 (137 mo before)</a:t>
                      </a:r>
                    </a:p>
                  </a:txBody>
                  <a:tcPr marL="45720" marR="45720" marT="27432" marB="27432">
                    <a:solidFill>
                      <a:srgbClr val="FCFCFB"/>
                    </a:solidFill>
                  </a:tcPr>
                </a:tc>
                <a:tc>
                  <a:txBody>
                    <a:bodyPr/>
                    <a:lstStyle/>
                    <a:p>
                      <a:r>
                        <a:rPr sz="850" b="0">
                          <a:solidFill>
                            <a:srgbClr val="0B0B0B"/>
                          </a:solidFill>
                        </a:rPr>
                        <a:t>BIND 9 9.7.0 (137 mo before)</a:t>
                      </a:r>
                    </a:p>
                  </a:txBody>
                  <a:tcPr marL="45720" marR="45720" marT="27432" marB="27432">
                    <a:solidFill>
                      <a:srgbClr val="FCFCFB"/>
                    </a:solidFill>
                  </a:tcPr>
                </a:tc>
                <a:tc>
                  <a:txBody>
                    <a:bodyPr/>
                    <a:lstStyle/>
                    <a:p>
                      <a:r>
                        <a:rPr sz="850" b="0">
                          <a:solidFill>
                            <a:srgbClr val="0B0B0B"/>
                          </a:solidFill>
                        </a:rPr>
                        <a:t>CVE-2014-0591 (BIND 9) (90 mo before)</a:t>
                      </a:r>
                    </a:p>
                  </a:txBody>
                  <a:tcPr marL="45720" marR="45720" marT="27432" marB="27432">
                    <a:solidFill>
                      <a:srgbClr val="FCFCFB"/>
                    </a:solidFill>
                  </a:tcPr>
                </a:tc>
              </a:tr>
              <a:tr h="274320">
                <a:tc>
                  <a:txBody>
                    <a:bodyPr/>
                    <a:lstStyle/>
                    <a:p>
                      <a:r>
                        <a:rPr sz="850" b="0">
                          <a:solidFill>
                            <a:srgbClr val="0B0B0B"/>
                          </a:solidFill>
                        </a:rPr>
                        <a:t>2</a:t>
                      </a:r>
                    </a:p>
                  </a:txBody>
                  <a:tcPr marL="45720" marR="45720" marT="27432" marB="27432">
                    <a:solidFill>
                      <a:srgbClr val="FCFCFB"/>
                    </a:solidFill>
                  </a:tcPr>
                </a:tc>
                <a:tc>
                  <a:txBody>
                    <a:bodyPr/>
                    <a:lstStyle/>
                    <a:p>
                      <a:r>
                        <a:rPr sz="850" b="0">
                          <a:solidFill>
                            <a:srgbClr val="0B0B0B"/>
                          </a:solidFill>
                        </a:rPr>
                        <a:t>OpenINTEL .ch</a:t>
                      </a:r>
                    </a:p>
                  </a:txBody>
                  <a:tcPr marL="45720" marR="45720" marT="27432" marB="27432">
                    <a:solidFill>
                      <a:srgbClr val="FCFCFB"/>
                    </a:solidFill>
                  </a:tcPr>
                </a:tc>
                <a:tc>
                  <a:txBody>
                    <a:bodyPr/>
                    <a:lstStyle/>
                    <a:p>
                      <a:r>
                        <a:rPr sz="850" b="0">
                          <a:solidFill>
                            <a:srgbClr val="0B0B0B"/>
                          </a:solidFill>
                        </a:rPr>
                        <a:t>2022-06</a:t>
                      </a:r>
                    </a:p>
                  </a:txBody>
                  <a:tcPr marL="45720" marR="45720" marT="27432" marB="27432">
                    <a:solidFill>
                      <a:srgbClr val="FCFCFB"/>
                    </a:solidFill>
                  </a:tcPr>
                </a:tc>
                <a:tc>
                  <a:txBody>
                    <a:bodyPr/>
                    <a:lstStyle/>
                    <a:p>
                      <a:r>
                        <a:rPr sz="850" b="0">
                          <a:solidFill>
                            <a:srgbClr val="0B0B0B"/>
                          </a:solidFill>
                        </a:rPr>
                        <a:t>+51,077  (39% -&gt; 42%)</a:t>
                      </a:r>
                    </a:p>
                  </a:txBody>
                  <a:tcPr marL="45720" marR="45720" marT="27432" marB="27432">
                    <a:solidFill>
                      <a:srgbClr val="FCFCFB"/>
                    </a:solidFill>
                  </a:tcPr>
                </a:tc>
                <a:tc>
                  <a:txBody>
                    <a:bodyPr/>
                    <a:lstStyle/>
                    <a:p>
                      <a:r>
                        <a:rPr sz="850" b="0">
                          <a:solidFill>
                            <a:srgbClr val="0B0B0B"/>
                          </a:solidFill>
                        </a:rPr>
                        <a:t>new signings</a:t>
                      </a:r>
                    </a:p>
                  </a:txBody>
                  <a:tcPr marL="45720" marR="45720" marT="27432" marB="27432">
                    <a:solidFill>
                      <a:srgbClr val="FCFCFB"/>
                    </a:solidFill>
                  </a:tcPr>
                </a:tc>
                <a:tc>
                  <a:txBody>
                    <a:bodyPr/>
                    <a:lstStyle/>
                    <a:p>
                      <a:r>
                        <a:rPr sz="850" b="0">
                          <a:solidFill>
                            <a:srgbClr val="0B0B0B"/>
                          </a:solidFill>
                        </a:rPr>
                        <a:t>BIND 9 9.7.0 (148 mo before)</a:t>
                      </a:r>
                    </a:p>
                  </a:txBody>
                  <a:tcPr marL="45720" marR="45720" marT="27432" marB="27432">
                    <a:solidFill>
                      <a:srgbClr val="FCFCFB"/>
                    </a:solidFill>
                  </a:tcPr>
                </a:tc>
                <a:tc>
                  <a:txBody>
                    <a:bodyPr/>
                    <a:lstStyle/>
                    <a:p>
                      <a:r>
                        <a:rPr sz="850" b="0">
                          <a:solidFill>
                            <a:srgbClr val="0B0B0B"/>
                          </a:solidFill>
                        </a:rPr>
                        <a:t>BIND 9 9.7.0 (148 mo before)</a:t>
                      </a:r>
                    </a:p>
                  </a:txBody>
                  <a:tcPr marL="45720" marR="45720" marT="27432" marB="27432">
                    <a:solidFill>
                      <a:srgbClr val="FCFCFB"/>
                    </a:solidFill>
                  </a:tcPr>
                </a:tc>
                <a:tc>
                  <a:txBody>
                    <a:bodyPr/>
                    <a:lstStyle/>
                    <a:p>
                      <a:r>
                        <a:rPr sz="850" b="0">
                          <a:solidFill>
                            <a:srgbClr val="0B0B0B"/>
                          </a:solidFill>
                        </a:rPr>
                        <a:t>CVE-2014-0591 (BIND 9) (101 mo before)</a:t>
                      </a:r>
                    </a:p>
                  </a:txBody>
                  <a:tcPr marL="45720" marR="45720" marT="27432" marB="27432">
                    <a:solidFill>
                      <a:srgbClr val="FCFCFB"/>
                    </a:solidFill>
                  </a:tcPr>
                </a:tc>
              </a:tr>
              <a:tr h="274320">
                <a:tc>
                  <a:txBody>
                    <a:bodyPr/>
                    <a:lstStyle/>
                    <a:p>
                      <a:r>
                        <a:rPr sz="850" b="0">
                          <a:solidFill>
                            <a:srgbClr val="0B0B0B"/>
                          </a:solidFill>
                        </a:rPr>
                        <a:t>3</a:t>
                      </a:r>
                    </a:p>
                  </a:txBody>
                  <a:tcPr marL="45720" marR="45720" marT="27432" marB="27432">
                    <a:solidFill>
                      <a:srgbClr val="FCFCFB"/>
                    </a:solidFill>
                  </a:tcPr>
                </a:tc>
                <a:tc>
                  <a:txBody>
                    <a:bodyPr/>
                    <a:lstStyle/>
                    <a:p>
                      <a:r>
                        <a:rPr sz="850" b="0">
                          <a:solidFill>
                            <a:srgbClr val="0B0B0B"/>
                          </a:solidFill>
                        </a:rPr>
                        <a:t>OpenINTEL .ch</a:t>
                      </a:r>
                    </a:p>
                  </a:txBody>
                  <a:tcPr marL="45720" marR="45720" marT="27432" marB="27432">
                    <a:solidFill>
                      <a:srgbClr val="FCFCFB"/>
                    </a:solidFill>
                  </a:tcPr>
                </a:tc>
                <a:tc>
                  <a:txBody>
                    <a:bodyPr/>
                    <a:lstStyle/>
                    <a:p>
                      <a:r>
                        <a:rPr sz="850" b="0">
                          <a:solidFill>
                            <a:srgbClr val="0B0B0B"/>
                          </a:solidFill>
                        </a:rPr>
                        <a:t>2023-01</a:t>
                      </a:r>
                    </a:p>
                  </a:txBody>
                  <a:tcPr marL="45720" marR="45720" marT="27432" marB="27432">
                    <a:solidFill>
                      <a:srgbClr val="FCFCFB"/>
                    </a:solidFill>
                  </a:tcPr>
                </a:tc>
                <a:tc>
                  <a:txBody>
                    <a:bodyPr/>
                    <a:lstStyle/>
                    <a:p>
                      <a:r>
                        <a:rPr sz="850" b="0">
                          <a:solidFill>
                            <a:srgbClr val="0B0B0B"/>
                          </a:solidFill>
                        </a:rPr>
                        <a:t>+43,894  (39% -&gt; 41%)</a:t>
                      </a:r>
                    </a:p>
                  </a:txBody>
                  <a:tcPr marL="45720" marR="45720" marT="27432" marB="27432">
                    <a:solidFill>
                      <a:srgbClr val="FCFCFB"/>
                    </a:solidFill>
                  </a:tcPr>
                </a:tc>
                <a:tc>
                  <a:txBody>
                    <a:bodyPr/>
                    <a:lstStyle/>
                    <a:p>
                      <a:r>
                        <a:rPr sz="850" b="0">
                          <a:solidFill>
                            <a:srgbClr val="0B0B0B"/>
                          </a:solidFill>
                        </a:rPr>
                        <a:t>new signings</a:t>
                      </a:r>
                    </a:p>
                  </a:txBody>
                  <a:tcPr marL="45720" marR="45720" marT="27432" marB="27432">
                    <a:solidFill>
                      <a:srgbClr val="FCFCFB"/>
                    </a:solidFill>
                  </a:tcPr>
                </a:tc>
                <a:tc>
                  <a:txBody>
                    <a:bodyPr/>
                    <a:lstStyle/>
                    <a:p>
                      <a:r>
                        <a:rPr sz="850" b="0">
                          <a:solidFill>
                            <a:srgbClr val="0B0B0B"/>
                          </a:solidFill>
                        </a:rPr>
                        <a:t>BIND 9 9.7.0 (155 mo before)</a:t>
                      </a:r>
                    </a:p>
                  </a:txBody>
                  <a:tcPr marL="45720" marR="45720" marT="27432" marB="27432">
                    <a:solidFill>
                      <a:srgbClr val="FCFCFB"/>
                    </a:solidFill>
                  </a:tcPr>
                </a:tc>
                <a:tc>
                  <a:txBody>
                    <a:bodyPr/>
                    <a:lstStyle/>
                    <a:p>
                      <a:r>
                        <a:rPr sz="850" b="0">
                          <a:solidFill>
                            <a:srgbClr val="0B0B0B"/>
                          </a:solidFill>
                        </a:rPr>
                        <a:t>BIND 9 9.7.0 (155 mo before)</a:t>
                      </a:r>
                    </a:p>
                  </a:txBody>
                  <a:tcPr marL="45720" marR="45720" marT="27432" marB="27432">
                    <a:solidFill>
                      <a:srgbClr val="FCFCFB"/>
                    </a:solidFill>
                  </a:tcPr>
                </a:tc>
                <a:tc>
                  <a:txBody>
                    <a:bodyPr/>
                    <a:lstStyle/>
                    <a:p>
                      <a:r>
                        <a:rPr sz="850" b="0">
                          <a:solidFill>
                            <a:srgbClr val="0B0B0B"/>
                          </a:solidFill>
                        </a:rPr>
                        <a:t>CVE-2014-0591 (BIND 9) (108 mo before)</a:t>
                      </a:r>
                    </a:p>
                  </a:txBody>
                  <a:tcPr marL="45720" marR="45720" marT="27432" marB="27432">
                    <a:solidFill>
                      <a:srgbClr val="FCFCFB"/>
                    </a:solidFill>
                  </a:tcPr>
                </a:tc>
              </a:tr>
              <a:tr h="274320">
                <a:tc>
                  <a:txBody>
                    <a:bodyPr/>
                    <a:lstStyle/>
                    <a:p>
                      <a:r>
                        <a:rPr sz="850" b="0">
                          <a:solidFill>
                            <a:srgbClr val="0B0B0B"/>
                          </a:solidFill>
                        </a:rPr>
                        <a:t>4</a:t>
                      </a:r>
                    </a:p>
                  </a:txBody>
                  <a:tcPr marL="45720" marR="45720" marT="27432" marB="27432">
                    <a:solidFill>
                      <a:srgbClr val="FCFCFB"/>
                    </a:solidFill>
                  </a:tcPr>
                </a:tc>
                <a:tc>
                  <a:txBody>
                    <a:bodyPr/>
                    <a:lstStyle/>
                    <a:p>
                      <a:r>
                        <a:rPr sz="850" b="0">
                          <a:solidFill>
                            <a:srgbClr val="0B0B0B"/>
                          </a:solidFill>
                        </a:rPr>
                        <a:t>OpenINTEL .nu</a:t>
                      </a:r>
                    </a:p>
                  </a:txBody>
                  <a:tcPr marL="45720" marR="45720" marT="27432" marB="27432">
                    <a:solidFill>
                      <a:srgbClr val="FCFCFB"/>
                    </a:solidFill>
                  </a:tcPr>
                </a:tc>
                <a:tc>
                  <a:txBody>
                    <a:bodyPr/>
                    <a:lstStyle/>
                    <a:p>
                      <a:r>
                        <a:rPr sz="850" b="0">
                          <a:solidFill>
                            <a:srgbClr val="0B0B0B"/>
                          </a:solidFill>
                        </a:rPr>
                        <a:t>2017-11</a:t>
                      </a:r>
                    </a:p>
                  </a:txBody>
                  <a:tcPr marL="45720" marR="45720" marT="27432" marB="27432">
                    <a:solidFill>
                      <a:srgbClr val="FCFCFB"/>
                    </a:solidFill>
                  </a:tcPr>
                </a:tc>
                <a:tc>
                  <a:txBody>
                    <a:bodyPr/>
                    <a:lstStyle/>
                    <a:p>
                      <a:r>
                        <a:rPr sz="850" b="0">
                          <a:solidFill>
                            <a:srgbClr val="0B0B0B"/>
                          </a:solidFill>
                        </a:rPr>
                        <a:t>+19,582  (91% -&gt; 80%)</a:t>
                      </a:r>
                    </a:p>
                  </a:txBody>
                  <a:tcPr marL="45720" marR="45720" marT="27432" marB="27432">
                    <a:solidFill>
                      <a:srgbClr val="FCFCFB"/>
                    </a:solidFill>
                  </a:tcPr>
                </a:tc>
                <a:tc>
                  <a:txBody>
                    <a:bodyPr/>
                    <a:lstStyle/>
                    <a:p>
                      <a:r>
                        <a:rPr sz="850" b="0">
                          <a:solidFill>
                            <a:srgbClr val="0B0B0B"/>
                          </a:solidFill>
                        </a:rPr>
                        <a:t>new signings</a:t>
                      </a:r>
                    </a:p>
                  </a:txBody>
                  <a:tcPr marL="45720" marR="45720" marT="27432" marB="27432">
                    <a:solidFill>
                      <a:srgbClr val="FCFCFB"/>
                    </a:solidFill>
                  </a:tcPr>
                </a:tc>
                <a:tc>
                  <a:txBody>
                    <a:bodyPr/>
                    <a:lstStyle/>
                    <a:p>
                      <a:r>
                        <a:rPr sz="850" b="0">
                          <a:solidFill>
                            <a:srgbClr val="0B0B0B"/>
                          </a:solidFill>
                        </a:rPr>
                        <a:t>BIND 9 9.7.0 (93 mo before)</a:t>
                      </a:r>
                    </a:p>
                  </a:txBody>
                  <a:tcPr marL="45720" marR="45720" marT="27432" marB="27432">
                    <a:solidFill>
                      <a:srgbClr val="FCFCFB"/>
                    </a:solidFill>
                  </a:tcPr>
                </a:tc>
                <a:tc>
                  <a:txBody>
                    <a:bodyPr/>
                    <a:lstStyle/>
                    <a:p>
                      <a:r>
                        <a:rPr sz="850" b="0">
                          <a:solidFill>
                            <a:srgbClr val="0B0B0B"/>
                          </a:solidFill>
                        </a:rPr>
                        <a:t>BIND 9 9.7.0 (93 mo before)</a:t>
                      </a:r>
                    </a:p>
                  </a:txBody>
                  <a:tcPr marL="45720" marR="45720" marT="27432" marB="27432">
                    <a:solidFill>
                      <a:srgbClr val="FCFCFB"/>
                    </a:solidFill>
                  </a:tcPr>
                </a:tc>
                <a:tc>
                  <a:txBody>
                    <a:bodyPr/>
                    <a:lstStyle/>
                    <a:p>
                      <a:r>
                        <a:rPr sz="850" b="0">
                          <a:solidFill>
                            <a:srgbClr val="0B0B0B"/>
                          </a:solidFill>
                        </a:rPr>
                        <a:t>CVE-2014-0591 (BIND 9) (46 mo before)</a:t>
                      </a:r>
                    </a:p>
                  </a:txBody>
                  <a:tcPr marL="45720" marR="45720" marT="27432" marB="27432">
                    <a:solidFill>
                      <a:srgbClr val="FCFCFB"/>
                    </a:solidFill>
                  </a:tcPr>
                </a:tc>
              </a:tr>
              <a:tr h="274320">
                <a:tc>
                  <a:txBody>
                    <a:bodyPr/>
                    <a:lstStyle/>
                    <a:p>
                      <a:r>
                        <a:rPr sz="850" b="0">
                          <a:solidFill>
                            <a:srgbClr val="0B0B0B"/>
                          </a:solidFill>
                        </a:rPr>
                        <a:t>5</a:t>
                      </a:r>
                    </a:p>
                  </a:txBody>
                  <a:tcPr marL="45720" marR="45720" marT="27432" marB="27432">
                    <a:solidFill>
                      <a:srgbClr val="FCFCFB"/>
                    </a:solidFill>
                  </a:tcPr>
                </a:tc>
                <a:tc>
                  <a:txBody>
                    <a:bodyPr/>
                    <a:lstStyle/>
                    <a:p>
                      <a:r>
                        <a:rPr sz="850" b="0">
                          <a:solidFill>
                            <a:srgbClr val="0B0B0B"/>
                          </a:solidFill>
                        </a:rPr>
                        <a:t>OpenINTEL .nu</a:t>
                      </a:r>
                    </a:p>
                  </a:txBody>
                  <a:tcPr marL="45720" marR="45720" marT="27432" marB="27432">
                    <a:solidFill>
                      <a:srgbClr val="FCFCFB"/>
                    </a:solidFill>
                  </a:tcPr>
                </a:tc>
                <a:tc>
                  <a:txBody>
                    <a:bodyPr/>
                    <a:lstStyle/>
                    <a:p>
                      <a:r>
                        <a:rPr sz="850" b="0">
                          <a:solidFill>
                            <a:srgbClr val="0B0B0B"/>
                          </a:solidFill>
                        </a:rPr>
                        <a:t>2018-04</a:t>
                      </a:r>
                    </a:p>
                  </a:txBody>
                  <a:tcPr marL="45720" marR="45720" marT="27432" marB="27432">
                    <a:solidFill>
                      <a:srgbClr val="FCFCFB"/>
                    </a:solidFill>
                  </a:tcPr>
                </a:tc>
                <a:tc>
                  <a:txBody>
                    <a:bodyPr/>
                    <a:lstStyle/>
                    <a:p>
                      <a:r>
                        <a:rPr sz="850" b="0">
                          <a:solidFill>
                            <a:srgbClr val="0B0B0B"/>
                          </a:solidFill>
                        </a:rPr>
                        <a:t>+12,989  (78% -&gt; 80%)</a:t>
                      </a:r>
                    </a:p>
                  </a:txBody>
                  <a:tcPr marL="45720" marR="45720" marT="27432" marB="27432">
                    <a:solidFill>
                      <a:srgbClr val="FCFCFB"/>
                    </a:solidFill>
                  </a:tcPr>
                </a:tc>
                <a:tc>
                  <a:txBody>
                    <a:bodyPr/>
                    <a:lstStyle/>
                    <a:p>
                      <a:r>
                        <a:rPr sz="850" b="0">
                          <a:solidFill>
                            <a:srgbClr val="0B0B0B"/>
                          </a:solidFill>
                        </a:rPr>
                        <a:t>new signings</a:t>
                      </a:r>
                    </a:p>
                  </a:txBody>
                  <a:tcPr marL="45720" marR="45720" marT="27432" marB="27432">
                    <a:solidFill>
                      <a:srgbClr val="FCFCFB"/>
                    </a:solidFill>
                  </a:tcPr>
                </a:tc>
                <a:tc>
                  <a:txBody>
                    <a:bodyPr/>
                    <a:lstStyle/>
                    <a:p>
                      <a:r>
                        <a:rPr sz="850" b="0">
                          <a:solidFill>
                            <a:srgbClr val="0B0B0B"/>
                          </a:solidFill>
                        </a:rPr>
                        <a:t>BIND 9 9.7.0 (98 mo before)</a:t>
                      </a:r>
                    </a:p>
                  </a:txBody>
                  <a:tcPr marL="45720" marR="45720" marT="27432" marB="27432">
                    <a:solidFill>
                      <a:srgbClr val="FCFCFB"/>
                    </a:solidFill>
                  </a:tcPr>
                </a:tc>
                <a:tc>
                  <a:txBody>
                    <a:bodyPr/>
                    <a:lstStyle/>
                    <a:p>
                      <a:r>
                        <a:rPr sz="850" b="0">
                          <a:solidFill>
                            <a:srgbClr val="0B0B0B"/>
                          </a:solidFill>
                        </a:rPr>
                        <a:t>BIND 9 9.7.0 (98 mo before)</a:t>
                      </a:r>
                    </a:p>
                  </a:txBody>
                  <a:tcPr marL="45720" marR="45720" marT="27432" marB="27432">
                    <a:solidFill>
                      <a:srgbClr val="FCFCFB"/>
                    </a:solidFill>
                  </a:tcPr>
                </a:tc>
                <a:tc>
                  <a:txBody>
                    <a:bodyPr/>
                    <a:lstStyle/>
                    <a:p>
                      <a:r>
                        <a:rPr sz="850" b="0">
                          <a:solidFill>
                            <a:srgbClr val="0B0B0B"/>
                          </a:solidFill>
                        </a:rPr>
                        <a:t>CVE-2014-0591 (BIND 9) (51 mo before)</a:t>
                      </a:r>
                    </a:p>
                  </a:txBody>
                  <a:tcPr marL="45720" marR="45720" marT="27432" marB="27432">
                    <a:solidFill>
                      <a:srgbClr val="FCFCFB"/>
                    </a:solidFill>
                  </a:tcPr>
                </a:tc>
              </a:tr>
              <a:tr h="274320">
                <a:tc>
                  <a:txBody>
                    <a:bodyPr/>
                    <a:lstStyle/>
                    <a:p>
                      <a:r>
                        <a:rPr sz="850" b="0">
                          <a:solidFill>
                            <a:srgbClr val="0B0B0B"/>
                          </a:solidFill>
                        </a:rPr>
                        <a:t>6</a:t>
                      </a:r>
                    </a:p>
                  </a:txBody>
                  <a:tcPr marL="45720" marR="45720" marT="27432" marB="27432">
                    <a:solidFill>
                      <a:srgbClr val="FCFCFB"/>
                    </a:solidFill>
                  </a:tcPr>
                </a:tc>
                <a:tc>
                  <a:txBody>
                    <a:bodyPr/>
                    <a:lstStyle/>
                    <a:p>
                      <a:r>
                        <a:rPr sz="850" b="0">
                          <a:solidFill>
                            <a:srgbClr val="0B0B0B"/>
                          </a:solidFill>
                        </a:rPr>
                        <a:t>OpenINTEL .li</a:t>
                      </a:r>
                    </a:p>
                  </a:txBody>
                  <a:tcPr marL="45720" marR="45720" marT="27432" marB="27432">
                    <a:solidFill>
                      <a:srgbClr val="FCFCFB"/>
                    </a:solidFill>
                  </a:tcPr>
                </a:tc>
                <a:tc>
                  <a:txBody>
                    <a:bodyPr/>
                    <a:lstStyle/>
                    <a:p>
                      <a:r>
                        <a:rPr sz="850" b="0">
                          <a:solidFill>
                            <a:srgbClr val="0B0B0B"/>
                          </a:solidFill>
                        </a:rPr>
                        <a:t>2021-08..2021-10</a:t>
                      </a:r>
                    </a:p>
                  </a:txBody>
                  <a:tcPr marL="45720" marR="45720" marT="27432" marB="27432">
                    <a:solidFill>
                      <a:srgbClr val="FCFCFB"/>
                    </a:solidFill>
                  </a:tcPr>
                </a:tc>
                <a:tc>
                  <a:txBody>
                    <a:bodyPr/>
                    <a:lstStyle/>
                    <a:p>
                      <a:r>
                        <a:rPr sz="850" b="0">
                          <a:solidFill>
                            <a:srgbClr val="0B0B0B"/>
                          </a:solidFill>
                        </a:rPr>
                        <a:t>+4,368  (38% -&gt; 64%)</a:t>
                      </a:r>
                    </a:p>
                  </a:txBody>
                  <a:tcPr marL="45720" marR="45720" marT="27432" marB="27432">
                    <a:solidFill>
                      <a:srgbClr val="FCFCFB"/>
                    </a:solidFill>
                  </a:tcPr>
                </a:tc>
                <a:tc>
                  <a:txBody>
                    <a:bodyPr/>
                    <a:lstStyle/>
                    <a:p>
                      <a:r>
                        <a:rPr sz="850" b="0">
                          <a:solidFill>
                            <a:srgbClr val="0B0B0B"/>
                          </a:solidFill>
                        </a:rPr>
                        <a:t>new signings</a:t>
                      </a:r>
                    </a:p>
                  </a:txBody>
                  <a:tcPr marL="45720" marR="45720" marT="27432" marB="27432">
                    <a:solidFill>
                      <a:srgbClr val="FCFCFB"/>
                    </a:solidFill>
                  </a:tcPr>
                </a:tc>
                <a:tc>
                  <a:txBody>
                    <a:bodyPr/>
                    <a:lstStyle/>
                    <a:p>
                      <a:r>
                        <a:rPr sz="850" b="0">
                          <a:solidFill>
                            <a:srgbClr val="0B0B0B"/>
                          </a:solidFill>
                        </a:rPr>
                        <a:t>BIND 9 9.7.0 (138 mo before)</a:t>
                      </a:r>
                    </a:p>
                  </a:txBody>
                  <a:tcPr marL="45720" marR="45720" marT="27432" marB="27432">
                    <a:solidFill>
                      <a:srgbClr val="FCFCFB"/>
                    </a:solidFill>
                  </a:tcPr>
                </a:tc>
                <a:tc>
                  <a:txBody>
                    <a:bodyPr/>
                    <a:lstStyle/>
                    <a:p>
                      <a:r>
                        <a:rPr sz="850" b="0">
                          <a:solidFill>
                            <a:srgbClr val="0B0B0B"/>
                          </a:solidFill>
                        </a:rPr>
                        <a:t>BIND 9 9.7.0 (138 mo before)</a:t>
                      </a:r>
                    </a:p>
                  </a:txBody>
                  <a:tcPr marL="45720" marR="45720" marT="27432" marB="27432">
                    <a:solidFill>
                      <a:srgbClr val="FCFCFB"/>
                    </a:solidFill>
                  </a:tcPr>
                </a:tc>
                <a:tc>
                  <a:txBody>
                    <a:bodyPr/>
                    <a:lstStyle/>
                    <a:p>
                      <a:r>
                        <a:rPr sz="850" b="0">
                          <a:solidFill>
                            <a:srgbClr val="0B0B0B"/>
                          </a:solidFill>
                        </a:rPr>
                        <a:t>CVE-2014-0591 (BIND 9) (91 mo before)</a:t>
                      </a:r>
                    </a:p>
                  </a:txBody>
                  <a:tcPr marL="45720" marR="45720" marT="27432" marB="27432">
                    <a:solidFill>
                      <a:srgbClr val="FCFCFB"/>
                    </a:solidFill>
                  </a:tcPr>
                </a:tc>
              </a:tr>
              <a:tr h="274320">
                <a:tc>
                  <a:txBody>
                    <a:bodyPr/>
                    <a:lstStyle/>
                    <a:p>
                      <a:r>
                        <a:rPr sz="850" b="0">
                          <a:solidFill>
                            <a:srgbClr val="0B0B0B"/>
                          </a:solidFill>
                        </a:rPr>
                        <a:t>7</a:t>
                      </a:r>
                    </a:p>
                  </a:txBody>
                  <a:tcPr marL="45720" marR="45720" marT="27432" marB="27432">
                    <a:solidFill>
                      <a:srgbClr val="FCFCFB"/>
                    </a:solidFill>
                  </a:tcPr>
                </a:tc>
                <a:tc>
                  <a:txBody>
                    <a:bodyPr/>
                    <a:lstStyle/>
                    <a:p>
                      <a:r>
                        <a:rPr sz="850" b="0">
                          <a:solidFill>
                            <a:srgbClr val="0B0B0B"/>
                          </a:solidFill>
                        </a:rPr>
                        <a:t>OpenINTEL .ee</a:t>
                      </a:r>
                    </a:p>
                  </a:txBody>
                  <a:tcPr marL="45720" marR="45720" marT="27432" marB="27432">
                    <a:solidFill>
                      <a:srgbClr val="FCFCFB"/>
                    </a:solidFill>
                  </a:tcPr>
                </a:tc>
                <a:tc>
                  <a:txBody>
                    <a:bodyPr/>
                    <a:lstStyle/>
                    <a:p>
                      <a:r>
                        <a:rPr sz="850" b="0">
                          <a:solidFill>
                            <a:srgbClr val="0B0B0B"/>
                          </a:solidFill>
                        </a:rPr>
                        <a:t>2019-08..2019-09</a:t>
                      </a:r>
                    </a:p>
                  </a:txBody>
                  <a:tcPr marL="45720" marR="45720" marT="27432" marB="27432">
                    <a:solidFill>
                      <a:srgbClr val="FCFCFB"/>
                    </a:solidFill>
                  </a:tcPr>
                </a:tc>
                <a:tc>
                  <a:txBody>
                    <a:bodyPr/>
                    <a:lstStyle/>
                    <a:p>
                      <a:r>
                        <a:rPr sz="850" b="0">
                          <a:solidFill>
                            <a:srgbClr val="0B0B0B"/>
                          </a:solidFill>
                        </a:rPr>
                        <a:t>+1,615  (94% -&gt; 95%)</a:t>
                      </a:r>
                    </a:p>
                  </a:txBody>
                  <a:tcPr marL="45720" marR="45720" marT="27432" marB="27432">
                    <a:solidFill>
                      <a:srgbClr val="FCFCFB"/>
                    </a:solidFill>
                  </a:tcPr>
                </a:tc>
                <a:tc>
                  <a:txBody>
                    <a:bodyPr/>
                    <a:lstStyle/>
                    <a:p>
                      <a:r>
                        <a:rPr sz="850" b="0">
                          <a:solidFill>
                            <a:srgbClr val="0B0B0B"/>
                          </a:solidFill>
                        </a:rPr>
                        <a:t>new signings</a:t>
                      </a:r>
                    </a:p>
                  </a:txBody>
                  <a:tcPr marL="45720" marR="45720" marT="27432" marB="27432">
                    <a:solidFill>
                      <a:srgbClr val="FCFCFB"/>
                    </a:solidFill>
                  </a:tcPr>
                </a:tc>
                <a:tc>
                  <a:txBody>
                    <a:bodyPr/>
                    <a:lstStyle/>
                    <a:p>
                      <a:r>
                        <a:rPr sz="850" b="0">
                          <a:solidFill>
                            <a:srgbClr val="0B0B0B"/>
                          </a:solidFill>
                        </a:rPr>
                        <a:t>BIND 9 9.7.0 (114 mo before)</a:t>
                      </a:r>
                    </a:p>
                  </a:txBody>
                  <a:tcPr marL="45720" marR="45720" marT="27432" marB="27432">
                    <a:solidFill>
                      <a:srgbClr val="FCFCFB"/>
                    </a:solidFill>
                  </a:tcPr>
                </a:tc>
                <a:tc>
                  <a:txBody>
                    <a:bodyPr/>
                    <a:lstStyle/>
                    <a:p>
                      <a:r>
                        <a:rPr sz="850" b="0">
                          <a:solidFill>
                            <a:srgbClr val="0B0B0B"/>
                          </a:solidFill>
                        </a:rPr>
                        <a:t>BIND 9 9.7.0 (114 mo before)</a:t>
                      </a:r>
                    </a:p>
                  </a:txBody>
                  <a:tcPr marL="45720" marR="45720" marT="27432" marB="27432">
                    <a:solidFill>
                      <a:srgbClr val="FCFCFB"/>
                    </a:solidFill>
                  </a:tcPr>
                </a:tc>
                <a:tc>
                  <a:txBody>
                    <a:bodyPr/>
                    <a:lstStyle/>
                    <a:p>
                      <a:r>
                        <a:rPr sz="850" b="0">
                          <a:solidFill>
                            <a:srgbClr val="0B0B0B"/>
                          </a:solidFill>
                        </a:rPr>
                        <a:t>CVE-2014-0591 (BIND 9) (67 mo before)</a:t>
                      </a:r>
                    </a:p>
                  </a:txBody>
                  <a:tcPr marL="45720" marR="45720" marT="27432" marB="27432">
                    <a:solidFill>
                      <a:srgbClr val="FCFCFB"/>
                    </a:solidFill>
                  </a:tcPr>
                </a:tc>
              </a:tr>
              <a:tr h="274320">
                <a:tc>
                  <a:txBody>
                    <a:bodyPr/>
                    <a:lstStyle/>
                    <a:p>
                      <a:r>
                        <a:rPr sz="850" b="0">
                          <a:solidFill>
                            <a:srgbClr val="0B0B0B"/>
                          </a:solidFill>
                        </a:rPr>
                        <a:t>8</a:t>
                      </a:r>
                    </a:p>
                  </a:txBody>
                  <a:tcPr marL="45720" marR="45720" marT="27432" marB="27432">
                    <a:solidFill>
                      <a:srgbClr val="FCFCFB"/>
                    </a:solidFill>
                  </a:tcPr>
                </a:tc>
                <a:tc>
                  <a:txBody>
                    <a:bodyPr/>
                    <a:lstStyle/>
                    <a:p>
                      <a:r>
                        <a:rPr sz="850" b="0">
                          <a:solidFill>
                            <a:srgbClr val="0B0B0B"/>
                          </a:solidFill>
                        </a:rPr>
                        <a:t>reverse ARIN</a:t>
                      </a:r>
                    </a:p>
                  </a:txBody>
                  <a:tcPr marL="45720" marR="45720" marT="27432" marB="27432">
                    <a:solidFill>
                      <a:srgbClr val="FCFCFB"/>
                    </a:solidFill>
                  </a:tcPr>
                </a:tc>
                <a:tc>
                  <a:txBody>
                    <a:bodyPr/>
                    <a:lstStyle/>
                    <a:p>
                      <a:r>
                        <a:rPr sz="850" b="0">
                          <a:solidFill>
                            <a:srgbClr val="0B0B0B"/>
                          </a:solidFill>
                        </a:rPr>
                        <a:t>2017-06..2017-07</a:t>
                      </a:r>
                    </a:p>
                  </a:txBody>
                  <a:tcPr marL="45720" marR="45720" marT="27432" marB="27432">
                    <a:solidFill>
                      <a:srgbClr val="FCFCFB"/>
                    </a:solidFill>
                  </a:tcPr>
                </a:tc>
                <a:tc>
                  <a:txBody>
                    <a:bodyPr/>
                    <a:lstStyle/>
                    <a:p>
                      <a:r>
                        <a:rPr sz="850" b="0">
                          <a:solidFill>
                            <a:srgbClr val="0B0B0B"/>
                          </a:solidFill>
                        </a:rPr>
                        <a:t>+167  (5% -&gt; 25%)</a:t>
                      </a:r>
                    </a:p>
                  </a:txBody>
                  <a:tcPr marL="45720" marR="45720" marT="27432" marB="27432">
                    <a:solidFill>
                      <a:srgbClr val="FCFCFB"/>
                    </a:solidFill>
                  </a:tcPr>
                </a:tc>
                <a:tc>
                  <a:txBody>
                    <a:bodyPr/>
                    <a:lstStyle/>
                    <a:p>
                      <a:r>
                        <a:rPr sz="850" b="0">
                          <a:solidFill>
                            <a:srgbClr val="0B0B0B"/>
                          </a:solidFill>
                        </a:rPr>
                        <a:t>n/a</a:t>
                      </a:r>
                    </a:p>
                  </a:txBody>
                  <a:tcPr marL="45720" marR="45720" marT="27432" marB="27432">
                    <a:solidFill>
                      <a:srgbClr val="FCFCFB"/>
                    </a:solidFill>
                  </a:tcPr>
                </a:tc>
                <a:tc>
                  <a:txBody>
                    <a:bodyPr/>
                    <a:lstStyle/>
                    <a:p>
                      <a:r>
                        <a:rPr sz="850" b="0">
                          <a:solidFill>
                            <a:srgbClr val="0B0B0B"/>
                          </a:solidFill>
                        </a:rPr>
                        <a:t>BIND 9 9.7.0 (88 mo before)</a:t>
                      </a:r>
                    </a:p>
                  </a:txBody>
                  <a:tcPr marL="45720" marR="45720" marT="27432" marB="27432">
                    <a:solidFill>
                      <a:srgbClr val="FCFCFB"/>
                    </a:solidFill>
                  </a:tcPr>
                </a:tc>
                <a:tc>
                  <a:txBody>
                    <a:bodyPr/>
                    <a:lstStyle/>
                    <a:p>
                      <a:r>
                        <a:rPr sz="850" b="0">
                          <a:solidFill>
                            <a:srgbClr val="0B0B0B"/>
                          </a:solidFill>
                        </a:rPr>
                        <a:t>BIND 9 9.7.0 (88 mo before)</a:t>
                      </a:r>
                    </a:p>
                  </a:txBody>
                  <a:tcPr marL="45720" marR="45720" marT="27432" marB="27432">
                    <a:solidFill>
                      <a:srgbClr val="FCFCFB"/>
                    </a:solidFill>
                  </a:tcPr>
                </a:tc>
                <a:tc>
                  <a:txBody>
                    <a:bodyPr/>
                    <a:lstStyle/>
                    <a:p>
                      <a:r>
                        <a:rPr sz="850" b="0">
                          <a:solidFill>
                            <a:srgbClr val="0B0B0B"/>
                          </a:solidFill>
                        </a:rPr>
                        <a:t>CVE-2014-0591 (BIND 9) (41 mo before)</a:t>
                      </a:r>
                    </a:p>
                  </a:txBody>
                  <a:tcPr marL="45720" marR="45720" marT="27432" marB="27432">
                    <a:solidFill>
                      <a:srgbClr val="FCFCFB"/>
                    </a:solidFill>
                  </a:tcPr>
                </a:tc>
              </a:tr>
            </a:tbl>
          </a:graphicData>
        </a:graphic>
      </p:graphicFrame>
      <p:sp>
        <p:nvSpPr>
          <p:cNvPr id="5" name="TextBox 4"/>
          <p:cNvSpPr txBox="1"/>
          <p:nvPr/>
        </p:nvSpPr>
        <p:spPr>
          <a:xfrm>
            <a:off x="566928" y="3831336"/>
            <a:ext cx="11064240" cy="2377440"/>
          </a:xfrm>
          <a:prstGeom prst="rect">
            <a:avLst/>
          </a:prstGeom>
          <a:noFill/>
        </p:spPr>
        <p:txBody>
          <a:bodyPr wrap="square">
            <a:spAutoFit/>
          </a:bodyPr>
          <a:lstStyle/>
          <a:p>
            <a:pPr>
              <a:spcAft>
                <a:spcPts val="500"/>
              </a:spcAft>
            </a:pPr>
            <a:r>
              <a:rPr sz="1050" b="0">
                <a:solidFill>
                  <a:srgbClr val="0B0B0B"/>
                </a:solidFill>
                <a:latin typeface="Segoe UI"/>
              </a:rPr>
              <a:t>BIND 9.6.0 signed NSEC3 9 months after the RFC and Unbound validated it from 0.7.1, before it. The first NSEC3-signed reverse delegations (RIPE) appear 2009-08, 8 months after BIND 9.6.0; the first CVE on the mechanism came 2009-10, 2 months after that. Code, then deployment, then CVEs, each within a year.</a:t>
            </a:r>
          </a:p>
          <a:p>
            <a:pPr>
              <a:spcAft>
                <a:spcPts val="500"/>
              </a:spcAft>
            </a:pPr>
            <a:r>
              <a:rPr sz="1050" b="0">
                <a:solidFill>
                  <a:srgbClr val="0B0B0B"/>
                </a:solidFill>
                <a:latin typeface="Segoe UI"/>
              </a:rPr>
              <a:t>The forward corpus opens with NSEC3 at 99% of signed .se zones. Its spikes are signing waves, not NSEC3 decisions: .ch 2021-07..2021-10 +296,470 NSEC3PARAM zones is the same wave that put 591,333 ECDSA zones in .ch, and it lands in the month of the PowerDNS 4.5.0 and Unbound 1.13.2 iteration caps (0 months) -- the wave signed with 1 iteration, which is what the caps asked for.</a:t>
            </a:r>
          </a:p>
          <a:p>
            <a:pPr>
              <a:spcAft>
                <a:spcPts val="500"/>
              </a:spcAft>
            </a:pPr>
            <a:r>
              <a:rPr sz="1050" b="0">
                <a:solidFill>
                  <a:srgbClr val="0B0B0B"/>
                </a:solidFill>
                <a:latin typeface="Segoe UI"/>
              </a:rPr>
              <a:t>Reverse DNS sees NSEC3 only through algorithm 7 (RSASHA1-NSEC3-SHA1), a proxy that misses NSEC3 with 8 or 13. Its largest spike, ARIN 2017-06 +167, is 88 months after the nearest signer release. Overall 0 of 17 spikes are within 3 months of a signer release.</a:t>
            </a:r>
          </a:p>
        </p:txBody>
      </p:sp>
      <p:sp>
        <p:nvSpPr>
          <p:cNvPr id="6" name="TextBox 5"/>
          <p:cNvSpPr txBox="1"/>
          <p:nvPr/>
        </p:nvSpPr>
        <p:spPr>
          <a:xfrm>
            <a:off x="566928" y="6263640"/>
            <a:ext cx="11064240" cy="457200"/>
          </a:xfrm>
          <a:prstGeom prst="rect">
            <a:avLst/>
          </a:prstGeom>
          <a:noFill/>
        </p:spPr>
        <p:txBody>
          <a:bodyPr wrap="square">
            <a:spAutoFit/>
          </a:bodyPr>
          <a:lstStyle/>
          <a:p>
            <a:pPr>
              <a:spcAft>
                <a:spcPts val="600"/>
              </a:spcAft>
            </a:pPr>
            <a:r>
              <a:rPr sz="850" b="0">
                <a:solidFill>
                  <a:srgbClr val="898781"/>
                </a:solidFill>
                <a:latin typeface="Segoe UI"/>
              </a:rPr>
              <a:t>17 spikes (7 OpenINTEL, 10 reverse). Within 3 months after: signer release 0, default change 0, validator cap 2, CVE 0, any DNS release 17. Chance that a random month is within 3 months after a default change: forward 0%, reverse 2%. Full ledger: out/analysis/dns_program_rfc_spikes.csv</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THE AUTO-UPDATE TEST  ·  RFC 5155</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200" b="1">
                <a:solidFill>
                  <a:srgbClr val="0B0B0B"/>
                </a:solidFill>
                <a:latin typeface="Segoe UI"/>
              </a:rPr>
              <a:t>Did newly signed reverse delegations pick up the new default?</a:t>
            </a:r>
          </a:p>
        </p:txBody>
      </p:sp>
      <p:pic>
        <p:nvPicPr>
          <p:cNvPr id="4" name="Picture 3" descr="rfc_5155_new_signings.png"/>
          <p:cNvPicPr>
            <a:picLocks noChangeAspect="1"/>
          </p:cNvPicPr>
          <p:nvPr/>
        </p:nvPicPr>
        <p:blipFill>
          <a:blip r:embed="rId2"/>
          <a:stretch>
            <a:fillRect/>
          </a:stretch>
        </p:blipFill>
        <p:spPr>
          <a:xfrm>
            <a:off x="2070499" y="1143000"/>
            <a:ext cx="8050696" cy="2468880"/>
          </a:xfrm>
          <a:prstGeom prst="rect">
            <a:avLst/>
          </a:prstGeom>
        </p:spPr>
      </p:pic>
      <p:graphicFrame>
        <p:nvGraphicFramePr>
          <p:cNvPr id="5" name="Table 4"/>
          <p:cNvGraphicFramePr>
            <a:graphicFrameLocks noGrp="1"/>
          </p:cNvGraphicFramePr>
          <p:nvPr/>
        </p:nvGraphicFramePr>
        <p:xfrm>
          <a:off x="731520" y="3749039"/>
          <a:ext cx="11247120" cy="1371600"/>
        </p:xfrm>
        <a:graphic>
          <a:graphicData uri="http://schemas.openxmlformats.org/drawingml/2006/table">
            <a:tbl>
              <a:tblPr firstRow="1" bandRow="1">
                <a:tableStyleId>{5C22544A-7EE6-4342-B048-85BDC9FD1C3A}</a:tableStyleId>
              </a:tblPr>
              <a:tblGrid>
                <a:gridCol w="3017520"/>
                <a:gridCol w="822960"/>
                <a:gridCol w="822960"/>
                <a:gridCol w="1554480"/>
                <a:gridCol w="1737360"/>
                <a:gridCol w="1554480"/>
                <a:gridCol w="1737360"/>
              </a:tblGrid>
              <a:tr h="274320">
                <a:tc>
                  <a:txBody>
                    <a:bodyPr/>
                    <a:lstStyle/>
                    <a:p>
                      <a:r>
                        <a:rPr sz="900" b="1">
                          <a:solidFill>
                            <a:srgbClr val="52514E"/>
                          </a:solidFill>
                        </a:rPr>
                        <a:t>release</a:t>
                      </a:r>
                    </a:p>
                  </a:txBody>
                  <a:tcPr marL="45720" marR="45720" marT="27432" marB="27432">
                    <a:solidFill>
                      <a:srgbClr val="E1E0D9"/>
                    </a:solidFill>
                  </a:tcPr>
                </a:tc>
                <a:tc>
                  <a:txBody>
                    <a:bodyPr/>
                    <a:lstStyle/>
                    <a:p>
                      <a:r>
                        <a:rPr sz="900" b="1">
                          <a:solidFill>
                            <a:srgbClr val="52514E"/>
                          </a:solidFill>
                        </a:rPr>
                        <a:t>kind</a:t>
                      </a:r>
                    </a:p>
                  </a:txBody>
                  <a:tcPr marL="45720" marR="45720" marT="27432" marB="27432">
                    <a:solidFill>
                      <a:srgbClr val="E1E0D9"/>
                    </a:solidFill>
                  </a:tcPr>
                </a:tc>
                <a:tc>
                  <a:txBody>
                    <a:bodyPr/>
                    <a:lstStyle/>
                    <a:p>
                      <a:r>
                        <a:rPr sz="900" b="1">
                          <a:solidFill>
                            <a:srgbClr val="52514E"/>
                          </a:solidFill>
                        </a:rPr>
                        <a:t>date</a:t>
                      </a:r>
                    </a:p>
                  </a:txBody>
                  <a:tcPr marL="45720" marR="45720" marT="27432" marB="27432">
                    <a:solidFill>
                      <a:srgbClr val="E1E0D9"/>
                    </a:solidFill>
                  </a:tcPr>
                </a:tc>
                <a:tc>
                  <a:txBody>
                    <a:bodyPr/>
                    <a:lstStyle/>
                    <a:p>
                      <a:r>
                        <a:rPr sz="900" b="1">
                          <a:solidFill>
                            <a:srgbClr val="52514E"/>
                          </a:solidFill>
                        </a:rPr>
                        <a:t>new signings, 12 mo before</a:t>
                      </a:r>
                    </a:p>
                  </a:txBody>
                  <a:tcPr marL="45720" marR="45720" marT="27432" marB="27432">
                    <a:solidFill>
                      <a:srgbClr val="E1E0D9"/>
                    </a:solidFill>
                  </a:tcPr>
                </a:tc>
                <a:tc>
                  <a:txBody>
                    <a:bodyPr/>
                    <a:lstStyle/>
                    <a:p>
                      <a:r>
                        <a:rPr sz="900" b="1">
                          <a:solidFill>
                            <a:srgbClr val="52514E"/>
                          </a:solidFill>
                        </a:rPr>
                        <a:t>share choosing it</a:t>
                      </a:r>
                    </a:p>
                  </a:txBody>
                  <a:tcPr marL="45720" marR="45720" marT="27432" marB="27432">
                    <a:solidFill>
                      <a:srgbClr val="E1E0D9"/>
                    </a:solidFill>
                  </a:tcPr>
                </a:tc>
                <a:tc>
                  <a:txBody>
                    <a:bodyPr/>
                    <a:lstStyle/>
                    <a:p>
                      <a:r>
                        <a:rPr sz="900" b="1">
                          <a:solidFill>
                            <a:srgbClr val="52514E"/>
                          </a:solidFill>
                        </a:rPr>
                        <a:t>new signings, 12 mo after</a:t>
                      </a:r>
                    </a:p>
                  </a:txBody>
                  <a:tcPr marL="45720" marR="45720" marT="27432" marB="27432">
                    <a:solidFill>
                      <a:srgbClr val="E1E0D9"/>
                    </a:solidFill>
                  </a:tcPr>
                </a:tc>
                <a:tc>
                  <a:txBody>
                    <a:bodyPr/>
                    <a:lstStyle/>
                    <a:p>
                      <a:r>
                        <a:rPr sz="900" b="1">
                          <a:solidFill>
                            <a:srgbClr val="52514E"/>
                          </a:solidFill>
                        </a:rPr>
                        <a:t>share choosing it</a:t>
                      </a:r>
                    </a:p>
                  </a:txBody>
                  <a:tcPr marL="45720" marR="45720" marT="27432" marB="27432">
                    <a:solidFill>
                      <a:srgbClr val="E1E0D9"/>
                    </a:solidFill>
                  </a:tcPr>
                </a:tc>
              </a:tr>
              <a:tr h="274320">
                <a:tc>
                  <a:txBody>
                    <a:bodyPr/>
                    <a:lstStyle/>
                    <a:p>
                      <a:r>
                        <a:rPr sz="850" b="0">
                          <a:solidFill>
                            <a:srgbClr val="0B0B0B"/>
                          </a:solidFill>
                        </a:rPr>
                        <a:t>BIND 9 9.7.0</a:t>
                      </a:r>
                    </a:p>
                  </a:txBody>
                  <a:tcPr marL="45720" marR="45720" marT="27432" marB="27432">
                    <a:solidFill>
                      <a:srgbClr val="FCFCFB"/>
                    </a:solidFill>
                  </a:tcPr>
                </a:tc>
                <a:tc>
                  <a:txBody>
                    <a:bodyPr/>
                    <a:lstStyle/>
                    <a:p>
                      <a:r>
                        <a:rPr sz="850" b="0">
                          <a:solidFill>
                            <a:srgbClr val="0B0B0B"/>
                          </a:solidFill>
                        </a:rPr>
                        <a:t>default</a:t>
                      </a:r>
                    </a:p>
                  </a:txBody>
                  <a:tcPr marL="45720" marR="45720" marT="27432" marB="27432">
                    <a:solidFill>
                      <a:srgbClr val="FCFCFB"/>
                    </a:solidFill>
                  </a:tcPr>
                </a:tc>
                <a:tc>
                  <a:txBody>
                    <a:bodyPr/>
                    <a:lstStyle/>
                    <a:p>
                      <a:r>
                        <a:rPr sz="850" b="0">
                          <a:solidFill>
                            <a:srgbClr val="0B0B0B"/>
                          </a:solidFill>
                        </a:rPr>
                        <a:t>2010-02</a:t>
                      </a:r>
                    </a:p>
                  </a:txBody>
                  <a:tcPr marL="45720" marR="45720" marT="27432" marB="27432">
                    <a:solidFill>
                      <a:srgbClr val="FCFCFB"/>
                    </a:solidFill>
                  </a:tcPr>
                </a:tc>
                <a:tc>
                  <a:txBody>
                    <a:bodyPr/>
                    <a:lstStyle/>
                    <a:p>
                      <a:r>
                        <a:rPr sz="850" b="0">
                          <a:solidFill>
                            <a:srgbClr val="0B0B0B"/>
                          </a:solidFill>
                        </a:rPr>
                        <a:t>18</a:t>
                      </a:r>
                    </a:p>
                  </a:txBody>
                  <a:tcPr marL="45720" marR="45720" marT="27432" marB="27432">
                    <a:solidFill>
                      <a:srgbClr val="FCFCFB"/>
                    </a:solidFill>
                  </a:tcPr>
                </a:tc>
                <a:tc>
                  <a:txBody>
                    <a:bodyPr/>
                    <a:lstStyle/>
                    <a:p>
                      <a:r>
                        <a:rPr sz="850" b="0">
                          <a:solidFill>
                            <a:srgbClr val="0B0B0B"/>
                          </a:solidFill>
                        </a:rPr>
                        <a:t>50.0%</a:t>
                      </a:r>
                    </a:p>
                  </a:txBody>
                  <a:tcPr marL="45720" marR="45720" marT="27432" marB="27432">
                    <a:solidFill>
                      <a:srgbClr val="FCFCFB"/>
                    </a:solidFill>
                  </a:tcPr>
                </a:tc>
                <a:tc>
                  <a:txBody>
                    <a:bodyPr/>
                    <a:lstStyle/>
                    <a:p>
                      <a:r>
                        <a:rPr sz="850" b="0">
                          <a:solidFill>
                            <a:srgbClr val="0B0B0B"/>
                          </a:solidFill>
                        </a:rPr>
                        <a:t>217</a:t>
                      </a:r>
                    </a:p>
                  </a:txBody>
                  <a:tcPr marL="45720" marR="45720" marT="27432" marB="27432">
                    <a:solidFill>
                      <a:srgbClr val="FCFCFB"/>
                    </a:solidFill>
                  </a:tcPr>
                </a:tc>
                <a:tc>
                  <a:txBody>
                    <a:bodyPr/>
                    <a:lstStyle/>
                    <a:p>
                      <a:r>
                        <a:rPr sz="850" b="0">
                          <a:solidFill>
                            <a:srgbClr val="0B0B0B"/>
                          </a:solidFill>
                        </a:rPr>
                        <a:t>1.8%</a:t>
                      </a:r>
                    </a:p>
                  </a:txBody>
                  <a:tcPr marL="45720" marR="45720" marT="27432" marB="27432">
                    <a:solidFill>
                      <a:srgbClr val="FCFCFB"/>
                    </a:solidFill>
                  </a:tcPr>
                </a:tc>
              </a:tr>
              <a:tr h="274320">
                <a:tc>
                  <a:txBody>
                    <a:bodyPr/>
                    <a:lstStyle/>
                    <a:p>
                      <a:r>
                        <a:rPr sz="850" b="0">
                          <a:solidFill>
                            <a:srgbClr val="0B0B0B"/>
                          </a:solidFill>
                        </a:rPr>
                        <a:t>Ubuntu 16.04: BIND 9 9.7.0</a:t>
                      </a:r>
                    </a:p>
                  </a:txBody>
                  <a:tcPr marL="45720" marR="45720" marT="27432" marB="27432">
                    <a:solidFill>
                      <a:srgbClr val="FCFCFB"/>
                    </a:solidFill>
                  </a:tcPr>
                </a:tc>
                <a:tc>
                  <a:txBody>
                    <a:bodyPr/>
                    <a:lstStyle/>
                    <a:p>
                      <a:r>
                        <a:rPr sz="850" b="0">
                          <a:solidFill>
                            <a:srgbClr val="0B0B0B"/>
                          </a:solidFill>
                        </a:rPr>
                        <a:t>OS package</a:t>
                      </a:r>
                    </a:p>
                  </a:txBody>
                  <a:tcPr marL="45720" marR="45720" marT="27432" marB="27432">
                    <a:solidFill>
                      <a:srgbClr val="FCFCFB"/>
                    </a:solidFill>
                  </a:tcPr>
                </a:tc>
                <a:tc>
                  <a:txBody>
                    <a:bodyPr/>
                    <a:lstStyle/>
                    <a:p>
                      <a:r>
                        <a:rPr sz="850" b="0">
                          <a:solidFill>
                            <a:srgbClr val="0B0B0B"/>
                          </a:solidFill>
                        </a:rPr>
                        <a:t>2016-04</a:t>
                      </a:r>
                    </a:p>
                  </a:txBody>
                  <a:tcPr marL="45720" marR="45720" marT="27432" marB="27432">
                    <a:solidFill>
                      <a:srgbClr val="FCFCFB"/>
                    </a:solidFill>
                  </a:tcPr>
                </a:tc>
                <a:tc>
                  <a:txBody>
                    <a:bodyPr/>
                    <a:lstStyle/>
                    <a:p>
                      <a:r>
                        <a:rPr sz="850" b="0">
                          <a:solidFill>
                            <a:srgbClr val="0B0B0B"/>
                          </a:solidFill>
                        </a:rPr>
                        <a:t>924</a:t>
                      </a:r>
                    </a:p>
                  </a:txBody>
                  <a:tcPr marL="45720" marR="45720" marT="27432" marB="27432">
                    <a:solidFill>
                      <a:srgbClr val="FCFCFB"/>
                    </a:solidFill>
                  </a:tcPr>
                </a:tc>
                <a:tc>
                  <a:txBody>
                    <a:bodyPr/>
                    <a:lstStyle/>
                    <a:p>
                      <a:r>
                        <a:rPr sz="850" b="0">
                          <a:solidFill>
                            <a:srgbClr val="0B0B0B"/>
                          </a:solidFill>
                        </a:rPr>
                        <a:t>5.8% (14 blocks)</a:t>
                      </a:r>
                    </a:p>
                  </a:txBody>
                  <a:tcPr marL="45720" marR="45720" marT="27432" marB="27432">
                    <a:solidFill>
                      <a:srgbClr val="FCFCFB"/>
                    </a:solidFill>
                  </a:tcPr>
                </a:tc>
                <a:tc>
                  <a:txBody>
                    <a:bodyPr/>
                    <a:lstStyle/>
                    <a:p>
                      <a:r>
                        <a:rPr sz="850" b="0">
                          <a:solidFill>
                            <a:srgbClr val="0B0B0B"/>
                          </a:solidFill>
                        </a:rPr>
                        <a:t>1237</a:t>
                      </a:r>
                    </a:p>
                  </a:txBody>
                  <a:tcPr marL="45720" marR="45720" marT="27432" marB="27432">
                    <a:solidFill>
                      <a:srgbClr val="FCFCFB"/>
                    </a:solidFill>
                  </a:tcPr>
                </a:tc>
                <a:tc>
                  <a:txBody>
                    <a:bodyPr/>
                    <a:lstStyle/>
                    <a:p>
                      <a:r>
                        <a:rPr sz="850" b="0">
                          <a:solidFill>
                            <a:srgbClr val="0B0B0B"/>
                          </a:solidFill>
                        </a:rPr>
                        <a:t>0.8% (6 blocks)</a:t>
                      </a:r>
                    </a:p>
                  </a:txBody>
                  <a:tcPr marL="45720" marR="45720" marT="27432" marB="27432">
                    <a:solidFill>
                      <a:srgbClr val="FCFCFB"/>
                    </a:solidFill>
                  </a:tcPr>
                </a:tc>
              </a:tr>
              <a:tr h="274320">
                <a:tc>
                  <a:txBody>
                    <a:bodyPr/>
                    <a:lstStyle/>
                    <a:p>
                      <a:r>
                        <a:rPr sz="850" b="0">
                          <a:solidFill>
                            <a:srgbClr val="0B0B0B"/>
                          </a:solidFill>
                        </a:rPr>
                        <a:t>Debian 9: BIND 9 9.7.0</a:t>
                      </a:r>
                    </a:p>
                  </a:txBody>
                  <a:tcPr marL="45720" marR="45720" marT="27432" marB="27432">
                    <a:solidFill>
                      <a:srgbClr val="FCFCFB"/>
                    </a:solidFill>
                  </a:tcPr>
                </a:tc>
                <a:tc>
                  <a:txBody>
                    <a:bodyPr/>
                    <a:lstStyle/>
                    <a:p>
                      <a:r>
                        <a:rPr sz="850" b="0">
                          <a:solidFill>
                            <a:srgbClr val="0B0B0B"/>
                          </a:solidFill>
                        </a:rPr>
                        <a:t>OS package</a:t>
                      </a:r>
                    </a:p>
                  </a:txBody>
                  <a:tcPr marL="45720" marR="45720" marT="27432" marB="27432">
                    <a:solidFill>
                      <a:srgbClr val="FCFCFB"/>
                    </a:solidFill>
                  </a:tcPr>
                </a:tc>
                <a:tc>
                  <a:txBody>
                    <a:bodyPr/>
                    <a:lstStyle/>
                    <a:p>
                      <a:r>
                        <a:rPr sz="850" b="0">
                          <a:solidFill>
                            <a:srgbClr val="0B0B0B"/>
                          </a:solidFill>
                        </a:rPr>
                        <a:t>2017-06</a:t>
                      </a:r>
                    </a:p>
                  </a:txBody>
                  <a:tcPr marL="45720" marR="45720" marT="27432" marB="27432">
                    <a:solidFill>
                      <a:srgbClr val="FCFCFB"/>
                    </a:solidFill>
                  </a:tcPr>
                </a:tc>
                <a:tc>
                  <a:txBody>
                    <a:bodyPr/>
                    <a:lstStyle/>
                    <a:p>
                      <a:r>
                        <a:rPr sz="850" b="0">
                          <a:solidFill>
                            <a:srgbClr val="0B0B0B"/>
                          </a:solidFill>
                        </a:rPr>
                        <a:t>1247</a:t>
                      </a:r>
                    </a:p>
                  </a:txBody>
                  <a:tcPr marL="45720" marR="45720" marT="27432" marB="27432">
                    <a:solidFill>
                      <a:srgbClr val="FCFCFB"/>
                    </a:solidFill>
                  </a:tcPr>
                </a:tc>
                <a:tc>
                  <a:txBody>
                    <a:bodyPr/>
                    <a:lstStyle/>
                    <a:p>
                      <a:r>
                        <a:rPr sz="850" b="0">
                          <a:solidFill>
                            <a:srgbClr val="0B0B0B"/>
                          </a:solidFill>
                        </a:rPr>
                        <a:t>0.3% (3 blocks)</a:t>
                      </a:r>
                    </a:p>
                  </a:txBody>
                  <a:tcPr marL="45720" marR="45720" marT="27432" marB="27432">
                    <a:solidFill>
                      <a:srgbClr val="FCFCFB"/>
                    </a:solidFill>
                  </a:tcPr>
                </a:tc>
                <a:tc>
                  <a:txBody>
                    <a:bodyPr/>
                    <a:lstStyle/>
                    <a:p>
                      <a:r>
                        <a:rPr sz="850" b="0">
                          <a:solidFill>
                            <a:srgbClr val="0B0B0B"/>
                          </a:solidFill>
                        </a:rPr>
                        <a:t>597</a:t>
                      </a:r>
                    </a:p>
                  </a:txBody>
                  <a:tcPr marL="45720" marR="45720" marT="27432" marB="27432">
                    <a:solidFill>
                      <a:srgbClr val="FCFCFB"/>
                    </a:solidFill>
                  </a:tcPr>
                </a:tc>
                <a:tc>
                  <a:txBody>
                    <a:bodyPr/>
                    <a:lstStyle/>
                    <a:p>
                      <a:r>
                        <a:rPr sz="850" b="0">
                          <a:solidFill>
                            <a:srgbClr val="0B0B0B"/>
                          </a:solidFill>
                        </a:rPr>
                        <a:t>21.1% (20 blocks)</a:t>
                      </a:r>
                    </a:p>
                  </a:txBody>
                  <a:tcPr marL="45720" marR="45720" marT="27432" marB="27432">
                    <a:solidFill>
                      <a:srgbClr val="FCFCFB"/>
                    </a:solidFill>
                  </a:tcPr>
                </a:tc>
              </a:tr>
              <a:tr h="274320">
                <a:tc>
                  <a:txBody>
                    <a:bodyPr/>
                    <a:lstStyle/>
                    <a:p>
                      <a:r>
                        <a:rPr sz="850" b="0">
                          <a:solidFill>
                            <a:srgbClr val="0B0B0B"/>
                          </a:solidFill>
                        </a:rPr>
                        <a:t>RHEL 9: BIND 9 9.7.0</a:t>
                      </a:r>
                    </a:p>
                  </a:txBody>
                  <a:tcPr marL="45720" marR="45720" marT="27432" marB="27432">
                    <a:solidFill>
                      <a:srgbClr val="FCFCFB"/>
                    </a:solidFill>
                  </a:tcPr>
                </a:tc>
                <a:tc>
                  <a:txBody>
                    <a:bodyPr/>
                    <a:lstStyle/>
                    <a:p>
                      <a:r>
                        <a:rPr sz="850" b="0">
                          <a:solidFill>
                            <a:srgbClr val="0B0B0B"/>
                          </a:solidFill>
                        </a:rPr>
                        <a:t>OS package</a:t>
                      </a:r>
                    </a:p>
                  </a:txBody>
                  <a:tcPr marL="45720" marR="45720" marT="27432" marB="27432">
                    <a:solidFill>
                      <a:srgbClr val="FCFCFB"/>
                    </a:solidFill>
                  </a:tcPr>
                </a:tc>
                <a:tc>
                  <a:txBody>
                    <a:bodyPr/>
                    <a:lstStyle/>
                    <a:p>
                      <a:r>
                        <a:rPr sz="850" b="0">
                          <a:solidFill>
                            <a:srgbClr val="0B0B0B"/>
                          </a:solidFill>
                        </a:rPr>
                        <a:t>2022-05</a:t>
                      </a:r>
                    </a:p>
                  </a:txBody>
                  <a:tcPr marL="45720" marR="45720" marT="27432" marB="27432">
                    <a:solidFill>
                      <a:srgbClr val="FCFCFB"/>
                    </a:solidFill>
                  </a:tcPr>
                </a:tc>
                <a:tc>
                  <a:txBody>
                    <a:bodyPr/>
                    <a:lstStyle/>
                    <a:p>
                      <a:r>
                        <a:rPr sz="850" b="0">
                          <a:solidFill>
                            <a:srgbClr val="0B0B0B"/>
                          </a:solidFill>
                        </a:rPr>
                        <a:t>1231</a:t>
                      </a:r>
                    </a:p>
                  </a:txBody>
                  <a:tcPr marL="45720" marR="45720" marT="27432" marB="27432">
                    <a:solidFill>
                      <a:srgbClr val="FCFCFB"/>
                    </a:solidFill>
                  </a:tcPr>
                </a:tc>
                <a:tc>
                  <a:txBody>
                    <a:bodyPr/>
                    <a:lstStyle/>
                    <a:p>
                      <a:r>
                        <a:rPr sz="850" b="0">
                          <a:solidFill>
                            <a:srgbClr val="0B0B0B"/>
                          </a:solidFill>
                        </a:rPr>
                        <a:t>2.9% (7 blocks)</a:t>
                      </a:r>
                    </a:p>
                  </a:txBody>
                  <a:tcPr marL="45720" marR="45720" marT="27432" marB="27432">
                    <a:solidFill>
                      <a:srgbClr val="FCFCFB"/>
                    </a:solidFill>
                  </a:tcPr>
                </a:tc>
                <a:tc>
                  <a:txBody>
                    <a:bodyPr/>
                    <a:lstStyle/>
                    <a:p>
                      <a:r>
                        <a:rPr sz="850" b="0">
                          <a:solidFill>
                            <a:srgbClr val="0B0B0B"/>
                          </a:solidFill>
                        </a:rPr>
                        <a:t>1671</a:t>
                      </a:r>
                    </a:p>
                  </a:txBody>
                  <a:tcPr marL="45720" marR="45720" marT="27432" marB="27432">
                    <a:solidFill>
                      <a:srgbClr val="FCFCFB"/>
                    </a:solidFill>
                  </a:tcPr>
                </a:tc>
                <a:tc>
                  <a:txBody>
                    <a:bodyPr/>
                    <a:lstStyle/>
                    <a:p>
                      <a:r>
                        <a:rPr sz="850" b="0">
                          <a:solidFill>
                            <a:srgbClr val="0B0B0B"/>
                          </a:solidFill>
                        </a:rPr>
                        <a:t>3.4% (11 blocks)</a:t>
                      </a:r>
                    </a:p>
                  </a:txBody>
                  <a:tcPr marL="45720" marR="45720" marT="27432" marB="27432">
                    <a:solidFill>
                      <a:srgbClr val="FCFCFB"/>
                    </a:solidFill>
                  </a:tcPr>
                </a:tc>
              </a:tr>
            </a:tbl>
          </a:graphicData>
        </a:graphic>
      </p:graphicFrame>
      <p:sp>
        <p:nvSpPr>
          <p:cNvPr id="6" name="TextBox 5"/>
          <p:cNvSpPr txBox="1"/>
          <p:nvPr/>
        </p:nvSpPr>
        <p:spPr>
          <a:xfrm>
            <a:off x="566928" y="6263640"/>
            <a:ext cx="11064240" cy="457200"/>
          </a:xfrm>
          <a:prstGeom prst="rect">
            <a:avLst/>
          </a:prstGeom>
          <a:noFill/>
        </p:spPr>
        <p:txBody>
          <a:bodyPr wrap="square">
            <a:spAutoFit/>
          </a:bodyPr>
          <a:lstStyle/>
          <a:p>
            <a:pPr>
              <a:spcAft>
                <a:spcPts val="600"/>
              </a:spcAft>
            </a:pPr>
            <a:r>
              <a:rPr sz="850" b="0">
                <a:solidFill>
                  <a:srgbClr val="898781"/>
                </a:solidFill>
                <a:latin typeface="Segoe UI"/>
              </a:rPr>
              <a:t>An update changes what a newly signed zone gets; it never re-signs an existing zone. So this share, not the adoption curve, is where an automatic update would show. Source: out/analysis/delegation_changes.parquet, kind = 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THE RFC IN EACH PROGRAM  ·  RFC 9276</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000" b="1">
                <a:solidFill>
                  <a:srgbClr val="0B0B0B"/>
                </a:solidFill>
                <a:latin typeface="Segoe UI"/>
              </a:rPr>
              <a:t>RFC 9276 published 2022-08: what each program did, in months from that date</a:t>
            </a:r>
          </a:p>
        </p:txBody>
      </p:sp>
      <p:sp>
        <p:nvSpPr>
          <p:cNvPr id="4" name="TextBox 3"/>
          <p:cNvSpPr txBox="1"/>
          <p:nvPr/>
        </p:nvSpPr>
        <p:spPr>
          <a:xfrm>
            <a:off x="566928" y="1188720"/>
            <a:ext cx="11064240" cy="5029200"/>
          </a:xfrm>
          <a:prstGeom prst="rect">
            <a:avLst/>
          </a:prstGeom>
          <a:noFill/>
        </p:spPr>
        <p:txBody>
          <a:bodyPr wrap="square">
            <a:spAutoFit/>
          </a:bodyPr>
          <a:lstStyle/>
          <a:p>
            <a:pPr>
              <a:spcAft>
                <a:spcPts val="800"/>
              </a:spcAft>
            </a:pPr>
            <a:r>
              <a:rPr sz="1200" b="0">
                <a:solidFill>
                  <a:srgbClr val="0B0B0B"/>
                </a:solidFill>
                <a:latin typeface="Segoe UI"/>
              </a:rPr>
              <a:t>BIND 9: default from 9.7.0, 2010-02 (150 mo before the RFC); CVE-2023-50868 2024-02.</a:t>
            </a:r>
          </a:p>
          <a:p>
            <a:pPr>
              <a:spcAft>
                <a:spcPts val="800"/>
              </a:spcAft>
            </a:pPr>
            <a:r>
              <a:rPr sz="1200" b="0">
                <a:solidFill>
                  <a:srgbClr val="0B0B0B"/>
                </a:solidFill>
                <a:latin typeface="Segoe UI"/>
              </a:rPr>
              <a:t>Knot DNS: caps it from 3.1.5, 2021-12 (8 mo before the RFC).</a:t>
            </a:r>
          </a:p>
          <a:p>
            <a:pPr>
              <a:spcAft>
                <a:spcPts val="800"/>
              </a:spcAft>
            </a:pPr>
            <a:r>
              <a:rPr sz="1200" b="0">
                <a:solidFill>
                  <a:srgbClr val="0B0B0B"/>
                </a:solidFill>
                <a:latin typeface="Segoe UI"/>
              </a:rPr>
              <a:t>PowerDNS Auth: caps it from 4.5.0, 2021-07 (13 mo before the RFC).</a:t>
            </a:r>
          </a:p>
          <a:p>
            <a:pPr>
              <a:spcAft>
                <a:spcPts val="800"/>
              </a:spcAft>
            </a:pPr>
            <a:r>
              <a:rPr sz="1200" b="0">
                <a:solidFill>
                  <a:srgbClr val="0B0B0B"/>
                </a:solidFill>
                <a:latin typeface="Segoe UI"/>
              </a:rPr>
              <a:t>Unbound: caps it from 1.13.2, 2021-08 (12 mo before the RFC); CVE-2023-50868 2024-02; CVE-2026-33278 2026-05; CVE-2026-42923 2026-05.</a:t>
            </a:r>
          </a:p>
          <a:p>
            <a:pPr>
              <a:spcAft>
                <a:spcPts val="800"/>
              </a:spcAft>
            </a:pPr>
            <a:r>
              <a:rPr sz="1200" b="0">
                <a:solidFill>
                  <a:srgbClr val="0B0B0B"/>
                </a:solidFill>
                <a:latin typeface="Segoe UI"/>
              </a:rPr>
              <a:t>Knot Resolver: CVE-2021-40083 2021-08; CVE-2023-50868 2024-02.</a:t>
            </a:r>
          </a:p>
          <a:p>
            <a:pPr>
              <a:spcAft>
                <a:spcPts val="800"/>
              </a:spcAft>
            </a:pPr>
            <a:r>
              <a:rPr sz="1200" b="0">
                <a:solidFill>
                  <a:srgbClr val="0B0B0B"/>
                </a:solidFill>
                <a:latin typeface="Segoe UI"/>
              </a:rPr>
              <a:t>PowerDNS Rec: caps it from 4.1.0, 2017-12 (56 mo before the RFC); CVE-2023-50868 2024-02; CVE-2026-33261 2026-04.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D03B3B"/>
                </a:solidFill>
                <a:latin typeface="Segoe UI"/>
              </a:rPr>
              <a:t>VENDOR-TRIGGERED: CAPS AND A CVE, TEN MONTHS BEFORE THE RFC  ·  RFC 9276</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400" b="1">
                <a:solidFill>
                  <a:srgbClr val="0B0B0B"/>
                </a:solidFill>
                <a:latin typeface="Segoe UI"/>
              </a:rPr>
              <a:t>NSEC3 parameters: iterations to 0</a:t>
            </a:r>
          </a:p>
        </p:txBody>
      </p:sp>
      <p:pic>
        <p:nvPicPr>
          <p:cNvPr id="4" name="Picture 3" descr="rfc_9276.png"/>
          <p:cNvPicPr>
            <a:picLocks noChangeAspect="1"/>
          </p:cNvPicPr>
          <p:nvPr/>
        </p:nvPicPr>
        <p:blipFill>
          <a:blip r:embed="rId2"/>
          <a:stretch>
            <a:fillRect/>
          </a:stretch>
        </p:blipFill>
        <p:spPr>
          <a:xfrm>
            <a:off x="1693931" y="1097280"/>
            <a:ext cx="8803832" cy="5074920"/>
          </a:xfrm>
          <a:prstGeom prst="rect">
            <a:avLst/>
          </a:prstGeom>
        </p:spPr>
      </p:pic>
      <p:sp>
        <p:nvSpPr>
          <p:cNvPr id="5" name="TextBox 4"/>
          <p:cNvSpPr txBox="1"/>
          <p:nvPr/>
        </p:nvSpPr>
        <p:spPr>
          <a:xfrm>
            <a:off x="566928" y="6217920"/>
            <a:ext cx="11064240" cy="457200"/>
          </a:xfrm>
          <a:prstGeom prst="rect">
            <a:avLst/>
          </a:prstGeom>
          <a:noFill/>
        </p:spPr>
        <p:txBody>
          <a:bodyPr wrap="square">
            <a:spAutoFit/>
          </a:bodyPr>
          <a:lstStyle/>
          <a:p>
            <a:pPr>
              <a:spcAft>
                <a:spcPts val="600"/>
              </a:spcAft>
            </a:pPr>
            <a:r>
              <a:rPr sz="900" b="0">
                <a:solidFill>
                  <a:srgbClr val="898781"/>
                </a:solidFill>
                <a:latin typeface="Segoe UI"/>
              </a:rPr>
              <a:t>Numbered circles are the largest spikes; the next slide names what preceded each one. Ticks: the first Ubuntu/Debian release carrying that program version (the automatic-update path).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WHAT PRECEDED EACH SPIKE  ·  RFC 9276</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200" b="1">
                <a:solidFill>
                  <a:srgbClr val="0B0B0B"/>
                </a:solidFill>
                <a:latin typeface="Segoe UI"/>
              </a:rPr>
              <a:t>Nearest release, default, cap and CVE before each spike</a:t>
            </a:r>
          </a:p>
        </p:txBody>
      </p:sp>
      <p:graphicFrame>
        <p:nvGraphicFramePr>
          <p:cNvPr id="4" name="Table 3"/>
          <p:cNvGraphicFramePr>
            <a:graphicFrameLocks noGrp="1"/>
          </p:cNvGraphicFramePr>
          <p:nvPr/>
        </p:nvGraphicFramePr>
        <p:xfrm>
          <a:off x="411480" y="1143000"/>
          <a:ext cx="11338560" cy="1097280"/>
        </p:xfrm>
        <a:graphic>
          <a:graphicData uri="http://schemas.openxmlformats.org/drawingml/2006/table">
            <a:tbl>
              <a:tblPr firstRow="1" bandRow="1">
                <a:tableStyleId>{5C22544A-7EE6-4342-B048-85BDC9FD1C3A}</a:tableStyleId>
              </a:tblPr>
              <a:tblGrid>
                <a:gridCol w="274320"/>
                <a:gridCol w="1234440"/>
                <a:gridCol w="1143000"/>
                <a:gridCol w="1600200"/>
                <a:gridCol w="1143000"/>
                <a:gridCol w="2011680"/>
                <a:gridCol w="2011680"/>
                <a:gridCol w="1920240"/>
              </a:tblGrid>
              <a:tr h="274320">
                <a:tc>
                  <a:txBody>
                    <a:bodyPr/>
                    <a:lstStyle/>
                    <a:p>
                      <a:r>
                        <a:rPr sz="900" b="1">
                          <a:solidFill>
                            <a:srgbClr val="52514E"/>
                          </a:solidFill>
                        </a:rPr>
                        <a:t>#</a:t>
                      </a:r>
                    </a:p>
                  </a:txBody>
                  <a:tcPr marL="45720" marR="45720" marT="27432" marB="27432">
                    <a:solidFill>
                      <a:srgbClr val="E1E0D9"/>
                    </a:solidFill>
                  </a:tcPr>
                </a:tc>
                <a:tc>
                  <a:txBody>
                    <a:bodyPr/>
                    <a:lstStyle/>
                    <a:p>
                      <a:r>
                        <a:rPr sz="900" b="1">
                          <a:solidFill>
                            <a:srgbClr val="52514E"/>
                          </a:solidFill>
                        </a:rPr>
                        <a:t>corpus</a:t>
                      </a:r>
                    </a:p>
                  </a:txBody>
                  <a:tcPr marL="45720" marR="45720" marT="27432" marB="27432">
                    <a:solidFill>
                      <a:srgbClr val="E1E0D9"/>
                    </a:solidFill>
                  </a:tcPr>
                </a:tc>
                <a:tc>
                  <a:txBody>
                    <a:bodyPr/>
                    <a:lstStyle/>
                    <a:p>
                      <a:r>
                        <a:rPr sz="900" b="1">
                          <a:solidFill>
                            <a:srgbClr val="52514E"/>
                          </a:solidFill>
                        </a:rPr>
                        <a:t>month(s)</a:t>
                      </a:r>
                    </a:p>
                  </a:txBody>
                  <a:tcPr marL="45720" marR="45720" marT="27432" marB="27432">
                    <a:solidFill>
                      <a:srgbClr val="E1E0D9"/>
                    </a:solidFill>
                  </a:tcPr>
                </a:tc>
                <a:tc>
                  <a:txBody>
                    <a:bodyPr/>
                    <a:lstStyle/>
                    <a:p>
                      <a:r>
                        <a:rPr sz="900" b="1">
                          <a:solidFill>
                            <a:srgbClr val="52514E"/>
                          </a:solidFill>
                        </a:rPr>
                        <a:t>size</a:t>
                      </a:r>
                    </a:p>
                  </a:txBody>
                  <a:tcPr marL="45720" marR="45720" marT="27432" marB="27432">
                    <a:solidFill>
                      <a:srgbClr val="E1E0D9"/>
                    </a:solidFill>
                  </a:tcPr>
                </a:tc>
                <a:tc>
                  <a:txBody>
                    <a:bodyPr/>
                    <a:lstStyle/>
                    <a:p>
                      <a:r>
                        <a:rPr sz="900" b="1">
                          <a:solidFill>
                            <a:srgbClr val="52514E"/>
                          </a:solidFill>
                        </a:rPr>
                        <a:t>made of</a:t>
                      </a:r>
                    </a:p>
                  </a:txBody>
                  <a:tcPr marL="45720" marR="45720" marT="27432" marB="27432">
                    <a:solidFill>
                      <a:srgbClr val="E1E0D9"/>
                    </a:solidFill>
                  </a:tcPr>
                </a:tc>
                <a:tc>
                  <a:txBody>
                    <a:bodyPr/>
                    <a:lstStyle/>
                    <a:p>
                      <a:r>
                        <a:rPr sz="900" b="1">
                          <a:solidFill>
                            <a:srgbClr val="52514E"/>
                          </a:solidFill>
                        </a:rPr>
                        <a:t>nearest signer release</a:t>
                      </a:r>
                    </a:p>
                  </a:txBody>
                  <a:tcPr marL="45720" marR="45720" marT="27432" marB="27432">
                    <a:solidFill>
                      <a:srgbClr val="E1E0D9"/>
                    </a:solidFill>
                  </a:tcPr>
                </a:tc>
                <a:tc>
                  <a:txBody>
                    <a:bodyPr/>
                    <a:lstStyle/>
                    <a:p>
                      <a:r>
                        <a:rPr sz="900" b="1">
                          <a:solidFill>
                            <a:srgbClr val="52514E"/>
                          </a:solidFill>
                        </a:rPr>
                        <a:t>nearest default / cap</a:t>
                      </a:r>
                    </a:p>
                  </a:txBody>
                  <a:tcPr marL="45720" marR="45720" marT="27432" marB="27432">
                    <a:solidFill>
                      <a:srgbClr val="E1E0D9"/>
                    </a:solidFill>
                  </a:tcPr>
                </a:tc>
                <a:tc>
                  <a:txBody>
                    <a:bodyPr/>
                    <a:lstStyle/>
                    <a:p>
                      <a:r>
                        <a:rPr sz="900" b="1">
                          <a:solidFill>
                            <a:srgbClr val="52514E"/>
                          </a:solidFill>
                        </a:rPr>
                        <a:t>nearest CVE</a:t>
                      </a:r>
                    </a:p>
                  </a:txBody>
                  <a:tcPr marL="45720" marR="45720" marT="27432" marB="27432">
                    <a:solidFill>
                      <a:srgbClr val="E1E0D9"/>
                    </a:solidFill>
                  </a:tcPr>
                </a:tc>
              </a:tr>
              <a:tr h="274320">
                <a:tc>
                  <a:txBody>
                    <a:bodyPr/>
                    <a:lstStyle/>
                    <a:p>
                      <a:r>
                        <a:rPr sz="850" b="0">
                          <a:solidFill>
                            <a:srgbClr val="0B0B0B"/>
                          </a:solidFill>
                        </a:rPr>
                        <a:t>1</a:t>
                      </a:r>
                    </a:p>
                  </a:txBody>
                  <a:tcPr marL="45720" marR="45720" marT="27432" marB="27432">
                    <a:solidFill>
                      <a:srgbClr val="FCFCFB"/>
                    </a:solidFill>
                  </a:tcPr>
                </a:tc>
                <a:tc>
                  <a:txBody>
                    <a:bodyPr/>
                    <a:lstStyle/>
                    <a:p>
                      <a:r>
                        <a:rPr sz="850" b="0">
                          <a:solidFill>
                            <a:srgbClr val="0B0B0B"/>
                          </a:solidFill>
                        </a:rPr>
                        <a:t>OpenINTEL .nu</a:t>
                      </a:r>
                    </a:p>
                  </a:txBody>
                  <a:tcPr marL="45720" marR="45720" marT="27432" marB="27432">
                    <a:solidFill>
                      <a:srgbClr val="FCFCFB"/>
                    </a:solidFill>
                  </a:tcPr>
                </a:tc>
                <a:tc>
                  <a:txBody>
                    <a:bodyPr/>
                    <a:lstStyle/>
                    <a:p>
                      <a:r>
                        <a:rPr sz="850" b="0">
                          <a:solidFill>
                            <a:srgbClr val="0B0B0B"/>
                          </a:solidFill>
                        </a:rPr>
                        <a:t>2021-10..2021-11</a:t>
                      </a:r>
                    </a:p>
                  </a:txBody>
                  <a:tcPr marL="45720" marR="45720" marT="27432" marB="27432">
                    <a:solidFill>
                      <a:srgbClr val="FCFCFB"/>
                    </a:solidFill>
                  </a:tcPr>
                </a:tc>
                <a:tc>
                  <a:txBody>
                    <a:bodyPr/>
                    <a:lstStyle/>
                    <a:p>
                      <a:r>
                        <a:rPr sz="850" b="0">
                          <a:solidFill>
                            <a:srgbClr val="0B0B0B"/>
                          </a:solidFill>
                        </a:rPr>
                        <a:t>-12,035</a:t>
                      </a:r>
                    </a:p>
                  </a:txBody>
                  <a:tcPr marL="45720" marR="45720" marT="27432" marB="27432">
                    <a:solidFill>
                      <a:srgbClr val="FCFCFB"/>
                    </a:solidFill>
                  </a:tcPr>
                </a:tc>
                <a:tc>
                  <a:txBody>
                    <a:bodyPr/>
                    <a:lstStyle/>
                    <a:p>
                      <a:r>
                        <a:rPr sz="850" b="0">
                          <a:solidFill>
                            <a:srgbClr val="0B0B0B"/>
                          </a:solidFill>
                        </a:rPr>
                        <a:t>collapse</a:t>
                      </a:r>
                    </a:p>
                  </a:txBody>
                  <a:tcPr marL="45720" marR="45720" marT="27432" marB="27432">
                    <a:solidFill>
                      <a:srgbClr val="FCFCFB"/>
                    </a:solidFill>
                  </a:tcPr>
                </a:tc>
                <a:tc>
                  <a:txBody>
                    <a:bodyPr/>
                    <a:lstStyle/>
                    <a:p>
                      <a:r>
                        <a:rPr sz="850" b="0">
                          <a:solidFill>
                            <a:srgbClr val="0B0B0B"/>
                          </a:solidFill>
                        </a:rPr>
                        <a:t>BIND 9 9.7.0 (140 mo before)</a:t>
                      </a:r>
                    </a:p>
                  </a:txBody>
                  <a:tcPr marL="45720" marR="45720" marT="27432" marB="27432">
                    <a:solidFill>
                      <a:srgbClr val="FCFCFB"/>
                    </a:solidFill>
                  </a:tcPr>
                </a:tc>
                <a:tc>
                  <a:txBody>
                    <a:bodyPr/>
                    <a:lstStyle/>
                    <a:p>
                      <a:r>
                        <a:rPr sz="850" b="0">
                          <a:solidFill>
                            <a:srgbClr val="0B0B0B"/>
                          </a:solidFill>
                        </a:rPr>
                        <a:t>BIND 9 9.7.0 (140 mo before)</a:t>
                      </a:r>
                    </a:p>
                  </a:txBody>
                  <a:tcPr marL="45720" marR="45720" marT="27432" marB="27432">
                    <a:solidFill>
                      <a:srgbClr val="FCFCFB"/>
                    </a:solidFill>
                  </a:tcPr>
                </a:tc>
                <a:tc>
                  <a:txBody>
                    <a:bodyPr/>
                    <a:lstStyle/>
                    <a:p>
                      <a:r>
                        <a:rPr sz="850" b="0">
                          <a:solidFill>
                            <a:srgbClr val="0B0B0B"/>
                          </a:solidFill>
                        </a:rPr>
                        <a:t>CVE-2021-40083 (Knot Resolver) (2 mo before)</a:t>
                      </a:r>
                    </a:p>
                  </a:txBody>
                  <a:tcPr marL="45720" marR="45720" marT="27432" marB="27432">
                    <a:solidFill>
                      <a:srgbClr val="FCFCFB"/>
                    </a:solidFill>
                  </a:tcPr>
                </a:tc>
              </a:tr>
              <a:tr h="274320">
                <a:tc>
                  <a:txBody>
                    <a:bodyPr/>
                    <a:lstStyle/>
                    <a:p>
                      <a:r>
                        <a:rPr sz="850" b="0">
                          <a:solidFill>
                            <a:srgbClr val="0B0B0B"/>
                          </a:solidFill>
                        </a:rPr>
                        <a:t>2</a:t>
                      </a:r>
                    </a:p>
                  </a:txBody>
                  <a:tcPr marL="45720" marR="45720" marT="27432" marB="27432">
                    <a:solidFill>
                      <a:srgbClr val="FCFCFB"/>
                    </a:solidFill>
                  </a:tcPr>
                </a:tc>
                <a:tc>
                  <a:txBody>
                    <a:bodyPr/>
                    <a:lstStyle/>
                    <a:p>
                      <a:r>
                        <a:rPr sz="850" b="0">
                          <a:solidFill>
                            <a:srgbClr val="0B0B0B"/>
                          </a:solidFill>
                        </a:rPr>
                        <a:t>OpenINTEL .ch</a:t>
                      </a:r>
                    </a:p>
                  </a:txBody>
                  <a:tcPr marL="45720" marR="45720" marT="27432" marB="27432">
                    <a:solidFill>
                      <a:srgbClr val="FCFCFB"/>
                    </a:solidFill>
                  </a:tcPr>
                </a:tc>
                <a:tc>
                  <a:txBody>
                    <a:bodyPr/>
                    <a:lstStyle/>
                    <a:p>
                      <a:r>
                        <a:rPr sz="850" b="0">
                          <a:solidFill>
                            <a:srgbClr val="0B0B0B"/>
                          </a:solidFill>
                        </a:rPr>
                        <a:t>2021-10..2021-11</a:t>
                      </a:r>
                    </a:p>
                  </a:txBody>
                  <a:tcPr marL="45720" marR="45720" marT="27432" marB="27432">
                    <a:solidFill>
                      <a:srgbClr val="FCFCFB"/>
                    </a:solidFill>
                  </a:tcPr>
                </a:tc>
                <a:tc>
                  <a:txBody>
                    <a:bodyPr/>
                    <a:lstStyle/>
                    <a:p>
                      <a:r>
                        <a:rPr sz="850" b="0">
                          <a:solidFill>
                            <a:srgbClr val="0B0B0B"/>
                          </a:solidFill>
                        </a:rPr>
                        <a:t>-3,366</a:t>
                      </a:r>
                    </a:p>
                  </a:txBody>
                  <a:tcPr marL="45720" marR="45720" marT="27432" marB="27432">
                    <a:solidFill>
                      <a:srgbClr val="FCFCFB"/>
                    </a:solidFill>
                  </a:tcPr>
                </a:tc>
                <a:tc>
                  <a:txBody>
                    <a:bodyPr/>
                    <a:lstStyle/>
                    <a:p>
                      <a:r>
                        <a:rPr sz="850" b="0">
                          <a:solidFill>
                            <a:srgbClr val="0B0B0B"/>
                          </a:solidFill>
                        </a:rPr>
                        <a:t>collapse</a:t>
                      </a:r>
                    </a:p>
                  </a:txBody>
                  <a:tcPr marL="45720" marR="45720" marT="27432" marB="27432">
                    <a:solidFill>
                      <a:srgbClr val="FCFCFB"/>
                    </a:solidFill>
                  </a:tcPr>
                </a:tc>
                <a:tc>
                  <a:txBody>
                    <a:bodyPr/>
                    <a:lstStyle/>
                    <a:p>
                      <a:r>
                        <a:rPr sz="850" b="0">
                          <a:solidFill>
                            <a:srgbClr val="0B0B0B"/>
                          </a:solidFill>
                        </a:rPr>
                        <a:t>BIND 9 9.7.0 (140 mo before)</a:t>
                      </a:r>
                    </a:p>
                  </a:txBody>
                  <a:tcPr marL="45720" marR="45720" marT="27432" marB="27432">
                    <a:solidFill>
                      <a:srgbClr val="FCFCFB"/>
                    </a:solidFill>
                  </a:tcPr>
                </a:tc>
                <a:tc>
                  <a:txBody>
                    <a:bodyPr/>
                    <a:lstStyle/>
                    <a:p>
                      <a:r>
                        <a:rPr sz="850" b="0">
                          <a:solidFill>
                            <a:srgbClr val="0B0B0B"/>
                          </a:solidFill>
                        </a:rPr>
                        <a:t>BIND 9 9.7.0 (140 mo before)</a:t>
                      </a:r>
                    </a:p>
                  </a:txBody>
                  <a:tcPr marL="45720" marR="45720" marT="27432" marB="27432">
                    <a:solidFill>
                      <a:srgbClr val="FCFCFB"/>
                    </a:solidFill>
                  </a:tcPr>
                </a:tc>
                <a:tc>
                  <a:txBody>
                    <a:bodyPr/>
                    <a:lstStyle/>
                    <a:p>
                      <a:r>
                        <a:rPr sz="850" b="0">
                          <a:solidFill>
                            <a:srgbClr val="0B0B0B"/>
                          </a:solidFill>
                        </a:rPr>
                        <a:t>CVE-2021-40083 (Knot Resolver) (2 mo before)</a:t>
                      </a:r>
                    </a:p>
                  </a:txBody>
                  <a:tcPr marL="45720" marR="45720" marT="27432" marB="27432">
                    <a:solidFill>
                      <a:srgbClr val="FCFCFB"/>
                    </a:solidFill>
                  </a:tcPr>
                </a:tc>
              </a:tr>
              <a:tr h="274320">
                <a:tc>
                  <a:txBody>
                    <a:bodyPr/>
                    <a:lstStyle/>
                    <a:p>
                      <a:r>
                        <a:rPr sz="850" b="0">
                          <a:solidFill>
                            <a:srgbClr val="0B0B0B"/>
                          </a:solidFill>
                        </a:rPr>
                        <a:t>3</a:t>
                      </a:r>
                    </a:p>
                  </a:txBody>
                  <a:tcPr marL="45720" marR="45720" marT="27432" marB="27432">
                    <a:solidFill>
                      <a:srgbClr val="FCFCFB"/>
                    </a:solidFill>
                  </a:tcPr>
                </a:tc>
                <a:tc>
                  <a:txBody>
                    <a:bodyPr/>
                    <a:lstStyle/>
                    <a:p>
                      <a:r>
                        <a:rPr sz="850" b="0">
                          <a:solidFill>
                            <a:srgbClr val="0B0B0B"/>
                          </a:solidFill>
                        </a:rPr>
                        <a:t>OpenINTEL .se</a:t>
                      </a:r>
                    </a:p>
                  </a:txBody>
                  <a:tcPr marL="45720" marR="45720" marT="27432" marB="27432">
                    <a:solidFill>
                      <a:srgbClr val="FCFCFB"/>
                    </a:solidFill>
                  </a:tcPr>
                </a:tc>
                <a:tc>
                  <a:txBody>
                    <a:bodyPr/>
                    <a:lstStyle/>
                    <a:p>
                      <a:r>
                        <a:rPr sz="850" b="0">
                          <a:solidFill>
                            <a:srgbClr val="0B0B0B"/>
                          </a:solidFill>
                        </a:rPr>
                        <a:t>2021-10..2021-11</a:t>
                      </a:r>
                    </a:p>
                  </a:txBody>
                  <a:tcPr marL="45720" marR="45720" marT="27432" marB="27432">
                    <a:solidFill>
                      <a:srgbClr val="FCFCFB"/>
                    </a:solidFill>
                  </a:tcPr>
                </a:tc>
                <a:tc>
                  <a:txBody>
                    <a:bodyPr/>
                    <a:lstStyle/>
                    <a:p>
                      <a:r>
                        <a:rPr sz="850" b="0">
                          <a:solidFill>
                            <a:srgbClr val="0B0B0B"/>
                          </a:solidFill>
                        </a:rPr>
                        <a:t>-1,388</a:t>
                      </a:r>
                    </a:p>
                  </a:txBody>
                  <a:tcPr marL="45720" marR="45720" marT="27432" marB="27432">
                    <a:solidFill>
                      <a:srgbClr val="FCFCFB"/>
                    </a:solidFill>
                  </a:tcPr>
                </a:tc>
                <a:tc>
                  <a:txBody>
                    <a:bodyPr/>
                    <a:lstStyle/>
                    <a:p>
                      <a:r>
                        <a:rPr sz="850" b="0">
                          <a:solidFill>
                            <a:srgbClr val="0B0B0B"/>
                          </a:solidFill>
                        </a:rPr>
                        <a:t>collapse</a:t>
                      </a:r>
                    </a:p>
                  </a:txBody>
                  <a:tcPr marL="45720" marR="45720" marT="27432" marB="27432">
                    <a:solidFill>
                      <a:srgbClr val="FCFCFB"/>
                    </a:solidFill>
                  </a:tcPr>
                </a:tc>
                <a:tc>
                  <a:txBody>
                    <a:bodyPr/>
                    <a:lstStyle/>
                    <a:p>
                      <a:r>
                        <a:rPr sz="850" b="0">
                          <a:solidFill>
                            <a:srgbClr val="0B0B0B"/>
                          </a:solidFill>
                        </a:rPr>
                        <a:t>BIND 9 9.7.0 (140 mo before)</a:t>
                      </a:r>
                    </a:p>
                  </a:txBody>
                  <a:tcPr marL="45720" marR="45720" marT="27432" marB="27432">
                    <a:solidFill>
                      <a:srgbClr val="FCFCFB"/>
                    </a:solidFill>
                  </a:tcPr>
                </a:tc>
                <a:tc>
                  <a:txBody>
                    <a:bodyPr/>
                    <a:lstStyle/>
                    <a:p>
                      <a:r>
                        <a:rPr sz="850" b="0">
                          <a:solidFill>
                            <a:srgbClr val="0B0B0B"/>
                          </a:solidFill>
                        </a:rPr>
                        <a:t>BIND 9 9.7.0 (140 mo before)</a:t>
                      </a:r>
                    </a:p>
                  </a:txBody>
                  <a:tcPr marL="45720" marR="45720" marT="27432" marB="27432">
                    <a:solidFill>
                      <a:srgbClr val="FCFCFB"/>
                    </a:solidFill>
                  </a:tcPr>
                </a:tc>
                <a:tc>
                  <a:txBody>
                    <a:bodyPr/>
                    <a:lstStyle/>
                    <a:p>
                      <a:r>
                        <a:rPr sz="850" b="0">
                          <a:solidFill>
                            <a:srgbClr val="0B0B0B"/>
                          </a:solidFill>
                        </a:rPr>
                        <a:t>CVE-2021-40083 (Knot Resolver) (2 mo before)</a:t>
                      </a:r>
                    </a:p>
                  </a:txBody>
                  <a:tcPr marL="45720" marR="45720" marT="27432" marB="27432">
                    <a:solidFill>
                      <a:srgbClr val="FCFCFB"/>
                    </a:solidFill>
                  </a:tcPr>
                </a:tc>
              </a:tr>
            </a:tbl>
          </a:graphicData>
        </a:graphic>
      </p:graphicFrame>
      <p:sp>
        <p:nvSpPr>
          <p:cNvPr id="5" name="TextBox 4"/>
          <p:cNvSpPr txBox="1"/>
          <p:nvPr/>
        </p:nvSpPr>
        <p:spPr>
          <a:xfrm>
            <a:off x="566928" y="2414016"/>
            <a:ext cx="11064240" cy="2377440"/>
          </a:xfrm>
          <a:prstGeom prst="rect">
            <a:avLst/>
          </a:prstGeom>
          <a:noFill/>
        </p:spPr>
        <p:txBody>
          <a:bodyPr wrap="square">
            <a:spAutoFit/>
          </a:bodyPr>
          <a:lstStyle/>
          <a:p>
            <a:pPr>
              <a:spcAft>
                <a:spcPts val="500"/>
              </a:spcAft>
            </a:pPr>
            <a:r>
              <a:rPr sz="1050" b="0">
                <a:solidFill>
                  <a:srgbClr val="0B0B0B"/>
                </a:solidFill>
                <a:latin typeface="Segoe UI"/>
              </a:rPr>
              <a:t>This is the one vendor-triggered case. Names with 100 or more NSEC3 iterations collapsed in 2021-10..2021-11 in all three TLDs that had them: .nu 12,145 -&gt; 110, .ch 3,618 -&gt; 252, .se 1,476 -&gt; 88. That is 10 months BEFORE RFC 9276 was published.</a:t>
            </a:r>
          </a:p>
          <a:p>
            <a:pPr>
              <a:spcAft>
                <a:spcPts val="500"/>
              </a:spcAft>
            </a:pPr>
            <a:r>
              <a:rPr sz="1050" b="0">
                <a:solidFill>
                  <a:srgbClr val="0B0B0B"/>
                </a:solidFill>
                <a:latin typeface="Segoe UI"/>
              </a:rPr>
              <a:t>What preceded it: PowerDNS Auth 4.5.0 capped iterations 2021-07; Unbound 1.13.2 capped iterations 2021-08; and CVE-2021-40083 (Knot Resolver, 2021-08, an assertion failure on NSEC3 with too many iterations), 2 months before the collapse. The caps and the CVE are one event: the resolver vendors agreed in mid-2021 to reject high iteration counts, and the zones that would have failed validation were re-signed (Knot DNS 3.1.5 followed 2021-12).</a:t>
            </a:r>
          </a:p>
          <a:p>
            <a:pPr>
              <a:spcAft>
                <a:spcPts val="500"/>
              </a:spcAft>
            </a:pPr>
            <a:r>
              <a:rPr sz="1050" b="0">
                <a:solidFill>
                  <a:srgbClr val="0B0B0B"/>
                </a:solidFill>
                <a:latin typeface="Segoe UI"/>
              </a:rPr>
              <a:t>All 3 spikes are within 3 months of a validator cap; a random forward month is 14% likely to be. The signers' own defaults had nothing to do with it: BIND's 100 -&gt; 10 default change was 140 months earlier. The RFC codified what validators had already forced. CVE-2023-50868 (KeyTrap era, 2024-02) came after both.</a:t>
            </a:r>
          </a:p>
        </p:txBody>
      </p:sp>
      <p:sp>
        <p:nvSpPr>
          <p:cNvPr id="6" name="TextBox 5"/>
          <p:cNvSpPr txBox="1"/>
          <p:nvPr/>
        </p:nvSpPr>
        <p:spPr>
          <a:xfrm>
            <a:off x="566928" y="6263640"/>
            <a:ext cx="11064240" cy="457200"/>
          </a:xfrm>
          <a:prstGeom prst="rect">
            <a:avLst/>
          </a:prstGeom>
          <a:noFill/>
        </p:spPr>
        <p:txBody>
          <a:bodyPr wrap="square">
            <a:spAutoFit/>
          </a:bodyPr>
          <a:lstStyle/>
          <a:p>
            <a:pPr>
              <a:spcAft>
                <a:spcPts val="600"/>
              </a:spcAft>
            </a:pPr>
            <a:r>
              <a:rPr sz="850" b="0">
                <a:solidFill>
                  <a:srgbClr val="898781"/>
                </a:solidFill>
                <a:latin typeface="Segoe UI"/>
              </a:rPr>
              <a:t>3 spikes (3 OpenINTEL, 0 reverse). Within 3 months after: signer release 0, default change 0, validator cap 3, CVE 3, any DNS release 3. Chance that a random month is within 3 months after a default change: forward 0%, reverse n/a. Full ledger: out/analysis/dns_program_rfc_spikes.csv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ACROSS THE FIVE RFCs</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200" b="1">
                <a:solidFill>
                  <a:srgbClr val="0B0B0B"/>
                </a:solidFill>
                <a:latin typeface="Segoe UI"/>
              </a:rPr>
              <a:t>Spikes within 3 months of a software event, against chance</a:t>
            </a:r>
          </a:p>
        </p:txBody>
      </p:sp>
      <p:graphicFrame>
        <p:nvGraphicFramePr>
          <p:cNvPr id="4" name="Table 3"/>
          <p:cNvGraphicFramePr>
            <a:graphicFrameLocks noGrp="1"/>
          </p:cNvGraphicFramePr>
          <p:nvPr/>
        </p:nvGraphicFramePr>
        <p:xfrm>
          <a:off x="411480" y="1188720"/>
          <a:ext cx="11338560" cy="1645920"/>
        </p:xfrm>
        <a:graphic>
          <a:graphicData uri="http://schemas.openxmlformats.org/drawingml/2006/table">
            <a:tbl>
              <a:tblPr firstRow="1" bandRow="1">
                <a:tableStyleId>{5C22544A-7EE6-4342-B048-85BDC9FD1C3A}</a:tableStyleId>
              </a:tblPr>
              <a:tblGrid>
                <a:gridCol w="822960"/>
                <a:gridCol w="548640"/>
                <a:gridCol w="1097280"/>
                <a:gridCol w="914400"/>
                <a:gridCol w="731520"/>
                <a:gridCol w="731520"/>
                <a:gridCol w="3291840"/>
                <a:gridCol w="3200400"/>
              </a:tblGrid>
              <a:tr h="274320">
                <a:tc>
                  <a:txBody>
                    <a:bodyPr/>
                    <a:lstStyle/>
                    <a:p>
                      <a:r>
                        <a:rPr sz="900" b="1">
                          <a:solidFill>
                            <a:srgbClr val="52514E"/>
                          </a:solidFill>
                        </a:rPr>
                        <a:t>RFC</a:t>
                      </a:r>
                    </a:p>
                  </a:txBody>
                  <a:tcPr marL="45720" marR="45720" marT="27432" marB="27432">
                    <a:solidFill>
                      <a:srgbClr val="E1E0D9"/>
                    </a:solidFill>
                  </a:tcPr>
                </a:tc>
                <a:tc>
                  <a:txBody>
                    <a:bodyPr/>
                    <a:lstStyle/>
                    <a:p>
                      <a:r>
                        <a:rPr sz="900" b="1">
                          <a:solidFill>
                            <a:srgbClr val="52514E"/>
                          </a:solidFill>
                        </a:rPr>
                        <a:t>spikes</a:t>
                      </a:r>
                    </a:p>
                  </a:txBody>
                  <a:tcPr marL="45720" marR="45720" marT="27432" marB="27432">
                    <a:solidFill>
                      <a:srgbClr val="E1E0D9"/>
                    </a:solidFill>
                  </a:tcPr>
                </a:tc>
                <a:tc>
                  <a:txBody>
                    <a:bodyPr/>
                    <a:lstStyle/>
                    <a:p>
                      <a:r>
                        <a:rPr sz="900" b="1">
                          <a:solidFill>
                            <a:srgbClr val="52514E"/>
                          </a:solidFill>
                        </a:rPr>
                        <a:t>after signer release</a:t>
                      </a:r>
                    </a:p>
                  </a:txBody>
                  <a:tcPr marL="45720" marR="45720" marT="27432" marB="27432">
                    <a:solidFill>
                      <a:srgbClr val="E1E0D9"/>
                    </a:solidFill>
                  </a:tcPr>
                </a:tc>
                <a:tc>
                  <a:txBody>
                    <a:bodyPr/>
                    <a:lstStyle/>
                    <a:p>
                      <a:r>
                        <a:rPr sz="900" b="1">
                          <a:solidFill>
                            <a:srgbClr val="52514E"/>
                          </a:solidFill>
                        </a:rPr>
                        <a:t>after default</a:t>
                      </a:r>
                    </a:p>
                  </a:txBody>
                  <a:tcPr marL="45720" marR="45720" marT="27432" marB="27432">
                    <a:solidFill>
                      <a:srgbClr val="E1E0D9"/>
                    </a:solidFill>
                  </a:tcPr>
                </a:tc>
                <a:tc>
                  <a:txBody>
                    <a:bodyPr/>
                    <a:lstStyle/>
                    <a:p>
                      <a:r>
                        <a:rPr sz="900" b="1">
                          <a:solidFill>
                            <a:srgbClr val="52514E"/>
                          </a:solidFill>
                        </a:rPr>
                        <a:t>after cap</a:t>
                      </a:r>
                    </a:p>
                  </a:txBody>
                  <a:tcPr marL="45720" marR="45720" marT="27432" marB="27432">
                    <a:solidFill>
                      <a:srgbClr val="E1E0D9"/>
                    </a:solidFill>
                  </a:tcPr>
                </a:tc>
                <a:tc>
                  <a:txBody>
                    <a:bodyPr/>
                    <a:lstStyle/>
                    <a:p>
                      <a:r>
                        <a:rPr sz="900" b="1">
                          <a:solidFill>
                            <a:srgbClr val="52514E"/>
                          </a:solidFill>
                        </a:rPr>
                        <a:t>after CVE</a:t>
                      </a:r>
                    </a:p>
                  </a:txBody>
                  <a:tcPr marL="45720" marR="45720" marT="27432" marB="27432">
                    <a:solidFill>
                      <a:srgbClr val="E1E0D9"/>
                    </a:solidFill>
                  </a:tcPr>
                </a:tc>
                <a:tc>
                  <a:txBody>
                    <a:bodyPr/>
                    <a:lstStyle/>
                    <a:p>
                      <a:r>
                        <a:rPr sz="900" b="1">
                          <a:solidFill>
                            <a:srgbClr val="52514E"/>
                          </a:solidFill>
                        </a:rPr>
                        <a:t>chance / month (fwd, rev)</a:t>
                      </a:r>
                    </a:p>
                  </a:txBody>
                  <a:tcPr marL="45720" marR="45720" marT="27432" marB="27432">
                    <a:solidFill>
                      <a:srgbClr val="E1E0D9"/>
                    </a:solidFill>
                  </a:tcPr>
                </a:tc>
                <a:tc>
                  <a:txBody>
                    <a:bodyPr/>
                    <a:lstStyle/>
                    <a:p>
                      <a:r>
                        <a:rPr sz="900" b="1">
                          <a:solidFill>
                            <a:srgbClr val="52514E"/>
                          </a:solidFill>
                        </a:rPr>
                        <a:t>made of (forward)</a:t>
                      </a:r>
                    </a:p>
                  </a:txBody>
                  <a:tcPr marL="45720" marR="45720" marT="27432" marB="27432">
                    <a:solidFill>
                      <a:srgbClr val="E1E0D9"/>
                    </a:solidFill>
                  </a:tcPr>
                </a:tc>
              </a:tr>
              <a:tr h="274320">
                <a:tc>
                  <a:txBody>
                    <a:bodyPr/>
                    <a:lstStyle/>
                    <a:p>
                      <a:r>
                        <a:rPr sz="900" b="0">
                          <a:solidFill>
                            <a:srgbClr val="0B0B0B"/>
                          </a:solidFill>
                        </a:rPr>
                        <a:t>RFC 6605</a:t>
                      </a:r>
                    </a:p>
                  </a:txBody>
                  <a:tcPr marL="45720" marR="45720" marT="27432" marB="27432">
                    <a:solidFill>
                      <a:srgbClr val="FCFCFB"/>
                    </a:solidFill>
                  </a:tcPr>
                </a:tc>
                <a:tc>
                  <a:txBody>
                    <a:bodyPr/>
                    <a:lstStyle/>
                    <a:p>
                      <a:r>
                        <a:rPr sz="900" b="0">
                          <a:solidFill>
                            <a:srgbClr val="0B0B0B"/>
                          </a:solidFill>
                        </a:rPr>
                        <a:t>31</a:t>
                      </a:r>
                    </a:p>
                  </a:txBody>
                  <a:tcPr marL="45720" marR="45720" marT="27432" marB="27432">
                    <a:solidFill>
                      <a:srgbClr val="FCFCFB"/>
                    </a:solidFill>
                  </a:tcPr>
                </a:tc>
                <a:tc>
                  <a:txBody>
                    <a:bodyPr/>
                    <a:lstStyle/>
                    <a:p>
                      <a:r>
                        <a:rPr sz="900" b="0">
                          <a:solidFill>
                            <a:srgbClr val="0B0B0B"/>
                          </a:solidFill>
                        </a:rPr>
                        <a:t>2</a:t>
                      </a:r>
                    </a:p>
                  </a:txBody>
                  <a:tcPr marL="45720" marR="45720" marT="27432" marB="27432">
                    <a:solidFill>
                      <a:srgbClr val="FCFCFB"/>
                    </a:solidFill>
                  </a:tcPr>
                </a:tc>
                <a:tc>
                  <a:txBody>
                    <a:bodyPr/>
                    <a:lstStyle/>
                    <a:p>
                      <a:r>
                        <a:rPr sz="900" b="0">
                          <a:solidFill>
                            <a:srgbClr val="0B0B0B"/>
                          </a:solidFill>
                        </a:rPr>
                        <a:t>2</a:t>
                      </a:r>
                    </a:p>
                  </a:txBody>
                  <a:tcPr marL="45720" marR="45720" marT="27432" marB="27432">
                    <a:solidFill>
                      <a:srgbClr val="FCFCFB"/>
                    </a:solidFill>
                  </a:tcPr>
                </a:tc>
                <a:tc>
                  <a:txBody>
                    <a:bodyPr/>
                    <a:lstStyle/>
                    <a:p>
                      <a:r>
                        <a:rPr sz="900" b="0">
                          <a:solidFill>
                            <a:srgbClr val="0B0B0B"/>
                          </a:solidFill>
                        </a:rPr>
                        <a:t>0</a:t>
                      </a:r>
                    </a:p>
                  </a:txBody>
                  <a:tcPr marL="45720" marR="45720" marT="27432" marB="27432">
                    <a:solidFill>
                      <a:srgbClr val="FCFCFB"/>
                    </a:solidFill>
                  </a:tcPr>
                </a:tc>
                <a:tc>
                  <a:txBody>
                    <a:bodyPr/>
                    <a:lstStyle/>
                    <a:p>
                      <a:r>
                        <a:rPr sz="900" b="0">
                          <a:solidFill>
                            <a:srgbClr val="0B0B0B"/>
                          </a:solidFill>
                        </a:rPr>
                        <a:t>2</a:t>
                      </a:r>
                    </a:p>
                  </a:txBody>
                  <a:tcPr marL="45720" marR="45720" marT="27432" marB="27432">
                    <a:solidFill>
                      <a:srgbClr val="FCFCFB"/>
                    </a:solidFill>
                  </a:tcPr>
                </a:tc>
                <a:tc>
                  <a:txBody>
                    <a:bodyPr/>
                    <a:lstStyle/>
                    <a:p>
                      <a:r>
                        <a:rPr sz="900" b="0">
                          <a:solidFill>
                            <a:srgbClr val="0B0B0B"/>
                          </a:solidFill>
                        </a:rPr>
                        <a:t>default 9%/6%; cap n/a; CVE 9%/4%</a:t>
                      </a:r>
                    </a:p>
                  </a:txBody>
                  <a:tcPr marL="45720" marR="45720" marT="27432" marB="27432">
                    <a:solidFill>
                      <a:srgbClr val="FCFCFB"/>
                    </a:solidFill>
                  </a:tcPr>
                </a:tc>
                <a:tc>
                  <a:txBody>
                    <a:bodyPr/>
                    <a:lstStyle/>
                    <a:p>
                      <a:r>
                        <a:rPr sz="900" b="0">
                          <a:solidFill>
                            <a:srgbClr val="0B0B0B"/>
                          </a:solidFill>
                        </a:rPr>
                        <a:t>389,932 rolled / 645,952 new at most</a:t>
                      </a:r>
                    </a:p>
                  </a:txBody>
                  <a:tcPr marL="45720" marR="45720" marT="27432" marB="27432">
                    <a:solidFill>
                      <a:srgbClr val="FCFCFB"/>
                    </a:solidFill>
                  </a:tcPr>
                </a:tc>
              </a:tr>
              <a:tr h="274320">
                <a:tc>
                  <a:txBody>
                    <a:bodyPr/>
                    <a:lstStyle/>
                    <a:p>
                      <a:r>
                        <a:rPr sz="900" b="0">
                          <a:solidFill>
                            <a:srgbClr val="0B0B0B"/>
                          </a:solidFill>
                        </a:rPr>
                        <a:t>RFC 5702</a:t>
                      </a:r>
                    </a:p>
                  </a:txBody>
                  <a:tcPr marL="45720" marR="45720" marT="27432" marB="27432">
                    <a:solidFill>
                      <a:srgbClr val="FCFCFB"/>
                    </a:solidFill>
                  </a:tcPr>
                </a:tc>
                <a:tc>
                  <a:txBody>
                    <a:bodyPr/>
                    <a:lstStyle/>
                    <a:p>
                      <a:r>
                        <a:rPr sz="900" b="0">
                          <a:solidFill>
                            <a:srgbClr val="0B0B0B"/>
                          </a:solidFill>
                        </a:rPr>
                        <a:t>24</a:t>
                      </a:r>
                    </a:p>
                  </a:txBody>
                  <a:tcPr marL="45720" marR="45720" marT="27432" marB="27432">
                    <a:solidFill>
                      <a:srgbClr val="FCFCFB"/>
                    </a:solidFill>
                  </a:tcPr>
                </a:tc>
                <a:tc>
                  <a:txBody>
                    <a:bodyPr/>
                    <a:lstStyle/>
                    <a:p>
                      <a:r>
                        <a:rPr sz="900" b="0">
                          <a:solidFill>
                            <a:srgbClr val="0B0B0B"/>
                          </a:solidFill>
                        </a:rPr>
                        <a:t>1</a:t>
                      </a:r>
                    </a:p>
                  </a:txBody>
                  <a:tcPr marL="45720" marR="45720" marT="27432" marB="27432">
                    <a:solidFill>
                      <a:srgbClr val="FCFCFB"/>
                    </a:solidFill>
                  </a:tcPr>
                </a:tc>
                <a:tc>
                  <a:txBody>
                    <a:bodyPr/>
                    <a:lstStyle/>
                    <a:p>
                      <a:r>
                        <a:rPr sz="900" b="0">
                          <a:solidFill>
                            <a:srgbClr val="0B0B0B"/>
                          </a:solidFill>
                        </a:rPr>
                        <a:t>1</a:t>
                      </a:r>
                    </a:p>
                  </a:txBody>
                  <a:tcPr marL="45720" marR="45720" marT="27432" marB="27432">
                    <a:solidFill>
                      <a:srgbClr val="FCFCFB"/>
                    </a:solidFill>
                  </a:tcPr>
                </a:tc>
                <a:tc>
                  <a:txBody>
                    <a:bodyPr/>
                    <a:lstStyle/>
                    <a:p>
                      <a:r>
                        <a:rPr sz="900" b="0">
                          <a:solidFill>
                            <a:srgbClr val="0B0B0B"/>
                          </a:solidFill>
                        </a:rPr>
                        <a:t>0</a:t>
                      </a:r>
                    </a:p>
                  </a:txBody>
                  <a:tcPr marL="45720" marR="45720" marT="27432" marB="27432">
                    <a:solidFill>
                      <a:srgbClr val="FCFCFB"/>
                    </a:solidFill>
                  </a:tcPr>
                </a:tc>
                <a:tc>
                  <a:txBody>
                    <a:bodyPr/>
                    <a:lstStyle/>
                    <a:p>
                      <a:r>
                        <a:rPr sz="900" b="0">
                          <a:solidFill>
                            <a:srgbClr val="0B0B0B"/>
                          </a:solidFill>
                        </a:rPr>
                        <a:t>0</a:t>
                      </a:r>
                    </a:p>
                  </a:txBody>
                  <a:tcPr marL="45720" marR="45720" marT="27432" marB="27432">
                    <a:solidFill>
                      <a:srgbClr val="FCFCFB"/>
                    </a:solidFill>
                  </a:tcPr>
                </a:tc>
                <a:tc>
                  <a:txBody>
                    <a:bodyPr/>
                    <a:lstStyle/>
                    <a:p>
                      <a:r>
                        <a:rPr sz="900" b="0">
                          <a:solidFill>
                            <a:srgbClr val="0B0B0B"/>
                          </a:solidFill>
                        </a:rPr>
                        <a:t>default 0%/3%; cap n/a; CVE n/a/n/a</a:t>
                      </a:r>
                    </a:p>
                  </a:txBody>
                  <a:tcPr marL="45720" marR="45720" marT="27432" marB="27432">
                    <a:solidFill>
                      <a:srgbClr val="FCFCFB"/>
                    </a:solidFill>
                  </a:tcPr>
                </a:tc>
                <a:tc>
                  <a:txBody>
                    <a:bodyPr/>
                    <a:lstStyle/>
                    <a:p>
                      <a:r>
                        <a:rPr sz="900" b="0">
                          <a:solidFill>
                            <a:srgbClr val="0B0B0B"/>
                          </a:solidFill>
                        </a:rPr>
                        <a:t>371 rolled / 236,399 new at most</a:t>
                      </a:r>
                    </a:p>
                  </a:txBody>
                  <a:tcPr marL="45720" marR="45720" marT="27432" marB="27432">
                    <a:solidFill>
                      <a:srgbClr val="FCFCFB"/>
                    </a:solidFill>
                  </a:tcPr>
                </a:tc>
              </a:tr>
              <a:tr h="274320">
                <a:tc>
                  <a:txBody>
                    <a:bodyPr/>
                    <a:lstStyle/>
                    <a:p>
                      <a:r>
                        <a:rPr sz="900" b="0">
                          <a:solidFill>
                            <a:srgbClr val="0B0B0B"/>
                          </a:solidFill>
                        </a:rPr>
                        <a:t>RFC 8080</a:t>
                      </a:r>
                    </a:p>
                  </a:txBody>
                  <a:tcPr marL="45720" marR="45720" marT="27432" marB="27432">
                    <a:solidFill>
                      <a:srgbClr val="FCFCFB"/>
                    </a:solidFill>
                  </a:tcPr>
                </a:tc>
                <a:tc>
                  <a:txBody>
                    <a:bodyPr/>
                    <a:lstStyle/>
                    <a:p>
                      <a:r>
                        <a:rPr sz="900" b="0">
                          <a:solidFill>
                            <a:srgbClr val="0B0B0B"/>
                          </a:solidFill>
                        </a:rPr>
                        <a:t>5</a:t>
                      </a:r>
                    </a:p>
                  </a:txBody>
                  <a:tcPr marL="45720" marR="45720" marT="27432" marB="27432">
                    <a:solidFill>
                      <a:srgbClr val="FCFCFB"/>
                    </a:solidFill>
                  </a:tcPr>
                </a:tc>
                <a:tc>
                  <a:txBody>
                    <a:bodyPr/>
                    <a:lstStyle/>
                    <a:p>
                      <a:r>
                        <a:rPr sz="900" b="0">
                          <a:solidFill>
                            <a:srgbClr val="0B0B0B"/>
                          </a:solidFill>
                        </a:rPr>
                        <a:t>0</a:t>
                      </a:r>
                    </a:p>
                  </a:txBody>
                  <a:tcPr marL="45720" marR="45720" marT="27432" marB="27432">
                    <a:solidFill>
                      <a:srgbClr val="FCFCFB"/>
                    </a:solidFill>
                  </a:tcPr>
                </a:tc>
                <a:tc>
                  <a:txBody>
                    <a:bodyPr/>
                    <a:lstStyle/>
                    <a:p>
                      <a:r>
                        <a:rPr sz="900" b="0">
                          <a:solidFill>
                            <a:srgbClr val="0B0B0B"/>
                          </a:solidFill>
                        </a:rPr>
                        <a:t>0</a:t>
                      </a:r>
                    </a:p>
                  </a:txBody>
                  <a:tcPr marL="45720" marR="45720" marT="27432" marB="27432">
                    <a:solidFill>
                      <a:srgbClr val="FCFCFB"/>
                    </a:solidFill>
                  </a:tcPr>
                </a:tc>
                <a:tc>
                  <a:txBody>
                    <a:bodyPr/>
                    <a:lstStyle/>
                    <a:p>
                      <a:r>
                        <a:rPr sz="900" b="0">
                          <a:solidFill>
                            <a:srgbClr val="0B0B0B"/>
                          </a:solidFill>
                        </a:rPr>
                        <a:t>0</a:t>
                      </a:r>
                    </a:p>
                  </a:txBody>
                  <a:tcPr marL="45720" marR="45720" marT="27432" marB="27432">
                    <a:solidFill>
                      <a:srgbClr val="FCFCFB"/>
                    </a:solidFill>
                  </a:tcPr>
                </a:tc>
                <a:tc>
                  <a:txBody>
                    <a:bodyPr/>
                    <a:lstStyle/>
                    <a:p>
                      <a:r>
                        <a:rPr sz="900" b="0">
                          <a:solidFill>
                            <a:srgbClr val="0B0B0B"/>
                          </a:solidFill>
                        </a:rPr>
                        <a:t>0</a:t>
                      </a:r>
                    </a:p>
                  </a:txBody>
                  <a:tcPr marL="45720" marR="45720" marT="27432" marB="27432">
                    <a:solidFill>
                      <a:srgbClr val="FCFCFB"/>
                    </a:solidFill>
                  </a:tcPr>
                </a:tc>
                <a:tc>
                  <a:txBody>
                    <a:bodyPr/>
                    <a:lstStyle/>
                    <a:p>
                      <a:r>
                        <a:rPr sz="900" b="0">
                          <a:solidFill>
                            <a:srgbClr val="0B0B0B"/>
                          </a:solidFill>
                        </a:rPr>
                        <a:t>default n/a/n/a; cap n/a; CVE 4%/n/a</a:t>
                      </a:r>
                    </a:p>
                  </a:txBody>
                  <a:tcPr marL="45720" marR="45720" marT="27432" marB="27432">
                    <a:solidFill>
                      <a:srgbClr val="FCFCFB"/>
                    </a:solidFill>
                  </a:tcPr>
                </a:tc>
                <a:tc>
                  <a:txBody>
                    <a:bodyPr/>
                    <a:lstStyle/>
                    <a:p>
                      <a:r>
                        <a:rPr sz="900" b="0">
                          <a:solidFill>
                            <a:srgbClr val="0B0B0B"/>
                          </a:solidFill>
                        </a:rPr>
                        <a:t>25,201 rolled / 9,152 new at most</a:t>
                      </a:r>
                    </a:p>
                  </a:txBody>
                  <a:tcPr marL="45720" marR="45720" marT="27432" marB="27432">
                    <a:solidFill>
                      <a:srgbClr val="FCFCFB"/>
                    </a:solidFill>
                  </a:tcPr>
                </a:tc>
              </a:tr>
              <a:tr h="274320">
                <a:tc>
                  <a:txBody>
                    <a:bodyPr/>
                    <a:lstStyle/>
                    <a:p>
                      <a:r>
                        <a:rPr sz="900" b="0">
                          <a:solidFill>
                            <a:srgbClr val="0B0B0B"/>
                          </a:solidFill>
                        </a:rPr>
                        <a:t>RFC 5155</a:t>
                      </a:r>
                    </a:p>
                  </a:txBody>
                  <a:tcPr marL="45720" marR="45720" marT="27432" marB="27432">
                    <a:solidFill>
                      <a:srgbClr val="FCFCFB"/>
                    </a:solidFill>
                  </a:tcPr>
                </a:tc>
                <a:tc>
                  <a:txBody>
                    <a:bodyPr/>
                    <a:lstStyle/>
                    <a:p>
                      <a:r>
                        <a:rPr sz="900" b="0">
                          <a:solidFill>
                            <a:srgbClr val="0B0B0B"/>
                          </a:solidFill>
                        </a:rPr>
                        <a:t>17</a:t>
                      </a:r>
                    </a:p>
                  </a:txBody>
                  <a:tcPr marL="45720" marR="45720" marT="27432" marB="27432">
                    <a:solidFill>
                      <a:srgbClr val="FCFCFB"/>
                    </a:solidFill>
                  </a:tcPr>
                </a:tc>
                <a:tc>
                  <a:txBody>
                    <a:bodyPr/>
                    <a:lstStyle/>
                    <a:p>
                      <a:r>
                        <a:rPr sz="900" b="0">
                          <a:solidFill>
                            <a:srgbClr val="0B0B0B"/>
                          </a:solidFill>
                        </a:rPr>
                        <a:t>0</a:t>
                      </a:r>
                    </a:p>
                  </a:txBody>
                  <a:tcPr marL="45720" marR="45720" marT="27432" marB="27432">
                    <a:solidFill>
                      <a:srgbClr val="FCFCFB"/>
                    </a:solidFill>
                  </a:tcPr>
                </a:tc>
                <a:tc>
                  <a:txBody>
                    <a:bodyPr/>
                    <a:lstStyle/>
                    <a:p>
                      <a:r>
                        <a:rPr sz="900" b="0">
                          <a:solidFill>
                            <a:srgbClr val="0B0B0B"/>
                          </a:solidFill>
                        </a:rPr>
                        <a:t>0</a:t>
                      </a:r>
                    </a:p>
                  </a:txBody>
                  <a:tcPr marL="45720" marR="45720" marT="27432" marB="27432">
                    <a:solidFill>
                      <a:srgbClr val="FCFCFB"/>
                    </a:solidFill>
                  </a:tcPr>
                </a:tc>
                <a:tc>
                  <a:txBody>
                    <a:bodyPr/>
                    <a:lstStyle/>
                    <a:p>
                      <a:r>
                        <a:rPr sz="900" b="0">
                          <a:solidFill>
                            <a:srgbClr val="0B0B0B"/>
                          </a:solidFill>
                        </a:rPr>
                        <a:t>2</a:t>
                      </a:r>
                    </a:p>
                  </a:txBody>
                  <a:tcPr marL="45720" marR="45720" marT="27432" marB="27432">
                    <a:solidFill>
                      <a:srgbClr val="FCFCFB"/>
                    </a:solidFill>
                  </a:tcPr>
                </a:tc>
                <a:tc>
                  <a:txBody>
                    <a:bodyPr/>
                    <a:lstStyle/>
                    <a:p>
                      <a:r>
                        <a:rPr sz="900" b="0">
                          <a:solidFill>
                            <a:srgbClr val="0B0B0B"/>
                          </a:solidFill>
                        </a:rPr>
                        <a:t>0</a:t>
                      </a:r>
                    </a:p>
                  </a:txBody>
                  <a:tcPr marL="45720" marR="45720" marT="27432" marB="27432">
                    <a:solidFill>
                      <a:srgbClr val="FCFCFB"/>
                    </a:solidFill>
                  </a:tcPr>
                </a:tc>
                <a:tc>
                  <a:txBody>
                    <a:bodyPr/>
                    <a:lstStyle/>
                    <a:p>
                      <a:r>
                        <a:rPr sz="900" b="0">
                          <a:solidFill>
                            <a:srgbClr val="0B0B0B"/>
                          </a:solidFill>
                        </a:rPr>
                        <a:t>default 0%/2%; cap 14%; CVE 0%/8%</a:t>
                      </a:r>
                    </a:p>
                  </a:txBody>
                  <a:tcPr marL="45720" marR="45720" marT="27432" marB="27432">
                    <a:solidFill>
                      <a:srgbClr val="FCFCFB"/>
                    </a:solidFill>
                  </a:tcPr>
                </a:tc>
                <a:tc>
                  <a:txBody>
                    <a:bodyPr/>
                    <a:lstStyle/>
                    <a:p>
                      <a:r>
                        <a:rPr sz="900" b="0">
                          <a:solidFill>
                            <a:srgbClr val="0B0B0B"/>
                          </a:solidFill>
                        </a:rPr>
                        <a:t>0 rolled / 429,995 new at most</a:t>
                      </a:r>
                    </a:p>
                  </a:txBody>
                  <a:tcPr marL="45720" marR="45720" marT="27432" marB="27432">
                    <a:solidFill>
                      <a:srgbClr val="FCFCFB"/>
                    </a:solidFill>
                  </a:tcPr>
                </a:tc>
              </a:tr>
              <a:tr h="274320">
                <a:tc>
                  <a:txBody>
                    <a:bodyPr/>
                    <a:lstStyle/>
                    <a:p>
                      <a:r>
                        <a:rPr sz="900" b="0">
                          <a:solidFill>
                            <a:srgbClr val="0B0B0B"/>
                          </a:solidFill>
                        </a:rPr>
                        <a:t>RFC 9276</a:t>
                      </a:r>
                    </a:p>
                  </a:txBody>
                  <a:tcPr marL="45720" marR="45720" marT="27432" marB="27432">
                    <a:solidFill>
                      <a:srgbClr val="FCFCFB"/>
                    </a:solidFill>
                  </a:tcPr>
                </a:tc>
                <a:tc>
                  <a:txBody>
                    <a:bodyPr/>
                    <a:lstStyle/>
                    <a:p>
                      <a:r>
                        <a:rPr sz="900" b="0">
                          <a:solidFill>
                            <a:srgbClr val="0B0B0B"/>
                          </a:solidFill>
                        </a:rPr>
                        <a:t>3</a:t>
                      </a:r>
                    </a:p>
                  </a:txBody>
                  <a:tcPr marL="45720" marR="45720" marT="27432" marB="27432">
                    <a:solidFill>
                      <a:srgbClr val="FCFCFB"/>
                    </a:solidFill>
                  </a:tcPr>
                </a:tc>
                <a:tc>
                  <a:txBody>
                    <a:bodyPr/>
                    <a:lstStyle/>
                    <a:p>
                      <a:r>
                        <a:rPr sz="900" b="0">
                          <a:solidFill>
                            <a:srgbClr val="0B0B0B"/>
                          </a:solidFill>
                        </a:rPr>
                        <a:t>0</a:t>
                      </a:r>
                    </a:p>
                  </a:txBody>
                  <a:tcPr marL="45720" marR="45720" marT="27432" marB="27432">
                    <a:solidFill>
                      <a:srgbClr val="FCFCFB"/>
                    </a:solidFill>
                  </a:tcPr>
                </a:tc>
                <a:tc>
                  <a:txBody>
                    <a:bodyPr/>
                    <a:lstStyle/>
                    <a:p>
                      <a:r>
                        <a:rPr sz="900" b="0">
                          <a:solidFill>
                            <a:srgbClr val="0B0B0B"/>
                          </a:solidFill>
                        </a:rPr>
                        <a:t>0</a:t>
                      </a:r>
                    </a:p>
                  </a:txBody>
                  <a:tcPr marL="45720" marR="45720" marT="27432" marB="27432">
                    <a:solidFill>
                      <a:srgbClr val="FCFCFB"/>
                    </a:solidFill>
                  </a:tcPr>
                </a:tc>
                <a:tc>
                  <a:txBody>
                    <a:bodyPr/>
                    <a:lstStyle/>
                    <a:p>
                      <a:r>
                        <a:rPr sz="900" b="0">
                          <a:solidFill>
                            <a:srgbClr val="0B0B0B"/>
                          </a:solidFill>
                        </a:rPr>
                        <a:t>3</a:t>
                      </a:r>
                    </a:p>
                  </a:txBody>
                  <a:tcPr marL="45720" marR="45720" marT="27432" marB="27432">
                    <a:solidFill>
                      <a:srgbClr val="FCFCFB"/>
                    </a:solidFill>
                  </a:tcPr>
                </a:tc>
                <a:tc>
                  <a:txBody>
                    <a:bodyPr/>
                    <a:lstStyle/>
                    <a:p>
                      <a:r>
                        <a:rPr sz="900" b="0">
                          <a:solidFill>
                            <a:srgbClr val="0B0B0B"/>
                          </a:solidFill>
                        </a:rPr>
                        <a:t>3</a:t>
                      </a:r>
                    </a:p>
                  </a:txBody>
                  <a:tcPr marL="45720" marR="45720" marT="27432" marB="27432">
                    <a:solidFill>
                      <a:srgbClr val="FCFCFB"/>
                    </a:solidFill>
                  </a:tcPr>
                </a:tc>
                <a:tc>
                  <a:txBody>
                    <a:bodyPr/>
                    <a:lstStyle/>
                    <a:p>
                      <a:r>
                        <a:rPr sz="900" b="0">
                          <a:solidFill>
                            <a:srgbClr val="0B0B0B"/>
                          </a:solidFill>
                        </a:rPr>
                        <a:t>default 0%/n/a; cap 14%; CVE 4%/n/a</a:t>
                      </a:r>
                    </a:p>
                  </a:txBody>
                  <a:tcPr marL="45720" marR="45720" marT="27432" marB="27432">
                    <a:solidFill>
                      <a:srgbClr val="FCFCFB"/>
                    </a:solidFill>
                  </a:tcPr>
                </a:tc>
                <a:tc>
                  <a:txBody>
                    <a:bodyPr/>
                    <a:lstStyle/>
                    <a:p>
                      <a:r>
                        <a:rPr sz="900" b="0">
                          <a:solidFill>
                            <a:srgbClr val="0B0B0B"/>
                          </a:solidFill>
                        </a:rPr>
                        <a:t>collapse</a:t>
                      </a:r>
                    </a:p>
                  </a:txBody>
                  <a:tcPr marL="45720" marR="45720" marT="27432" marB="27432">
                    <a:solidFill>
                      <a:srgbClr val="FCFCFB"/>
                    </a:solidFill>
                  </a:tcPr>
                </a:tc>
              </a:tr>
            </a:tbl>
          </a:graphicData>
        </a:graphic>
      </p:graphicFrame>
      <p:sp>
        <p:nvSpPr>
          <p:cNvPr id="5" name="TextBox 4"/>
          <p:cNvSpPr txBox="1"/>
          <p:nvPr/>
        </p:nvSpPr>
        <p:spPr>
          <a:xfrm>
            <a:off x="566928" y="3291840"/>
            <a:ext cx="11064240" cy="2926080"/>
          </a:xfrm>
          <a:prstGeom prst="rect">
            <a:avLst/>
          </a:prstGeom>
          <a:noFill/>
        </p:spPr>
        <p:txBody>
          <a:bodyPr wrap="square">
            <a:spAutoFit/>
          </a:bodyPr>
          <a:lstStyle/>
          <a:p>
            <a:pPr>
              <a:spcAft>
                <a:spcPts val="600"/>
              </a:spcAft>
            </a:pPr>
            <a:r>
              <a:rPr sz="1100" b="0">
                <a:solidFill>
                  <a:srgbClr val="0B0B0B"/>
                </a:solidFill>
                <a:latin typeface="Segoe UI"/>
              </a:rPr>
              <a:t>Only RFC 9276 beats chance: 3 of 3 spikes within 3 months of a validator cap against a 14% chance rate, and they are one coordinated event (caps + CVE-2021-40083) ten months before the RFC. For the algorithm RFCs the counts are what luck predicts: 2 of 31 ECDSA spikes after a default against a 9% forward rate.</a:t>
            </a:r>
          </a:p>
          <a:p>
            <a:pPr>
              <a:spcAft>
                <a:spcPts val="600"/>
              </a:spcAft>
            </a:pPr>
            <a:r>
              <a:rPr sz="1100" b="0">
                <a:solidFill>
                  <a:srgbClr val="0B0B0B"/>
                </a:solidFill>
                <a:latin typeface="Segoe UI"/>
              </a:rPr>
              <a:t>What the spikes are made of decides the causal story. Of the 1,035,884 forward ECDSA zones in spikes, at least 389,932 were existing zones rolling over -- deliberate migrations that no update performs. The rest were signing waves whose new zones took whatever the signer defaulted to; that is where defaults act, silently and years after they changed.</a:t>
            </a:r>
          </a:p>
          <a:p>
            <a:pPr>
              <a:spcAft>
                <a:spcPts val="600"/>
              </a:spcAft>
            </a:pPr>
            <a:r>
              <a:rPr sz="1100" b="0">
                <a:solidFill>
                  <a:srgbClr val="0B0B0B"/>
                </a:solidFill>
                <a:latin typeface="Segoe UI"/>
              </a:rPr>
              <a:t>CVEs did not lead any push. Every CVE nearest to a spike is a validator bug (memory leak, assertion failure); the one CVE that sits inside a causal chain, CVE-2021-40083, is a symptom of the same iteration problem the caps fixed. Median lag from a spike to the nearest CVE: 17.0 months for ECDSA, 58 for NSEC3. Most are resolver bugs, but CVE-2014-0591, nearest to 16 of the NSEC3 spikes, is an assertion failure in BIND's authoritative NSEC3 code.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AUTOMATIC UPDATES</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200" b="1">
                <a:solidFill>
                  <a:srgbClr val="0B0B0B"/>
                </a:solidFill>
                <a:latin typeface="Segoe UI"/>
              </a:rPr>
              <a:t>Where an update could act, and where it did</a:t>
            </a:r>
          </a:p>
        </p:txBody>
      </p:sp>
      <p:sp>
        <p:nvSpPr>
          <p:cNvPr id="4" name="TextBox 3"/>
          <p:cNvSpPr txBox="1"/>
          <p:nvPr/>
        </p:nvSpPr>
        <p:spPr>
          <a:xfrm>
            <a:off x="566928" y="1188720"/>
            <a:ext cx="11064240" cy="4937760"/>
          </a:xfrm>
          <a:prstGeom prst="rect">
            <a:avLst/>
          </a:prstGeom>
          <a:noFill/>
        </p:spPr>
        <p:txBody>
          <a:bodyPr wrap="square">
            <a:spAutoFit/>
          </a:bodyPr>
          <a:lstStyle/>
          <a:p>
            <a:pPr>
              <a:spcAft>
                <a:spcPts val="700"/>
              </a:spcAft>
            </a:pPr>
            <a:r>
              <a:rPr sz="1150" b="0">
                <a:solidFill>
                  <a:srgbClr val="0B0B0B"/>
                </a:solidFill>
                <a:latin typeface="Segoe UI"/>
              </a:rPr>
              <a:t>An update cannot roll a zone to a new algorithm; it can only change what a zone signed AFTER the update gets. So the test is the share of new signings, not the adoption curve, and the reverse ledger is the only place it can be run per zone.</a:t>
            </a:r>
          </a:p>
          <a:p>
            <a:pPr>
              <a:spcAft>
                <a:spcPts val="700"/>
              </a:spcAft>
            </a:pPr>
            <a:r>
              <a:rPr sz="1150" b="0">
                <a:solidFill>
                  <a:srgbClr val="0B0B0B"/>
                </a:solidFill>
                <a:latin typeface="Segoe UI"/>
              </a:rPr>
              <a:t>RSA/SHA-256: new reverse signings choosing it go 0% (2010Q4) -&gt; 20% (2011Q2) -&gt; 81% (2012Q2), with the detected step at 2012Q2, 15 months after OpenDNSSEC 1.2.0's default and 27 after BIND 9.7.0. Two of its five steps have no OS release in the year before them at all.</a:t>
            </a:r>
          </a:p>
          <a:p>
            <a:pPr>
              <a:spcAft>
                <a:spcPts val="700"/>
              </a:spcAft>
            </a:pPr>
            <a:r>
              <a:rPr sz="1150" b="0">
                <a:solidFill>
                  <a:srgbClr val="0B0B0B"/>
                </a:solidFill>
                <a:latin typeface="Segoe UI"/>
              </a:rPr>
              <a:t>ECDSA: the Knot 2.1.0 and PowerDNS 4.0.0 defaults changed nothing on their upstream dates (0.2% -&gt; 0.3%, 0.3% -&gt; 0.2%). New signings then stepped 4 times between 2017 and 2020, each step concentrated in a single month and a handful of parent blocks. An OS release precedes every step -- a different one each time -- while 31% of all months follow some OS release within 3 months, and two of the five RSA/SHA-256 steps have no OS release in the year before them at all.</a:t>
            </a:r>
          </a:p>
          <a:p>
            <a:pPr>
              <a:spcAft>
                <a:spcPts val="700"/>
              </a:spcAft>
            </a:pPr>
            <a:r>
              <a:rPr sz="1150" b="0">
                <a:solidFill>
                  <a:srgbClr val="0B0B0B"/>
                </a:solidFill>
                <a:latin typeface="Segoe UI"/>
              </a:rPr>
              <a:t>An update can only change what a zone signed after it gets, never an existing zone, so this is where a default would act. That the steps exist is evidence operators moved in batches once the defaults existed upstream; which delivery path reached any of them is not identifiable from published records.</a:t>
            </a:r>
          </a:p>
          <a:p>
            <a:pPr>
              <a:spcAft>
                <a:spcPts val="700"/>
              </a:spcAft>
            </a:pPr>
            <a:r>
              <a:rPr sz="1150" b="0">
                <a:solidFill>
                  <a:srgbClr val="0B0B0B"/>
                </a:solidFill>
                <a:latin typeface="Segoe UI"/>
              </a:rPr>
              <a:t>Forward DNS: the .ch 2021 wave chose ECDSA for 96% of 591,333 newly signed zones and NSEC3 with 1 iteration; by then every signer's default was ECDSA and the caps had just landed. That is an update effect in the only sense the data supports: whatever the hosters ran, its defaults were current. The 2019 .se moves were rollovers and cannot be.</a:t>
            </a:r>
          </a:p>
          <a:p>
            <a:pPr>
              <a:spcAft>
                <a:spcPts val="700"/>
              </a:spcAft>
            </a:pPr>
            <a:r>
              <a:rPr sz="1150" b="0">
                <a:solidFill>
                  <a:srgbClr val="0B0B0B"/>
                </a:solidFill>
                <a:latin typeface="Segoe UI"/>
              </a:rPr>
              <a:t>EdDSA: never a default anywhere, never picked up by new signings, and its two forward episodes were withdrawn. The update path carries defaults; where no vendor set one, it carried nothing.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274320"/>
            <a:ext cx="10972800" cy="274320"/>
          </a:xfrm>
          <a:prstGeom prst="rect">
            <a:avLst/>
          </a:prstGeom>
          <a:noFill/>
        </p:spPr>
        <p:txBody>
          <a:bodyPr wrap="square">
            <a:spAutoFit/>
          </a:bodyPr>
          <a:lstStyle/>
          <a:p>
            <a:pPr>
              <a:spcAft>
                <a:spcPts val="600"/>
              </a:spcAft>
            </a:pPr>
            <a:r>
              <a:rPr sz="1200" b="1">
                <a:solidFill>
                  <a:srgbClr val="898781"/>
                </a:solidFill>
                <a:latin typeface="Segoe UI"/>
              </a:rPr>
              <a:t>LIMITS</a:t>
            </a:r>
          </a:p>
        </p:txBody>
      </p:sp>
      <p:sp>
        <p:nvSpPr>
          <p:cNvPr id="3" name="TextBox 2"/>
          <p:cNvSpPr txBox="1"/>
          <p:nvPr/>
        </p:nvSpPr>
        <p:spPr>
          <a:xfrm>
            <a:off x="566928" y="530352"/>
            <a:ext cx="11064240" cy="548640"/>
          </a:xfrm>
          <a:prstGeom prst="rect">
            <a:avLst/>
          </a:prstGeom>
          <a:noFill/>
        </p:spPr>
        <p:txBody>
          <a:bodyPr wrap="square">
            <a:spAutoFit/>
          </a:bodyPr>
          <a:lstStyle/>
          <a:p>
            <a:pPr>
              <a:spcAft>
                <a:spcPts val="600"/>
              </a:spcAft>
            </a:pPr>
            <a:r>
              <a:rPr sz="2200" b="1">
                <a:solidFill>
                  <a:srgbClr val="0B0B0B"/>
                </a:solidFill>
                <a:latin typeface="Segoe UI"/>
              </a:rPr>
              <a:t>What this cannot show</a:t>
            </a:r>
          </a:p>
        </p:txBody>
      </p:sp>
      <p:sp>
        <p:nvSpPr>
          <p:cNvPr id="4" name="TextBox 3"/>
          <p:cNvSpPr txBox="1"/>
          <p:nvPr/>
        </p:nvSpPr>
        <p:spPr>
          <a:xfrm>
            <a:off x="566928" y="1188720"/>
            <a:ext cx="11064240" cy="4937760"/>
          </a:xfrm>
          <a:prstGeom prst="rect">
            <a:avLst/>
          </a:prstGeom>
          <a:noFill/>
        </p:spPr>
        <p:txBody>
          <a:bodyPr wrap="square">
            <a:spAutoFit/>
          </a:bodyPr>
          <a:lstStyle/>
          <a:p>
            <a:pPr>
              <a:spcAft>
                <a:spcPts val="700"/>
              </a:spcAft>
            </a:pPr>
            <a:r>
              <a:rPr sz="1150" b="0">
                <a:solidFill>
                  <a:srgbClr val="0B0B0B"/>
                </a:solidFill>
                <a:latin typeface="Segoe UI"/>
              </a:rPr>
              <a:t>Which software signs a zone is never visible from its records. 'Nearest release' is timing evidence only; the program named is the nearest of the six studied, not the one the operator ran. Registry and registrar signing platforms are closed source and off the list.</a:t>
            </a:r>
          </a:p>
          <a:p>
            <a:pPr>
              <a:spcAft>
                <a:spcPts val="700"/>
              </a:spcAft>
            </a:pPr>
            <a:r>
              <a:rPr sz="1150" b="0">
                <a:solidFill>
                  <a:srgbClr val="0B0B0B"/>
                </a:solidFill>
                <a:latin typeface="Segoe UI"/>
              </a:rPr>
              <a:t>OpenINTEL here is seven TLD zone files as monthly aggregates from 2016-06 (2020-05 for .ch/.li) to 2023-12. RSA/SHA-256 and NSEC3 were adopted before that window; their forward spikes are later signing waves, not adoption. Per-zone forward records are not in this repo, so forward spikes cannot be attributed to an operator; 'new vs rolled' is a bound from the change in signed-zone count.</a:t>
            </a:r>
          </a:p>
          <a:p>
            <a:pPr>
              <a:spcAft>
                <a:spcPts val="700"/>
              </a:spcAft>
            </a:pPr>
            <a:r>
              <a:rPr sz="1150" b="0">
                <a:solidFill>
                  <a:srgbClr val="0B0B0B"/>
                </a:solidFill>
                <a:latin typeface="Segoe UI"/>
              </a:rPr>
              <a:t>Reverse DNS is small (25,930 change events on 13,654 delegations); its spikes are one /16 block at a time and its shares are hidden where a RIR has fewer than 30 signed delegations. NSEC3 is invisible in DS records except through algorithm 7.</a:t>
            </a:r>
          </a:p>
          <a:p>
            <a:pPr>
              <a:spcAft>
                <a:spcPts val="700"/>
              </a:spcAft>
            </a:pPr>
            <a:r>
              <a:rPr sz="1150" b="0">
                <a:solidFill>
                  <a:srgbClr val="0B0B0B"/>
                </a:solidFill>
                <a:latin typeface="Segoe UI"/>
              </a:rPr>
              <a:t>OS packages cover Debian 9-13 and Ubuntu LTS 16.04-24.04 by version, plus RHEL majors by date. They are one delivery path among many: RHEL base carries only BIND (Knot and PowerDNS need EPEL) and had no ECDSA-default signer until RHEL 9 in 2022-05, and FreeBSD ports, Alpine, containers and source builds are not represented at all. Package dates bound when a default became reachable, not what anyone ran.</a:t>
            </a:r>
          </a:p>
          <a:p>
            <a:pPr>
              <a:spcAft>
                <a:spcPts val="700"/>
              </a:spcAft>
            </a:pPr>
            <a:r>
              <a:rPr sz="1150" b="0">
                <a:solidFill>
                  <a:srgbClr val="0B0B0B"/>
                </a:solidFill>
                <a:latin typeface="Segoe UI"/>
              </a:rPr>
              <a:t>The chance rate is per month and per series; with 3 to 31 spikes per RFC the counts are small, and 'beats chance' is a reading, not a test with a p-value. CVE attribution is by NVD product only; keyword matches are shown as 'other / unattributed'.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