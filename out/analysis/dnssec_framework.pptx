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202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00907F"/>
                </a:solidFill>
                <a:latin typeface="Segoe UI"/>
              </a:rPr>
              <a:t>DNSSEC RFC ADOPTION — MEASUREMENT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400" b="1">
                <a:solidFill>
                  <a:srgbClr val="171A14"/>
                </a:solidFill>
                <a:latin typeface="Segoe UI"/>
              </a:rPr>
              <a:t>Measuring what the data can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400" b="1">
                <a:solidFill>
                  <a:srgbClr val="171A14"/>
                </a:solidFill>
                <a:latin typeface="Segoe UI"/>
              </a:rPr>
              <a:t>actually tell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66705C"/>
                </a:solidFill>
                <a:latin typeface="Segoe UI"/>
              </a:rPr>
              <a:t>Why the existing definitions do not transfer, the one we built instead, the pipeline that computes it, and what it has found so far.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6705C"/>
                </a:solidFill>
                <a:latin typeface="Segoe UI"/>
              </a:rPr>
              <a:t>Reverse-DNS delegation corpus · 199 monthly snapshots, 2009–2026 · 975 source-days · 1,875,584 DS records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907F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50392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171A14"/>
                </a:solidFill>
                <a:latin typeface="Segoe UI"/>
              </a:rPr>
              <a:t>One word was doing three jobs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66705C"/>
                </a:solidFill>
                <a:latin typeface="Segoe UI"/>
              </a:rPr>
              <a:t>Every sentence with “adoption” in it hid which of these was meant.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67128"/>
            <a:ext cx="10728655" cy="9525"/>
          </a:xfrm>
          <a:prstGeom prst="rect">
            <a:avLst/>
          </a:prstGeom>
          <a:solidFill>
            <a:srgbClr val="D3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478024"/>
            <a:ext cx="3442106" cy="1828800"/>
          </a:xfrm>
          <a:prstGeom prst="rect">
            <a:avLst/>
          </a:prstGeom>
          <a:solidFill>
            <a:srgbClr val="F6F7F3"/>
          </a:solidFill>
          <a:ln w="9525">
            <a:solidFill>
              <a:srgbClr val="D3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6112" y="2606040"/>
            <a:ext cx="311292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0907F"/>
                </a:solidFill>
                <a:latin typeface="Segoe UI"/>
              </a:rPr>
              <a:t>SOMEONE TRIED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53512"/>
            <a:ext cx="311292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71A14"/>
                </a:solidFill>
                <a:latin typeface="Segoe UI"/>
              </a:rPr>
              <a:t>A single zone published Ed25519 in 2021.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739896"/>
            <a:ext cx="311292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66705C"/>
                </a:solidFill>
                <a:latin typeface="Segoe UI"/>
              </a:rPr>
              <a:t>true, and almost meaningless alone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4794" y="2478024"/>
            <a:ext cx="3442106" cy="1828800"/>
          </a:xfrm>
          <a:prstGeom prst="rect">
            <a:avLst/>
          </a:prstGeom>
          <a:solidFill>
            <a:srgbClr val="F6F7F3"/>
          </a:solidFill>
          <a:ln w="9525">
            <a:solidFill>
              <a:srgbClr val="D3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39386" y="2606040"/>
            <a:ext cx="311292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0907F"/>
                </a:solidFill>
                <a:latin typeface="Segoe UI"/>
              </a:rPr>
              <a:t>IT IS IN REAL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9386" y="2953512"/>
            <a:ext cx="311292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71A14"/>
                </a:solidFill>
                <a:latin typeface="Segoe UI"/>
              </a:rPr>
              <a:t>0.34% of signed delegations carry it today.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9386" y="3739896"/>
            <a:ext cx="311292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66705C"/>
                </a:solidFill>
                <a:latin typeface="Segoe UI"/>
              </a:rPr>
              <a:t>a different measure entirely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18068" y="2478024"/>
            <a:ext cx="3442106" cy="1828800"/>
          </a:xfrm>
          <a:prstGeom prst="rect">
            <a:avLst/>
          </a:prstGeom>
          <a:solidFill>
            <a:srgbClr val="F6F7F3"/>
          </a:solidFill>
          <a:ln w="9525">
            <a:solidFill>
              <a:srgbClr val="D3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182660" y="2606040"/>
            <a:ext cx="311292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0907F"/>
                </a:solidFill>
                <a:latin typeface="Segoe UI"/>
              </a:rPr>
              <a:t>IT IS SPREADING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2660" y="2953512"/>
            <a:ext cx="311292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71A14"/>
                </a:solidFill>
                <a:latin typeface="Segoe UI"/>
              </a:rPr>
              <a:t>It is not. The share has been flat for two years.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2660" y="3739896"/>
            <a:ext cx="311292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66705C"/>
                </a:solidFill>
                <a:latin typeface="Segoe UI"/>
              </a:rPr>
              <a:t>a third measure again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72584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171A14"/>
                </a:solidFill>
                <a:latin typeface="Segoe UI"/>
              </a:rPr>
              <a:t>“Ed25519 was adopted after 5.6 years” and “Ed25519 was never adopted” are both defensible readings of the same record.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171A14"/>
                </a:solidFill>
                <a:latin typeface="Segoe UI"/>
              </a:rPr>
              <a:t>That is what makes the word unusable once a number is attached to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907F"/>
                </a:solidFill>
                <a:latin typeface="Segoe UI"/>
              </a:rPr>
              <a:t>OTHER DEFINITIONS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50392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171A14"/>
                </a:solidFill>
                <a:latin typeface="Segoe UI"/>
              </a:rPr>
              <a:t>What already exists, and where it comes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66705C"/>
                </a:solidFill>
                <a:latin typeface="Segoe UI"/>
              </a:rPr>
              <a:t>The method behind each definition decides what it can and cannot say.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67128"/>
            <a:ext cx="10728655" cy="9525"/>
          </a:xfrm>
          <a:prstGeom prst="rect">
            <a:avLst/>
          </a:prstGeom>
          <a:solidFill>
            <a:srgbClr val="D3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478024"/>
          <a:ext cx="10728652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523"/>
                <a:gridCol w="2860974"/>
                <a:gridCol w="4172254"/>
                <a:gridCol w="1668901"/>
              </a:tblGrid>
              <a:tr h="5303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6705C"/>
                          </a:solidFill>
                          <a:latin typeface="Segoe UI"/>
                        </a:rPr>
                        <a:t>Framework</a:t>
                      </a:r>
                    </a:p>
                  </a:txBody>
                  <a:tcPr anchor="ctr" marL="109728" marT="27432" marB="27432">
                    <a:solidFill>
                      <a:srgbClr val="F6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6705C"/>
                          </a:solidFill>
                          <a:latin typeface="Segoe UI"/>
                        </a:rPr>
                        <a:t>How it was derived</a:t>
                      </a:r>
                    </a:p>
                  </a:txBody>
                  <a:tcPr anchor="ctr" marL="109728" marT="27432" marB="27432">
                    <a:solidFill>
                      <a:srgbClr val="F6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6705C"/>
                          </a:solidFill>
                          <a:latin typeface="Segoe UI"/>
                        </a:rPr>
                        <a:t>What it measures</a:t>
                      </a:r>
                    </a:p>
                  </a:txBody>
                  <a:tcPr anchor="ctr" marL="109728" marT="27432" marB="27432">
                    <a:solidFill>
                      <a:srgbClr val="F6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6705C"/>
                          </a:solidFill>
                          <a:latin typeface="Segoe UI"/>
                        </a:rPr>
                        <a:t>Fits us?</a:t>
                      </a:r>
                    </a:p>
                  </a:txBody>
                  <a:tcPr anchor="ctr" marL="109728" marT="27432" marB="27432">
                    <a:solidFill>
                      <a:srgbClr val="F6F7F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Rogers / Bass
diffusion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Theory + market data on
consumer goods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Cumulative adopters —
can only go up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ISA model
Hovav et al. 2004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SURVEYS of organisations
(Australia, China)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Why managers decide:
attitude, top-mgmt support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Osterweil et al.
IMC 2008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ACTIVE DNS QUERIES
from resolvers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availability / verifiability /
validity — does it work now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Different
instrument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Chung et al.
IMC 2017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Measurement + buying
domains from registrars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Who is responsible
(registrar attribution)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Out of
scope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RFC 5218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Retrospective on IETF
protocol histories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Why protocols succeed
(“incrementally deployable”)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Partly —
we cite it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788151"/>
            <a:ext cx="107286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66705C"/>
                </a:solidFill>
                <a:latin typeface="Segoe UI"/>
              </a:rPr>
              <a:t>The ISA model asks people why they deployed. We read what zones publish. Nothing in a zone file records intent, management support, or attitude — so a survey-derived definition cannot be computed from our data at 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907F"/>
                </a:solidFill>
                <a:latin typeface="Segoe UI"/>
              </a:rPr>
              <a:t>WHY THEY DON'T TRANSFER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50392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171A14"/>
                </a:solidFill>
                <a:latin typeface="Segoe UI"/>
              </a:rPr>
              <a:t>Their curve can only go up. Ours goes down.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66705C"/>
                </a:solidFill>
                <a:latin typeface="Segoe UI"/>
              </a:rPr>
              <a:t>The same mechanism, measured two ways.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67128"/>
            <a:ext cx="10728655" cy="9525"/>
          </a:xfrm>
          <a:prstGeom prst="rect">
            <a:avLst/>
          </a:prstGeom>
          <a:solidFill>
            <a:srgbClr val="D3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hy_not_rog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440" y="2478024"/>
            <a:ext cx="9220814" cy="3566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4406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71A14"/>
                </a:solidFill>
                <a:latin typeface="Segoe UI"/>
              </a:rPr>
              <a:t>RSA/SHA-256 went 0% → 74.6% → 22.3%. Nothing failed: those zones moved to ECDSA. But cumulative adoption cannot fall, so Rogers’ thresholds would file RSA/SHA-1 as “late majority” in 2011 and “innovator” in 2026 — the same mechanism walking backwards through the categories.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907F"/>
                </a:solidFill>
                <a:latin typeface="Segoe UI"/>
              </a:rPr>
              <a:t>THE DEFINITION WE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50392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171A14"/>
                </a:solidFill>
                <a:latin typeface="Segoe UI"/>
              </a:rPr>
              <a:t>Three stages, each an operation on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66705C"/>
                </a:solidFill>
                <a:latin typeface="Segoe UI"/>
              </a:rPr>
              <a:t>Named after the arithmetic, so no inference can hide inside the name.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67128"/>
            <a:ext cx="10728655" cy="9525"/>
          </a:xfrm>
          <a:prstGeom prst="rect">
            <a:avLst/>
          </a:prstGeom>
          <a:solidFill>
            <a:srgbClr val="D3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478024"/>
            <a:ext cx="3442106" cy="1920240"/>
          </a:xfrm>
          <a:prstGeom prst="rect">
            <a:avLst/>
          </a:prstGeom>
          <a:solidFill>
            <a:srgbClr val="F6F7F3"/>
          </a:solidFill>
          <a:ln w="9525">
            <a:solidFill>
              <a:srgbClr val="D3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6112" y="2606040"/>
            <a:ext cx="311292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0907F"/>
                </a:solidFill>
                <a:latin typeface="Segoe UI"/>
              </a:rPr>
              <a:t>STAGE 1 — FIRST SEEN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53512"/>
            <a:ext cx="311292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71A14"/>
                </a:solidFill>
                <a:latin typeface="Segoe UI"/>
              </a:rPr>
              <a:t>Present on ≥ 1 zone,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71A14"/>
                </a:solidFill>
                <a:latin typeface="Segoe UI"/>
              </a:rPr>
              <a:t>any RIR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831336"/>
            <a:ext cx="311292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66705C"/>
                </a:solidFill>
                <a:latin typeface="Segoe UI"/>
              </a:rPr>
              <a:t>somebody did it once ·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66705C"/>
                </a:solidFill>
                <a:latin typeface="Segoe UI"/>
              </a:rPr>
              <a:t>always quoted with 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4794" y="2478024"/>
            <a:ext cx="3442106" cy="1920240"/>
          </a:xfrm>
          <a:prstGeom prst="rect">
            <a:avLst/>
          </a:prstGeom>
          <a:solidFill>
            <a:srgbClr val="F6F7F3"/>
          </a:solidFill>
          <a:ln w="9525">
            <a:solidFill>
              <a:srgbClr val="D3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39386" y="2606040"/>
            <a:ext cx="311292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0907F"/>
                </a:solidFill>
                <a:latin typeface="Segoe UI"/>
              </a:rPr>
              <a:t>STAGE 2 — PARTIAL USAGE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9386" y="2953512"/>
            <a:ext cx="311292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71A14"/>
                </a:solidFill>
                <a:latin typeface="Segoe UI"/>
              </a:rPr>
              <a:t>P(value | signed delegations)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71A14"/>
                </a:solidFill>
                <a:latin typeface="Segoe UI"/>
              </a:rPr>
              <a:t>≥ 1%   AND  ≥ 10 zones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9386" y="3831336"/>
            <a:ext cx="311292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66705C"/>
                </a:solidFill>
                <a:latin typeface="Segoe UI"/>
              </a:rPr>
              <a:t>in real use, not the norm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18068" y="2478024"/>
            <a:ext cx="3442106" cy="1920240"/>
          </a:xfrm>
          <a:prstGeom prst="rect">
            <a:avLst/>
          </a:prstGeom>
          <a:solidFill>
            <a:srgbClr val="F6F7F3"/>
          </a:solidFill>
          <a:ln w="9525">
            <a:solidFill>
              <a:srgbClr val="D3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182660" y="2606040"/>
            <a:ext cx="311292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0907F"/>
                </a:solidFill>
                <a:latin typeface="Segoe UI"/>
              </a:rPr>
              <a:t>STAGE 3 — COMMON USAGE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2660" y="2953512"/>
            <a:ext cx="311292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71A14"/>
                </a:solidFill>
                <a:latin typeface="Segoe UI"/>
              </a:rPr>
              <a:t>P(value | signed delegations)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71A14"/>
                </a:solidFill>
                <a:latin typeface="Segoe UI"/>
              </a:rPr>
              <a:t>≥ 10%  AND  ≥ 10 zones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2660" y="3831336"/>
            <a:ext cx="311292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66705C"/>
                </a:solidFill>
                <a:latin typeface="Segoe UI"/>
              </a:rPr>
              <a:t>a normal operator choice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64024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171A14"/>
                </a:solidFill>
                <a:latin typeface="Segoe UI"/>
              </a:rPr>
              <a:t>The intervals between them are the measurements: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171A14"/>
                </a:solidFill>
                <a:latin typeface="Segoe UI"/>
              </a:rPr>
              <a:t>onset (publication → first seen) · establishment (first seen → partial) · ascent (partial → common)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78424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66705C"/>
                </a:solidFill>
                <a:latin typeface="Segoe UI"/>
              </a:rPr>
              <a:t>Thresholds were swept, not picked. The qualifying count is flat across 0.5–3% and 4–25%, so any value mid-plateau gives identical results. The ≥10-zone guard exists because the panel grew 201×: one zone was 3.1% of it in 2011 and is 0.016% now.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907F"/>
                </a:solidFill>
                <a:latin typeface="Segoe UI"/>
              </a:rPr>
              <a:t>WHAT IT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50392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171A14"/>
                </a:solidFill>
                <a:latin typeface="Segoe UI"/>
              </a:rPr>
              <a:t>The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66705C"/>
                </a:solidFill>
                <a:latin typeface="Segoe UI"/>
              </a:rPr>
              <a:t>Five stages, each resumable, each skippable.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67128"/>
            <a:ext cx="10728655" cy="9525"/>
          </a:xfrm>
          <a:prstGeom prst="rect">
            <a:avLst/>
          </a:prstGeom>
          <a:solidFill>
            <a:srgbClr val="D3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478024"/>
          <a:ext cx="1072865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7438"/>
                <a:gridCol w="5900760"/>
                <a:gridCol w="3540456"/>
              </a:tblGrid>
              <a:tr h="51206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6705C"/>
                          </a:solidFill>
                          <a:latin typeface="Segoe UI"/>
                        </a:rPr>
                        <a:t>Stage</a:t>
                      </a:r>
                    </a:p>
                  </a:txBody>
                  <a:tcPr anchor="ctr" marL="109728" marT="27432" marB="27432">
                    <a:solidFill>
                      <a:srgbClr val="F6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6705C"/>
                          </a:solidFill>
                          <a:latin typeface="Segoe UI"/>
                        </a:rPr>
                        <a:t>What happens</a:t>
                      </a:r>
                    </a:p>
                  </a:txBody>
                  <a:tcPr anchor="ctr" marL="109728" marT="27432" marB="27432">
                    <a:solidFill>
                      <a:srgbClr val="F6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6705C"/>
                          </a:solidFill>
                          <a:latin typeface="Segoe UI"/>
                        </a:rPr>
                        <a:t>Output</a:t>
                      </a:r>
                    </a:p>
                  </a:txBody>
                  <a:tcPr anchor="ctr" marL="109728" marT="27432" marB="27432">
                    <a:solidFill>
                      <a:srgbClr val="F6F7F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ripe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Fetches RIPE’s reverse-delegation archive (the only stage that touches the network)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the reverse corpus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index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Walks every cache root on the NAS, merges them into one view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inventory.json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extract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One pass per source-day → tidy counts, one checkpoint each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timeline_monthly.csv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analyse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Bottom-up over observable changes, top-down over categories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bottom_up.json · top_down.json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report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Digest for humans, compact bundle for the next conversation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summary.md · analysis_bundle.json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733288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71A14"/>
                </a:solidFill>
                <a:latin typeface="Segoe UI"/>
              </a:rPr>
              <a:t>Both analysis directions are configuration, not code — data/analysis_config.json holds the observable changes, the implementation groups, the categories and the thresholds. Adding a mechanism to measure means adding a row.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907F"/>
                </a:solidFill>
                <a:latin typeface="Segoe U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50392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171A14"/>
                </a:solidFill>
                <a:latin typeface="Segoe UI"/>
              </a:rPr>
              <a:t>Three design decisions that protect the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728655" cy="9525"/>
          </a:xfrm>
          <a:prstGeom prst="rect">
            <a:avLst/>
          </a:prstGeom>
          <a:solidFill>
            <a:srgbClr val="D3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911096"/>
            <a:ext cx="3442106" cy="3017520"/>
          </a:xfrm>
          <a:prstGeom prst="rect">
            <a:avLst/>
          </a:prstGeom>
          <a:solidFill>
            <a:srgbClr val="F6F7F3"/>
          </a:solidFill>
          <a:ln w="9525">
            <a:solidFill>
              <a:srgbClr val="D3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2039112"/>
            <a:ext cx="311292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0907F"/>
                </a:solidFill>
                <a:latin typeface="Segoe UI"/>
              </a:rPr>
              <a:t>MULTI-DRIVE, MERGED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86584"/>
            <a:ext cx="311292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71A14"/>
                </a:solidFill>
                <a:latin typeface="Segoe UI"/>
              </a:rPr>
              <a:t>The cache spans a main path and a spill path. A day’s files can sit on both.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361688"/>
            <a:ext cx="311292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66705C"/>
                </a:solidFill>
                <a:latin typeface="Segoe UI"/>
              </a:rPr>
              <a:t>Reading one path alone reports a PARTIAL day as a complete one — indistinguishable from a month when fewer zones signed.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4794" y="1911096"/>
            <a:ext cx="3442106" cy="3017520"/>
          </a:xfrm>
          <a:prstGeom prst="rect">
            <a:avLst/>
          </a:prstGeom>
          <a:solidFill>
            <a:srgbClr val="F6F7F3"/>
          </a:solidFill>
          <a:ln w="9525">
            <a:solidFill>
              <a:srgbClr val="D3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39386" y="2039112"/>
            <a:ext cx="311292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0907F"/>
                </a:solidFill>
                <a:latin typeface="Segoe UI"/>
              </a:rPr>
              <a:t>EVERY SHARE CARRIES ITS DENOMINATOR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9386" y="2386584"/>
            <a:ext cx="311292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71A14"/>
                </a:solidFill>
                <a:latin typeface="Segoe UI"/>
              </a:rPr>
              <a:t>Each dimension emits its own _total row alongside the values.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9386" y="4361688"/>
            <a:ext cx="311292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66705C"/>
                </a:solidFill>
                <a:latin typeface="Segoe UI"/>
              </a:rPr>
              <a:t>The same fact reads 68%, 64% or 0.6% depending only on what you divide by. P(x | population) is recomputable, never guessed.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8068" y="1911096"/>
            <a:ext cx="3442106" cy="3017520"/>
          </a:xfrm>
          <a:prstGeom prst="rect">
            <a:avLst/>
          </a:prstGeom>
          <a:solidFill>
            <a:srgbClr val="F6F7F3"/>
          </a:solidFill>
          <a:ln w="9525">
            <a:solidFill>
              <a:srgbClr val="D3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182660" y="2039112"/>
            <a:ext cx="311292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0907F"/>
                </a:solidFill>
                <a:latin typeface="Segoe UI"/>
              </a:rPr>
              <a:t>SHARDED ACROSS MACHINES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2660" y="2386584"/>
            <a:ext cx="311292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71A14"/>
                </a:solidFill>
                <a:latin typeface="Segoe UI"/>
              </a:rPr>
              <a:t>Same command, different --shard. Balanced on bytes, no coordinator.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2660" y="4361688"/>
            <a:ext cx="311292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66705C"/>
                </a:solidFill>
                <a:latin typeface="Segoe UI"/>
              </a:rPr>
              <a:t>3 shards over the corpus: 0.0% spread, and identical results to a single-machine run across 30 changes × 7 fields.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02936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66705C"/>
                </a:solidFill>
                <a:latin typeface="Segoe UI"/>
              </a:rPr>
              <a:t>A partial corpus produces entirely plausible numbers, so each shard reports when it finishes and the analysis refuses to stay silent if the set is incomplete.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907F"/>
                </a:solidFill>
                <a:latin typeface="Segoe UI"/>
              </a:rPr>
              <a:t>INSIGHT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50392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171A14"/>
                </a:solidFill>
                <a:latin typeface="Segoe UI"/>
              </a:rPr>
              <a:t>Being early tells you nothing about ending up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728655" cy="9525"/>
          </a:xfrm>
          <a:prstGeom prst="rect">
            <a:avLst/>
          </a:prstGeom>
          <a:solidFill>
            <a:srgbClr val="D3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nset_vs_spr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849" y="1911096"/>
            <a:ext cx="7835996" cy="38404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7150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71A14"/>
                </a:solidFill>
                <a:latin typeface="Segoe UI"/>
              </a:rPr>
              <a:t>The two most prevalent mechanisms were slower than average to appear. Half the fastest are still below 1%. This is the evidence FOR splitting the definition, not an assumption behind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907F"/>
                </a:solidFill>
                <a:latin typeface="Segoe UI"/>
              </a:rPr>
              <a:t>INSIGHT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50392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171A14"/>
                </a:solidFill>
                <a:latin typeface="Segoe UI"/>
              </a:rPr>
              <a:t>What does predict onset: how many parties must ship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728655" cy="9525"/>
          </a:xfrm>
          <a:prstGeom prst="rect">
            <a:avLst/>
          </a:prstGeom>
          <a:solidFill>
            <a:srgbClr val="D3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11096"/>
          <a:ext cx="1072865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8046"/>
                <a:gridCol w="2360304"/>
                <a:gridCol w="2360304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6705C"/>
                          </a:solidFill>
                          <a:latin typeface="Segoe UI"/>
                        </a:rPr>
                        <a:t>What the change requires</a:t>
                      </a:r>
                    </a:p>
                  </a:txBody>
                  <a:tcPr anchor="ctr" marL="109728" marT="27432" marB="27432">
                    <a:solidFill>
                      <a:srgbClr val="F6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6705C"/>
                          </a:solidFill>
                          <a:latin typeface="Segoe UI"/>
                        </a:rPr>
                        <a:t>Measured on</a:t>
                      </a:r>
                    </a:p>
                  </a:txBody>
                  <a:tcPr anchor="ctr" marL="109728" marT="27432" marB="27432">
                    <a:solidFill>
                      <a:srgbClr val="F6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6705C"/>
                          </a:solidFill>
                          <a:latin typeface="Segoe UI"/>
                        </a:rPr>
                        <a:t>Onset</a:t>
                      </a:r>
                    </a:p>
                  </a:txBody>
                  <a:tcPr anchor="ctr" marL="109728" marT="27432" marB="27432">
                    <a:solidFill>
                      <a:srgbClr val="F6F7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A new codepoint — the cryptography is already linked in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algorithms 8, 10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0.5 – 0.8 y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A new DS digest — a hash, parent side only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digests 3, 4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0.8 – 1.3 y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Same cryptography, new signalling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algorithm 7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1.4 y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A NEW PRIMITIVE — signer AND validator must both ship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algorithms 12–16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2.5 – 5.8 y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882896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171A14"/>
                </a:solidFill>
                <a:latin typeface="Segoe UI"/>
              </a:rPr>
              <a:t>The one real gap in the data — 1.4 y to 2.5 y — falls exactly where a change starts needing both ends. Not difficulty: Ed25519 is no harder to implement than RSA/SHA-512.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171A14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171A14"/>
                </a:solidFill>
                <a:latin typeface="Segoe UI"/>
              </a:rPr>
              <a:t>RFC 5218 calls this “incrementally deployable”, which is the citation for the mechanism.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907F"/>
                </a:solidFill>
                <a:latin typeface="Segoe UI"/>
              </a:rPr>
              <a:t>INSIGHT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50392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171A14"/>
                </a:solidFill>
                <a:latin typeface="Segoe UI"/>
              </a:rPr>
              <a:t>Most of what happens is retreat, not arrival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66705C"/>
                </a:solidFill>
                <a:latin typeface="Segoe UI"/>
              </a:rPr>
              <a:t>Four of six tracked mechanisms are below their own peak.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67128"/>
            <a:ext cx="10728655" cy="9525"/>
          </a:xfrm>
          <a:prstGeom prst="rect">
            <a:avLst/>
          </a:prstGeom>
          <a:solidFill>
            <a:srgbClr val="D3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spla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653" y="2478024"/>
            <a:ext cx="8054389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4864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71A14"/>
                </a:solidFill>
                <a:latin typeface="Segoe UI"/>
              </a:rPr>
              <a:t>Every framework in the literature describes something arriving. None describes something being pushed out. In a fixed population that is half of what happens — and in our data it is the bigger half. This looks like the contribution.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907F"/>
                </a:solidFill>
                <a:latin typeface="Segoe UI"/>
              </a:rPr>
              <a:t>INSIGHT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50392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171A14"/>
                </a:solidFill>
                <a:latin typeface="Segoe UI"/>
              </a:rPr>
              <a:t>Deprecation runs on an inverted clock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66705C"/>
                </a:solidFill>
                <a:latin typeface="Segoe UI"/>
              </a:rPr>
              <a:t>The question is not when it appeared but how much is still there.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67128"/>
            <a:ext cx="10728655" cy="9525"/>
          </a:xfrm>
          <a:prstGeom prst="rect">
            <a:avLst/>
          </a:prstGeom>
          <a:solidFill>
            <a:srgbClr val="D3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478024"/>
            <a:ext cx="3442106" cy="2011680"/>
          </a:xfrm>
          <a:prstGeom prst="rect">
            <a:avLst/>
          </a:prstGeom>
          <a:solidFill>
            <a:srgbClr val="F6F7F3"/>
          </a:solidFill>
          <a:ln w="9525">
            <a:solidFill>
              <a:srgbClr val="D3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6112" y="2606040"/>
            <a:ext cx="311292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0907F"/>
                </a:solidFill>
                <a:latin typeface="Segoe UI"/>
              </a:rPr>
              <a:t>RFC 9905 — SHA-1 SIGNING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53512"/>
            <a:ext cx="311292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0">
                <a:solidFill>
                  <a:srgbClr val="171A14"/>
                </a:solidFill>
                <a:latin typeface="Segoe UI"/>
              </a:rPr>
              <a:t>7.81%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0">
                <a:solidFill>
                  <a:srgbClr val="171A14"/>
                </a:solidFill>
                <a:latin typeface="Segoe UI"/>
              </a:rPr>
              <a:t>514 zones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922776"/>
            <a:ext cx="311292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66705C"/>
                </a:solidFill>
                <a:latin typeface="Segoe UI"/>
              </a:rPr>
              <a:t>still published after the RFC forbade new 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4794" y="2478024"/>
            <a:ext cx="3442106" cy="2011680"/>
          </a:xfrm>
          <a:prstGeom prst="rect">
            <a:avLst/>
          </a:prstGeom>
          <a:solidFill>
            <a:srgbClr val="F6F7F3"/>
          </a:solidFill>
          <a:ln w="9525">
            <a:solidFill>
              <a:srgbClr val="D3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39386" y="2606040"/>
            <a:ext cx="311292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0907F"/>
                </a:solidFill>
                <a:latin typeface="Segoe UI"/>
              </a:rPr>
              <a:t>RFC 9905 — SHA-1 DS DIGEST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9386" y="2953512"/>
            <a:ext cx="311292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0">
                <a:solidFill>
                  <a:srgbClr val="171A14"/>
                </a:solidFill>
                <a:latin typeface="Segoe UI"/>
              </a:rPr>
              <a:t>21.77%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0">
                <a:solidFill>
                  <a:srgbClr val="171A14"/>
                </a:solidFill>
                <a:latin typeface="Segoe UI"/>
              </a:rPr>
              <a:t>1,433 zones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9386" y="3922776"/>
            <a:ext cx="311292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66705C"/>
                </a:solidFill>
                <a:latin typeface="Segoe UI"/>
              </a:rPr>
              <a:t>a different fix: replace the DS at the parent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18068" y="2478024"/>
            <a:ext cx="3442106" cy="2011680"/>
          </a:xfrm>
          <a:prstGeom prst="rect">
            <a:avLst/>
          </a:prstGeom>
          <a:solidFill>
            <a:srgbClr val="F6F7F3"/>
          </a:solidFill>
          <a:ln w="9525">
            <a:solidFill>
              <a:srgbClr val="D3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182660" y="2606040"/>
            <a:ext cx="311292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0907F"/>
                </a:solidFill>
                <a:latin typeface="Segoe UI"/>
              </a:rPr>
              <a:t>RFC 9906 — ECC-GOST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2660" y="2953512"/>
            <a:ext cx="311292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0">
                <a:solidFill>
                  <a:srgbClr val="171A14"/>
                </a:solidFill>
                <a:latin typeface="Segoe UI"/>
              </a:rPr>
              <a:t>0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0">
                <a:solidFill>
                  <a:srgbClr val="171A14"/>
                </a:solidFill>
                <a:latin typeface="Segoe UI"/>
              </a:rPr>
              <a:t>zero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2660" y="3922776"/>
            <a:ext cx="311292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66705C"/>
                </a:solidFill>
                <a:latin typeface="Segoe UI"/>
              </a:rPr>
              <a:t>documented an ending rather than causing 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46904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171A14"/>
                </a:solidFill>
                <a:latin typeface="Segoe UI"/>
              </a:rPr>
              <a:t>The two halves of RFC 9905 need different remedies — replace the DS at the parent, versus reissue the child’s keys — so they are reported as two numbers, never one “SHA-1 exposure”.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171A14"/>
                </a:solidFill>
                <a:latin typeface="Segoe UI"/>
              </a:rPr>
              <a:t>400 zones carry both.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907F"/>
                </a:solidFill>
                <a:latin typeface="Segoe UI"/>
              </a:rPr>
              <a:t>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50392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171A14"/>
                </a:solidFill>
                <a:latin typeface="Segoe UI"/>
              </a:rPr>
              <a:t>What this cannot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66705C"/>
                </a:solidFill>
                <a:latin typeface="Segoe UI"/>
              </a:rPr>
              <a:t>Stated so no one reads a blank as a zero.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67128"/>
            <a:ext cx="10728655" cy="9525"/>
          </a:xfrm>
          <a:prstGeom prst="rect">
            <a:avLst/>
          </a:prstGeom>
          <a:solidFill>
            <a:srgbClr val="D3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478024"/>
          <a:ext cx="10728654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7742"/>
                <a:gridCol w="7080912"/>
              </a:tblGrid>
              <a:tr h="7132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6705C"/>
                          </a:solidFill>
                          <a:latin typeface="Segoe UI"/>
                        </a:rPr>
                        <a:t>Limit</a:t>
                      </a:r>
                    </a:p>
                  </a:txBody>
                  <a:tcPr anchor="ctr" marL="109728" marT="27432" marB="27432">
                    <a:solidFill>
                      <a:srgbClr val="F6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6705C"/>
                          </a:solidFill>
                          <a:latin typeface="Segoe UI"/>
                        </a:rPr>
                        <a:t>Consequence</a:t>
                      </a:r>
                    </a:p>
                  </a:txBody>
                  <a:tcPr anchor="ctr" marL="109728" marT="27432" marB="27432">
                    <a:solidFill>
                      <a:srgbClr val="F6F7F3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The reverse corpus holds NS and DS records only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9 configured observables — NSEC3 parameters, DNSKEY flags, CDS, TLSA — have nothing that could match. Not negative results.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We read published zone data, never live queries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availability / verifiability / validity (Osterweil’s three) are outside the instrument entirely.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Nothing in a zone file records intent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We never claim an RFC CAUSED a change. An operator whose provider changed a default is indistinguishable from one who read the RFC.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Our checklist covers 29 of 105 current DNSSEC RFCs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13 of the uncovered ones are measurable from zone data — ZONEMD, compact denial of existence, multi-signer, OPENPGPKEY, SSHFP.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907F"/>
                </a:solidFill>
                <a:latin typeface="Segoe U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50392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171A14"/>
                </a:solidFill>
                <a:latin typeface="Segoe UI"/>
              </a:rPr>
              <a:t>What needs to be done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728655" cy="9525"/>
          </a:xfrm>
          <a:prstGeom prst="rect">
            <a:avLst/>
          </a:prstGeom>
          <a:solidFill>
            <a:srgbClr val="D3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11096"/>
          <a:ext cx="10728654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146"/>
                <a:gridCol w="3862315"/>
                <a:gridCol w="6437193"/>
              </a:tblGrid>
              <a:tr h="7132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6705C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109728" marT="27432" marB="27432">
                    <a:solidFill>
                      <a:srgbClr val="F6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6705C"/>
                          </a:solidFill>
                          <a:latin typeface="Segoe UI"/>
                        </a:rPr>
                        <a:t>Work</a:t>
                      </a:r>
                    </a:p>
                  </a:txBody>
                  <a:tcPr anchor="ctr" marL="109728" marT="27432" marB="27432">
                    <a:solidFill>
                      <a:srgbClr val="F6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6705C"/>
                          </a:solidFill>
                          <a:latin typeface="Segoe UI"/>
                        </a:rPr>
                        <a:t>Why it matters</a:t>
                      </a:r>
                    </a:p>
                  </a:txBody>
                  <a:tcPr anchor="ctr" marL="109728" marT="27432" marB="27432">
                    <a:solidFill>
                      <a:srgbClr val="F6F7F3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Run the pipeline over the full 14 TB OpenINTEL cache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Everything here is reverse-DNS only. The forward corpus has the record types this corpus lacks.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Decide: share measure, cumulative measure, or both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A cumulative measure would let us inherit Rogers’ thresholds, but it cannot see displacement.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Settle whether displacement is genuinely unclaimed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If it is, it is a stronger contribution than the timeline. Needs someone who knows the literature better than a search does.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Add the 13 measurable RFCs we do not screen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Mechanical work. ZONEMD and compact denial of existence would extend the story, not just widen it.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Re-run the forward scan under the current checklist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A14"/>
                          </a:solidFill>
                          <a:latin typeface="Segoe UI"/>
                        </a:rPr>
                        <a:t>RFC 5011 and 9276 are unresolved only because the forward run predates the 30-RFC checklist.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